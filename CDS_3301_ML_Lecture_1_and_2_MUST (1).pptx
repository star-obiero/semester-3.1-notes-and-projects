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Assessment</c:v>
                </c:pt>
              </c:strCache>
            </c:strRef>
          </c:tx>
          <c:spPr>
            <a:solidFill>
              <a:schemeClr val="accent1"/>
            </a:solidFill>
            <a:ln w="9525" cap="flat">
              <a:solidFill>
                <a:srgbClr val="F9F9F9"/>
              </a:solidFill>
              <a:prstDash val="solid"/>
              <a:round/>
            </a:ln>
            <a:effectLst/>
          </c:spPr>
          <c:dPt>
            <c:idx val="0"/>
            <c:bubble3D val="0"/>
            <c:spPr>
              <a:solidFill>
                <a:srgbClr val="0F6B3C"/>
              </a:solidFill>
              <a:effectLst/>
            </c:spPr>
          </c:dPt>
          <c:dPt>
            <c:idx val="1"/>
            <c:bubble3D val="0"/>
            <c:spPr>
              <a:solidFill>
                <a:srgbClr val="C9A227"/>
              </a:solidFill>
              <a:effectLst/>
            </c:spPr>
          </c:dPt>
          <c:dLbls>
            <c:dLbl>
              <c:idx val="0"/>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Examination 70%</c:v>
                </c:pt>
                <c:pt idx="1">
                  <c:v>Continuous assessment 30%</c:v>
                </c:pt>
              </c:strCache>
            </c:strRef>
          </c:cat>
          <c:val>
            <c:numRef>
              <c:f>Sheet1!$B$2:$B$3</c:f>
              <c:numCache>
                <c:ptCount val="2"/>
                <c:pt idx="0">
                  <c:v>70</c:v>
                </c:pt>
                <c:pt idx="1">
                  <c:v>30</c:v>
                </c:pt>
              </c:numCache>
            </c:numRef>
          </c:val>
        </c:ser>
        <c:firstSliceAng val="0"/>
        <c:holeSize val="55"/>
      </c:doughnutChart>
      <c:spPr>
        <a:noFill/>
        <a:ln>
          <a:noFill/>
        </a:ln>
        <a:effectLst/>
      </c:spPr>
    </c:plotArea>
    <c:legend>
      <c:legendPos val="b"/>
      <c:overlay val="0"/>
      <c:txPr>
        <a:bodyPr/>
        <a:lstStyle/>
        <a:p>
          <a:pPr>
            <a:defRPr sz="1100">
              <a:solidFill>
                <a:srgbClr val="1B2A2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project effort</c:v>
                </c:pt>
              </c:strCache>
            </c:strRef>
          </c:tx>
          <c:spPr>
            <a:solidFill>
              <a:srgbClr val="1E8449"/>
            </a:solidFill>
            <a:effectLst/>
          </c:spPr>
          <c:invertIfNegative val="0"/>
          <c:dLbls>
            <c:numFmt formatCode="0&quot;%&quot;" sourceLinked="0"/>
            <c:txPr>
              <a:bodyPr/>
              <a:lstStyle/>
              <a:p>
                <a:pPr>
                  <a:defRPr b="0" i="0" strike="noStrike" sz="1100" u="none">
                    <a:solidFill>
                      <a:srgbClr val="1B2A20"/>
                    </a:solidFill>
                    <a:latin typeface="Calibri"/>
                  </a:defRPr>
                </a:pPr>
              </a:p>
            </c:txPr>
            <c:showLegendKey val="0"/>
            <c:showVal val="1"/>
            <c:showCatName val="0"/>
            <c:showSerName val="0"/>
            <c:showPercent val="0"/>
            <c:showBubbleSize val="0"/>
            <c:showLeaderLines val="0"/>
          </c:dLbls>
          <c:dPt>
            <c:idx val="0"/>
            <c:invertIfNegative val="0"/>
            <c:bubble3D val="0"/>
            <c:spPr>
              <a:solidFill>
                <a:srgbClr val="1E8449"/>
              </a:solidFill>
              <a:effectLst/>
            </c:spPr>
          </c:dPt>
          <c:dPt>
            <c:idx val="1"/>
            <c:invertIfNegative val="0"/>
            <c:bubble3D val="0"/>
            <c:spPr>
              <a:solidFill>
                <a:srgbClr val="0F6B3C"/>
              </a:solidFill>
              <a:effectLst/>
            </c:spPr>
          </c:dPt>
          <c:dPt>
            <c:idx val="2"/>
            <c:invertIfNegative val="0"/>
            <c:bubble3D val="0"/>
            <c:spPr>
              <a:solidFill>
                <a:srgbClr val="C9A227"/>
              </a:solidFill>
              <a:effectLst/>
            </c:spPr>
          </c:dPt>
          <c:dPt>
            <c:idx val="3"/>
            <c:invertIfNegative val="0"/>
            <c:bubble3D val="0"/>
            <c:spPr>
              <a:solidFill>
                <a:srgbClr val="0E7C61"/>
              </a:solidFill>
              <a:effectLst/>
            </c:spPr>
          </c:dPt>
          <c:dPt>
            <c:idx val="4"/>
            <c:invertIfNegative val="0"/>
            <c:bubble3D val="0"/>
            <c:spPr>
              <a:solidFill>
                <a:srgbClr val="0E7C61"/>
              </a:solidFill>
              <a:effectLst/>
            </c:spPr>
          </c:dPt>
          <c:dPt>
            <c:idx val="5"/>
            <c:invertIfNegative val="0"/>
            <c:bubble3D val="0"/>
            <c:spPr>
              <a:solidFill>
                <a:srgbClr val="1E8449"/>
              </a:solidFill>
              <a:effectLst/>
            </c:spPr>
          </c:dPt>
          <c:cat>
            <c:multiLvlStrRef>
              <c:f>Sheet1!$A$2:$A$7</c:f>
              <c:multiLvlStrCache>
                <c:ptCount val="6"/>
                <c:lvl>
                  <c:pt idx="0">
                    <c:v>Framing the problem</c:v>
                  </c:pt>
                  <c:pt idx="1">
                    <c:v>Collecting data</c:v>
                  </c:pt>
                  <c:pt idx="2">
                    <c:v>Cleaning &amp; preparing data</c:v>
                  </c:pt>
                  <c:pt idx="3">
                    <c:v>Training models</c:v>
                  </c:pt>
                  <c:pt idx="4">
                    <c:v>Evaluating &amp; tuning</c:v>
                  </c:pt>
                  <c:pt idx="5">
                    <c:v>Deploying &amp; monitoring</c:v>
                  </c:pt>
                </c:lvl>
              </c:multiLvlStrCache>
            </c:multiLvlStrRef>
          </c:cat>
          <c:val>
            <c:numRef>
              <c:f>Sheet1!$B$2:$B$7</c:f>
              <c:numCache>
                <c:formatCode>General</c:formatCode>
                <c:ptCount val="6"/>
                <c:pt idx="0">
                  <c:v>8</c:v>
                </c:pt>
                <c:pt idx="1">
                  <c:v>20</c:v>
                </c:pt>
                <c:pt idx="2">
                  <c:v>40</c:v>
                </c:pt>
                <c:pt idx="3">
                  <c:v>10</c:v>
                </c:pt>
                <c:pt idx="4">
                  <c:v>12</c:v>
                </c:pt>
                <c:pt idx="5">
                  <c:v>10</c:v>
                </c:pt>
              </c:numCache>
            </c:numRef>
          </c:val>
        </c:ser>
        <c:dLbls>
          <c:numFmt formatCode="0&quot;%&quot;" sourceLinked="0"/>
          <c:txPr>
            <a:bodyPr/>
            <a:lstStyle/>
            <a:p>
              <a:pPr>
                <a:defRPr b="0" i="0" strike="noStrike" sz="1100" u="none">
                  <a:solidFill>
                    <a:srgbClr val="1B2A2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C6B60"/>
                </a:solidFill>
                <a:latin typeface="Calibri"/>
              </a:defRPr>
            </a:pPr>
            <a:endParaRPr lang="en-US"/>
          </a:p>
        </c:txPr>
        <c:crossAx val="2094734552"/>
        <c:crosses val="autoZero"/>
        <c:auto val="1"/>
        <c:lblAlgn val="ctr"/>
        <c:noMultiLvlLbl val="1"/>
      </c:catAx>
      <c:valAx>
        <c:axId val="2094734552"/>
        <c:scaling>
          <c:orientation val="minMax"/>
          <c:max val="50"/>
        </c:scaling>
        <c:delete val="0"/>
        <c:axPos val="b"/>
        <c:majorGridlines>
          <c:spPr>
            <a:ln w="12700" cap="flat">
              <a:solidFill>
                <a:srgbClr val="E4EB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6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Observed farms</c:v>
                </c:pt>
              </c:strCache>
            </c:strRef>
          </c:tx>
          <c:spPr>
            <a:solidFill>
              <a:srgbClr val="0F6B3C"/>
            </a:solidFill>
            <a:ln>
              <a:noFill/>
            </a:ln>
            <a:effectLst/>
          </c:spPr>
          <c:marker>
            <c:symbol val="circle"/>
            <c:size val="9"/>
            <c:spPr>
              <a:solidFill>
                <a:srgbClr val="0F6B3C"/>
              </a:solidFill>
              <a:ln w="9525" cap="flat">
                <a:solidFill>
                  <a:srgbClr val="0F6B3C"/>
                </a:solidFill>
                <a:prstDash val="solid"/>
                <a:round/>
              </a:ln>
              <a:effectLst/>
            </c:spPr>
          </c:marker>
          <c:xVal>
            <c:numRef>
              <c:f>Sheet1!$A$2:$A$13</c:f>
              <c:numCache>
                <c:formatCode>General</c:formatCode>
                <c:ptCount val="12"/>
                <c:pt idx="0">
                  <c:v>520</c:v>
                </c:pt>
                <c:pt idx="1">
                  <c:v>580</c:v>
                </c:pt>
                <c:pt idx="2">
                  <c:v>610</c:v>
                </c:pt>
                <c:pt idx="3">
                  <c:v>660</c:v>
                </c:pt>
                <c:pt idx="4">
                  <c:v>700</c:v>
                </c:pt>
                <c:pt idx="5">
                  <c:v>730</c:v>
                </c:pt>
                <c:pt idx="6">
                  <c:v>780</c:v>
                </c:pt>
                <c:pt idx="7">
                  <c:v>810</c:v>
                </c:pt>
                <c:pt idx="8">
                  <c:v>850</c:v>
                </c:pt>
                <c:pt idx="9">
                  <c:v>900</c:v>
                </c:pt>
                <c:pt idx="10">
                  <c:v>940</c:v>
                </c:pt>
                <c:pt idx="11">
                  <c:v>980</c:v>
                </c:pt>
              </c:numCache>
            </c:numRef>
          </c:xVal>
          <c:yVal>
            <c:numRef>
              <c:f>Sheet1!$B$2:$B$13</c:f>
              <c:numCache>
                <c:formatCode>General</c:formatCode>
                <c:ptCount val="12"/>
                <c:pt idx="0">
                  <c:v>7</c:v>
                </c:pt>
                <c:pt idx="1">
                  <c:v>9</c:v>
                </c:pt>
                <c:pt idx="2">
                  <c:v>8</c:v>
                </c:pt>
                <c:pt idx="3">
                  <c:v>13</c:v>
                </c:pt>
                <c:pt idx="4">
                  <c:v>12</c:v>
                </c:pt>
                <c:pt idx="5">
                  <c:v>16</c:v>
                </c:pt>
                <c:pt idx="6">
                  <c:v>17</c:v>
                </c:pt>
                <c:pt idx="7">
                  <c:v>15</c:v>
                </c:pt>
                <c:pt idx="8">
                  <c:v>21</c:v>
                </c:pt>
                <c:pt idx="9">
                  <c:v>24</c:v>
                </c:pt>
                <c:pt idx="10">
                  <c:v>22</c:v>
                </c:pt>
                <c:pt idx="11">
                  <c:v>27</c:v>
                </c:pt>
              </c:numCache>
            </c:numRef>
          </c:yVal>
          <c:smooth val="0"/>
        </c:ser>
        <c:dLbls>
          <c:numFmt formatCode="General"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1000"/>
          <c:min val="480"/>
        </c:scaling>
        <c:delete val="0"/>
        <c:axPos val="b"/>
        <c:title>
          <c:tx>
            <c:rich>
              <a:bodyPr/>
              <a:lstStyle/>
              <a:p>
                <a:pPr>
                  <a:defRPr sz="1100" b="0" i="0" u="none" strike="noStrike">
                    <a:solidFill>
                      <a:srgbClr val="5C6B60"/>
                    </a:solidFill>
                    <a:latin typeface="Calibri"/>
                  </a:defRPr>
                </a:pPr>
                <a:r>
                  <a:rPr sz="1100" b="0" i="0" u="none" strike="noStrike">
                    <a:solidFill>
                      <a:srgbClr val="5C6B60"/>
                    </a:solidFill>
                    <a:latin typeface="Calibri"/>
                  </a:rPr>
                  <a:t>Seasonal rainfall (mm)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C6B60"/>
                </a:solidFill>
                <a:latin typeface="Calibri"/>
              </a:defRPr>
            </a:pPr>
            <a:endParaRPr lang="en-US"/>
          </a:p>
        </c:txPr>
        <c:crossAx val="2094734552"/>
        <c:crosses val="autoZero"/>
        <c:auto val="1"/>
        <c:lblAlgn val="ctr"/>
        <c:noMultiLvlLbl val="1"/>
      </c:valAx>
      <c:valAx>
        <c:axId val="2094734552"/>
        <c:scaling>
          <c:orientation val="minMax"/>
          <c:max val="30"/>
          <c:min val="0"/>
        </c:scaling>
        <c:delete val="0"/>
        <c:axPos val="l"/>
        <c:majorGridlines>
          <c:spPr>
            <a:ln w="12700" cap="flat">
              <a:solidFill>
                <a:srgbClr val="E4EBE5"/>
              </a:solidFill>
              <a:prstDash val="solid"/>
              <a:round/>
            </a:ln>
          </c:spPr>
        </c:majorGridlines>
        <c:title>
          <c:tx>
            <c:rich>
              <a:bodyPr/>
              <a:lstStyle/>
              <a:p>
                <a:pPr>
                  <a:defRPr sz="1100" b="0" i="0" u="none" strike="noStrike">
                    <a:solidFill>
                      <a:srgbClr val="5C6B60"/>
                    </a:solidFill>
                    <a:latin typeface="Calibri"/>
                  </a:defRPr>
                </a:pPr>
                <a:r>
                  <a:rPr sz="1100" b="0" i="0" u="none" strike="noStrike">
                    <a:solidFill>
                      <a:srgbClr val="5C6B60"/>
                    </a:solidFill>
                    <a:latin typeface="Calibri"/>
                  </a:rPr>
                  <a:t>Yield (bags per acre)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C6B60"/>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error</c:v>
                </c:pt>
              </c:strCache>
            </c:strRef>
          </c:tx>
          <c:spPr>
            <a:solidFill>
              <a:srgbClr val="0E7C61"/>
            </a:solidFill>
            <a:ln w="38100" cap="flat">
              <a:solidFill>
                <a:srgbClr val="0E7C61"/>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c:symbol val="circle"/>
            <c:size val="6"/>
            <c:spPr>
              <a:solidFill>
                <a:srgbClr val="0E7C61"/>
              </a:solidFill>
              <a:ln w="9525" cap="flat">
                <a:solidFill>
                  <a:srgbClr val="0E7C6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42</c:v>
                </c:pt>
                <c:pt idx="1">
                  <c:v>30</c:v>
                </c:pt>
                <c:pt idx="2">
                  <c:v>22</c:v>
                </c:pt>
                <c:pt idx="3">
                  <c:v>16</c:v>
                </c:pt>
                <c:pt idx="4">
                  <c:v>12</c:v>
                </c:pt>
                <c:pt idx="5">
                  <c:v>9</c:v>
                </c:pt>
                <c:pt idx="6">
                  <c:v>7</c:v>
                </c:pt>
                <c:pt idx="7">
                  <c:v>5</c:v>
                </c:pt>
                <c:pt idx="8">
                  <c:v>4</c:v>
                </c:pt>
                <c:pt idx="9">
                  <c:v>3</c:v>
                </c:pt>
              </c:numCache>
            </c:numRef>
          </c:val>
          <c:smooth val="0"/>
        </c:ser>
        <c:ser>
          <c:idx val="1"/>
          <c:order val="1"/>
          <c:tx>
            <c:strRef>
              <c:f>Sheet1!$C$1</c:f>
              <c:strCache>
                <c:ptCount val="1"/>
                <c:pt idx="0">
                  <c:v>Validation error</c:v>
                </c:pt>
              </c:strCache>
            </c:strRef>
          </c:tx>
          <c:spPr>
            <a:solidFill>
              <a:srgbClr val="9C3B2E"/>
            </a:solidFill>
            <a:ln w="38100" cap="flat">
              <a:solidFill>
                <a:srgbClr val="9C3B2E"/>
              </a:solidFill>
              <a:prstDash val="solid"/>
              <a:round/>
            </a:ln>
            <a:effectLst/>
          </c:spPr>
          <c:invertIfNegative val="0"/>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c:symbol val="circle"/>
            <c:size val="6"/>
            <c:spPr>
              <a:solidFill>
                <a:srgbClr val="9C3B2E"/>
              </a:solidFill>
              <a:ln w="9525" cap="flat">
                <a:solidFill>
                  <a:srgbClr val="9C3B2E"/>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45</c:v>
                </c:pt>
                <c:pt idx="1">
                  <c:v>33</c:v>
                </c:pt>
                <c:pt idx="2">
                  <c:v>26</c:v>
                </c:pt>
                <c:pt idx="3">
                  <c:v>21</c:v>
                </c:pt>
                <c:pt idx="4">
                  <c:v>19</c:v>
                </c:pt>
                <c:pt idx="5">
                  <c:v>18.5</c:v>
                </c:pt>
                <c:pt idx="6">
                  <c:v>21</c:v>
                </c:pt>
                <c:pt idx="7">
                  <c:v>26</c:v>
                </c:pt>
                <c:pt idx="8">
                  <c:v>33</c:v>
                </c:pt>
                <c:pt idx="9">
                  <c:v>41</c:v>
                </c:pt>
              </c:numCache>
            </c:numRef>
          </c:val>
          <c:smooth val="0"/>
        </c:ser>
        <c:dLbls>
          <c:numFmt formatCode="#,##0" sourceLinked="0"/>
          <c:txPr>
            <a:bodyPr/>
            <a:lstStyle/>
            <a:p>
              <a:pPr>
                <a:defRPr b="0" i="0" strike="noStrike" sz="1100" u="none">
                  <a:solidFill>
                    <a:srgbClr val="00000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C6B60"/>
                    </a:solidFill>
                    <a:latin typeface="Calibri"/>
                  </a:defRPr>
                </a:pPr>
                <a:r>
                  <a:rPr sz="1100" b="0" i="0" u="none" strike="noStrike">
                    <a:solidFill>
                      <a:srgbClr val="5C6B60"/>
                    </a:solidFill>
                    <a:latin typeface="Calibri"/>
                  </a:rPr>
                  <a:t>Model complexity (or training epochs)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60"/>
                </a:solidFill>
                <a:latin typeface="Calibri"/>
              </a:defRPr>
            </a:pPr>
            <a:endParaRPr lang="en-US"/>
          </a:p>
        </c:txPr>
        <c:crossAx val="2094734552"/>
        <c:crosses val="autoZero"/>
        <c:auto val="1"/>
        <c:lblAlgn val="ctr"/>
        <c:noMultiLvlLbl val="1"/>
      </c:catAx>
      <c:valAx>
        <c:axId val="2094734552"/>
        <c:scaling>
          <c:orientation val="minMax"/>
          <c:max val="50"/>
        </c:scaling>
        <c:delete val="0"/>
        <c:axPos val="l"/>
        <c:majorGridlines>
          <c:spPr>
            <a:ln w="12700" cap="flat">
              <a:solidFill>
                <a:srgbClr val="E4EBE5"/>
              </a:solidFill>
              <a:prstDash val="solid"/>
              <a:round/>
            </a:ln>
          </c:spPr>
        </c:majorGridlines>
        <c:title>
          <c:tx>
            <c:rich>
              <a:bodyPr/>
              <a:lstStyle/>
              <a:p>
                <a:pPr>
                  <a:defRPr sz="1100" b="0" i="0" u="none" strike="noStrike">
                    <a:solidFill>
                      <a:srgbClr val="5C6B60"/>
                    </a:solidFill>
                    <a:latin typeface="Calibri"/>
                  </a:defRPr>
                </a:pPr>
                <a:r>
                  <a:rPr sz="1100" b="0" i="0" u="none" strike="noStrike">
                    <a:solidFill>
                      <a:srgbClr val="5C6B60"/>
                    </a:solidFill>
                    <a:latin typeface="Calibri"/>
                  </a:rPr>
                  <a:t>Error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6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Emphasise that no prior ML background is assumed — the only prerequisite is CDS 3253 Algorithms for Data Science. Tell students that by the end of these two lectures they will (a) be able to explain what machine learning is and is not, (b) recognise the three main learning paradigms, and (c) understand how a model is trained and evaluated. Ask for a show of hands: who has used M-Pesa fraud alerts, YouTube recommendations or Google Translate today? Every one of those is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The 30% CAT component in this course is deliberately practical: students will not pass by memorising algorithm names. Announce that the mini-project will use a real dataset — ideally a Kenyan one (Zindi competitions, KNBS open data, Kenya Meteorological data, or a dataset the students collect themselves). Mention Google Colab so nobody worries about laptop specifications: everything runs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outcomes aloud — they are the exam contract. Point out the verbs: analyse, evaluate, apply. None of them is "define". The final outcome, reporting honestly on expected accuracy, is what separates a data scientist from someone who can call model.fit(). Many deployed African ML systems fail not because the algorithm was wrong but because nobody measured performance on the population that would actually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that the syllabus is not a random list of algorithms. Blocks B through E are all instances of the same underlying idea: choose a hypothesis space, define a loss, optimise, then check generalisation. Tell them that if they truly understand Lecture 2, the rest of the semester is variations on a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students against reading Bishop cover to cover in week one — it will discourage them. The workflow that works: attend the lecture, do the lab, then read the matching chapter. Point out that Barber and Shalev-Shwartz are legally free from the authors' university pages, which matters for students without a book budget. IEEE Access is open access and searchable from the MUST library portal — that is where their project literature review will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Ask the class a question before moving on: "Give me a task that a computer can do that you could NOT write step-by-step instructions for." Expect answers like recognising a friend's face, understanding spoken Kimeru, telling whether maize leaves are diseased. That gap is exactly why machine learning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conversation, not a lecture. Ask students to raise a hand for each one they used this morning. The point to land: machine learning is not a future technology students will meet after graduation — it is already mediating their money, their attention and their movement. Then pose the framing question for the rest of the lecture: none of these systems was programmed with explicit rules. So how were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Lecture 1. Spend time on it. Invite the class to shout out rules for detecting a fraudulent SMS, and write four or five on the board. Then break each one with a counter-example ("what about a genuine Safaricom promotion?"). The lesson: for tasks where the rules are numerous, fuzzy, and constantly changing, hand-coding is a losing battle. Machine learning flips the arrow — instead of writing rules, we supply examples and let the computer infer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as you speak — the inversion is what students remember. Stress the vocabulary introduced here: model, parameters, inference. Also correct a common misconception now: the model does not "understand" anything. It finds statistical regularities. That distinction will matter when we discuss limitations and responsible AI at the end of Lecture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Samuel's definition is the intuition; Mitchell's is the one that gets you marks in an exam because it is testable. Emphasise that Mitchell forces you to name three things before you write a single line of code. Students who cannot state E, T and P for their project have not defined a machine learning problem yet — they have an aspiration. We use this framework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first row with the class before revealing the others. Ask them to supply E, T and P for a problem of their own — a good in-class exercise is "predicting whether a MUST student will graduate on time". Push them on P: accuracy is the lazy answer, and by the end of Lecture 2 they will know why it is often the wrong one. The last column previews the generalisation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routinely use these four terms interchangeably in reports — correct it now. Two checks to give them: (1) if a human wrote the rules, it is AI but not ML; (2) if there are many layers of learned representations, it is deep learning. Note that this course is mostly the middle ring; deep learning appears under neural networks in Block B, and the language-model applications at the end of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history: Rosenblatt's perceptron was 1958, backpropagation was popularised in 1986, and support vector machines in the mid-1990s. Nothing about the core mathematics is new. Ask students why ML did not take off in 1990 — guide them to the three forces. Add the local angle: Kenya's mobile-money and smartphone penetration means we now generate the kind of behavioural data that previously only existed in a few rich economies, which is precisely why African ML applications are viable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every class asks: "will I ever use this here?" Encourage students to name others they know — Ushahidi, Twiga Foods logistics, M-KOPA repayment prediction, matatu route analytics, Safaricom churn models. Mention Zindi explicitly and tell them a Zindi competition is an excellent source for their course project dataset. Also flag the flip side, which we return to in Lecture 2: a credit-scoring model trained mostly on Nairobi data can quietly disadvantage applicants in Meru or Turkana.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and inspirational — three minutes maximum. The purpose is to show that the humble machinery of Lecture 2 scales all the way to the headlines. If students ask about ChatGPT, promise the answer: it is self-supervised learning at enormous scale, which we touch on in a few slides and revisit under N-gram and sequence models later in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analogy: supervised learning is studying with a marked answer key; unsupervised learning is being handed a pile of exam scripts and asked to sort them into groups nobody named; reinforcement learning is learning to ride a boda boda — nobody labels each movement, you just fall over or you do not. Ask the class which paradigm each of the six Kenyan applications from two slides ago belongs to. Most are supervised; anomaly detection in fraud is often unsupervised.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distinguishing question is about the output, never the input: is the thing we are predicting a category or a quantity? Warn students of the common trap in projects — taking a naturally continuous target, bucketing it into "high/medium/low", and throwing away information for no reason. Sometimes bucketing is right (a decision threshold exists), but it should be a deliberate choice they can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unsupervised learning is harder to evaluate precisely because there is no answer key. If a clustering algorithm gives you six segments, who says six is right, and who says the segments mean anything? We will cover cluster validity later in Block D. Note also that labelling data is expensive — often the single biggest cost in an African ML project — which is why unsupervised and semi-supervised methods matter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boda boda or bicycle analogy. Also make the exploration versus exploitation point concrete: do you go to the restaurant you know is good (exploit), or try the new one that might be better (explore)? Every RL algorithm must balance these. Note that RL sits at the end of our syllabus and needs a simulator or a very forgiving environment — which is why it is rarer in production than supervised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usually generates the most questions, because it demystifies ChatGPT. Do a live demonstration: write "The capital city of Kenya is ___" on the board and ask the class to complete it. They just did next-token prediction. Then say: that is the entire training objective of a language model, repeated over trillions of words. The apparent intelligence is an emergent consequence of doing that extremely well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this vocabulary — it recurs in every paper and every exam question. Point out that "Farm ID" is an identifier, not a feature: including it would let the model memorise rows and would leak nothing useful about a new farm. That is a real beginner mistake. Also note the units and the missing-data risk: what if soil pH is blank for 30% of farms? Data preparation, coming up shortly, is where that gets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class honestly: the exam and the textbooks emphasise step 4, but in industry steps 2, 3 and 7 consume most of the effort and cause most of the failures. A model that is 2% more accurate but cannot be deployed on a feature phone in Meru is worth less than a simpler one that ships. This pipeline is the structure their course project report should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Proportions are indicative, not measured — say so, but note that every practitioner survey tells the same story. This slide exists to set expectations for the group project: students who plan three weeks of modelling and two days of data work will fail. Encourage them to pick a dataset early and look at it in week two. Add the local reality: much Kenyan administrative data arrives as scanned PDFs or inconsistent Excel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Lecture 1 on professional judgement. The mark of a competent data scientist is knowing when not to reach for a model. A useful exam-style question: "A hospital asks you to build an ML system to decide which patients get a scarce ICU bed. Discuss." Good answers cover data availability, error costs, explainability, accountability and law — not algorithm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 answered "what and why". Lecture 2 answers "how". Warn students that this is the most mathematical session of the introduction, but that every idea will be tied to a picture or an example. Tell them the payoff: after today they can read the scikit-learn documentation and understand what the functions are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two or three students to state Mitchell's E, T and P from memory before revealing the recap — retrieval practice makes it stick. The right-hand card is the roadmap for the entire lecture: hypothesis space, loss function, optimisation. Write those three words on the board and leave them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the notation — students who never internalise the difference between f and h struggle for the rest of the semester. Analogy: f is the true, unknowable relationship between rainfall and maize yield in Meru; h is your best sketch of it, drawn from four hundred farms. A restrictive H (only straight lines) risks missing the real shape; a huge H (any curve at all) risks tracing the noise. That tension becomes the bias–variance trade-off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come to the board and draw the line they think fits best. Then ask a second student to draw a different one and ask the class which is better and why. They will say things like "it is closer to the points" — that is exactly the intuition we are about to formalise. Note this is the simplest possible hypothesis space, two parameters; a neural network has millions, but the logic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squaring concrete with numbers on the board: errors of 1,1,1,1,1,1,1,1,1,1 versus 0,0,0,0,0,0,0,0,0,10. Both sum to 10 in absolute terms, but squared they are 10 versus 100. Ask which situation a farmer would rather face — that is a real modelling decision, not a mathematical detail. Mention that this is why RMSE is sensitive to outliers, which returns when we cover regression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fog analogy works because it captures the real limitation: the algorithm is local. It only knows the slope where it is standing, so on a bumpy landscape it can settle in a local minimum. For the straight-line case the bowl is perfectly convex and there is exactly one minimum — mention that neural network landscapes are not, and that this is why training them involves random restarts, momentum and other tricks covered in Block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hyperparameter here and contrast it sharply with parameter: parameters (w, b) are learned by the algorithm; hyperparameters (learning rate, k in k-NN, tree depth) are chosen by you before training. Students confuse these constantly in exams. Practical advice: always plot the loss curve during training. A curve that goes up tells you the learning rate is too high, and it is the fastest diagnostic in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in the course, so say it slowly and repeat it. Every year some students report 100% training accuracy in their project and expect praise. Tell them now that in this unit, a reported training accuracy with no held-out evaluation will lose marks. Also link it back to the P column of Mitchell's framework from Lecture 1 — performance was always defined on unseen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three lines a student would trust to predict a new point at the far right of the plot. The overfitted curve looks impressive and is the least trustworthy. Give the practical signatures: underfitting shows as poor scores everywhere; overfitting shows as a large gap between training and test scores. Remedies: for underfitting, a richer model or better features; for overfitting, more data, fewer features, regularisation, or early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remember one diagram from this lecture, make it this one. Tell them the diagnostic value: a growing gap between the two curves means overfitting; both curves high and flat means underfitting; both low and close means you are done. Ask what happens if you keep tuning until validation error is minimised and then report that number — subtle point: you have now used validation data to make a decision, so it is no longer an unbiased estimate. That is why we keep a third, untouched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dartboard is the standard picture and it works: bias is how far the cluster sits from the bullseye, variance is how spread out the cluster is. Concrete example: predicting maize yield with a single straight line on rainfall alone is high bias — it will be wrong in a consistent direction whatever data you use. A depth-30 decision tree on 200 farms is high variance — collect a different 200 farms and you get a completely different tree. Ensembles, later in the syllabus, exist largely to reduce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two practical rules. First, always shuffle before splitting unless the data is a time series — for time-ordered data you must split chronologically, or you are training on the future to predict the past. Second, stratify for imbalanced classification so each split holds the same class proportions. In scikit-learn: train_test_split(..., stratify=y, random_state=42), and cross_val_score for k-fold. Ten-fold is a common default; five-fold is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is called a lazy learner because it defers all work to prediction time; contrast with eager learners such as decision trees. The scaling point deserves a live demonstration: if one feature is M-Pesa inflow measured in shillings (tens of thousands) and another is months on network (single digits), the distance is effectively computed on the first feature alone. StandardScaler in scikit-learn fixes this, and forgetting it is the most common bug in student k-NN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at least one distance calculation on the board with the class rather than reading the table. Then ask what happens if k = 1 (the answer follows borrower A alone — very sensitive to a single odd record) and if k = 5 (all five vote, 3–2 for Repaid — a weaker margin). Finally, ask what the model would predict if inflow had been recorded in shillings rather than thousands: the tenure column would become irrelevant. That is the scaling lesson, made painfully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odd values of k for binary classification to avoid tied votes. Emphasise the discipline of the loop: tune on validation, report on test. If a student tunes k by maximising test accuracy, they have leaked the test set and their reported figure is inflated — a very common and very costly project error. In scikit-learn this whole procedure is GridSearchCV, which they will meet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class sit with the contradiction for a moment before resolving it. Model A wins on accuracy and is worthless. This is not a contrived example: disease screening, fraud, equipment failure, loan default and rare-event prediction of every kind are imbalanced. The fix is not a better algorithm, it is a better metric — which is exactly what the next two slides give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that students always produce a confusion matrix, never a bare accuracy figure, in their project reports. Walk through where the 97.7% came from: (70 + 9,700) / 10,000. Then note that the same model at a different decision threshold gives a completely different matrix — raising the threshold catches less fraud but blocks fewer genuine payments. That threshold is a policy choice made by humans, and it is a good discussion point for the responsible-AI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Mnemonic that students remember: recall is about what you managed to recall from everything that was out there; precision is about how precise your alarms were. Show the trade-off physically — if you flag every transaction, recall is 100% and precision collapses; if you flag only the single most suspicious one, precision may be 100% and recall is 1%. The F1 score exists so a model cannot game one at the expense of the other. Mention ROC-AUC exists and will come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worked contrast: predictions off by 2 bags on every farm versus perfect on all but one farm where you are off by 40. MAE prefers the second scenario, RMSE prefers the first. Ask which the farmer prefers — the answer depends on whether occasional catastrophic errors matter, which is a domain question. On R², warn students that it can be misleadingly high on time series with trends, and that it can go negative on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not to memorise the code — tell them to recognise that every line corresponds to a concept from this lecture. Note the fit-on-training-only detail in StandardScaler: fitting the scaler on the full dataset leaks information from the test set into training, a subtle and very common bug. Announce the lab: they will run exactly this notebook and vary k. Colab needs only a browser and a Google account, so no student is excluded by laptop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this back to their own project: require a paragraph in the report on who could be harmed if the model is wrong, and on how the data was obtained. Give a concrete bias example: a credit model that uses smartphone ownership as a feature will systematically disadvantage rural and older applicants, even though no one wrote a discriminatory rule. Mention that the ODPC registration requirement applies to organisations processing personal data in Kenya, which will matter to any student building a real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leakage is worth an extra example because it is the subtlest: a hospital model that predicted pneumonia used the fact that a chest X-ray had been ordered as a feature — which of course only happens when a doctor already suspects pneumonia. Ask students to look for leakage candidates in their own project columns. Invite them to email questions to akirongo@must.ac.ke ahead of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by asking the class to restate each point in their own words before you show it. Then remind them that everything in Blocks B to E — decision trees, SVMs, neural networks, Bayesian networks, clustering, reinforcement learning — is a different answer to the same three questions: what is the hypothesis space, what is the loss, how do we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opening question: none of the six systems from the start of Lecture 1 was programmed with explicit rules, and students can now explain how each one was actually built. Set the deadline for the reflection task and remind them that the dataset choice for the group project should be made early, because data work dominates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chart" Target="../charts/chart1.xml"/><Relationship Id="rId5" Type="http://schemas.openxmlformats.org/officeDocument/2006/relationships/slideLayout" Target="../slideLayouts/slideLayout1.xml"/><Relationship Id="rId6" Type="http://schemas.openxmlformats.org/officeDocument/2006/relationships/notesSlide" Target="../notesSlides/notesSlide2.xml"/><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 Id="rId9"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 Id="rId7"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 Id="rId6"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8.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4.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1.xml"/><Relationship Id="rId8" Type="http://schemas.openxmlformats.org/officeDocument/2006/relationships/notesSlide" Target="../notesSlides/notesSlide44.xml"/><Relationship Id="rId9"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 Id="rId7"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6B3C"/>
        </a:solidFill>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1E8449"/>
          </a:solidFill>
          <a:ln w="12700">
            <a:solidFill>
              <a:srgbClr val="333333"/>
            </a:solidFill>
            <a:prstDash val="solid"/>
          </a:ln>
        </p:spPr>
      </p:sp>
      <p:sp>
        <p:nvSpPr>
          <p:cNvPr id="3" name="Shape 1"/>
          <p:cNvSpPr/>
          <p:nvPr/>
        </p:nvSpPr>
        <p:spPr>
          <a:xfrm>
            <a:off x="10881360" y="4480560"/>
            <a:ext cx="2377440" cy="2377440"/>
          </a:xfrm>
          <a:prstGeom prst="ellipse">
            <a:avLst/>
          </a:prstGeom>
          <a:solidFill>
            <a:srgbClr val="145235"/>
          </a:solidFill>
          <a:ln w="12700">
            <a:solidFill>
              <a:srgbClr val="333333"/>
            </a:solidFill>
            <a:prstDash val="solid"/>
          </a:ln>
        </p:spPr>
      </p:sp>
      <p:sp>
        <p:nvSpPr>
          <p:cNvPr id="4" name="Text 2"/>
          <p:cNvSpPr txBox="1"/>
          <p:nvPr/>
        </p:nvSpPr>
        <p:spPr>
          <a:xfrm>
            <a:off x="822960" y="1143000"/>
            <a:ext cx="7315200" cy="457200"/>
          </a:xfrm>
          <a:prstGeom prst="rect">
            <a:avLst/>
          </a:prstGeom>
          <a:noFill/>
          <a:ln/>
        </p:spPr>
        <p:txBody>
          <a:bodyPr wrap="square" lIns="0" tIns="0" rIns="0" bIns="0" rtlCol="0" anchor="ctr"/>
          <a:lstStyle/>
          <a:p>
            <a:pPr indent="0" marL="0">
              <a:buNone/>
            </a:pPr>
            <a:r>
              <a:rPr lang="en-US" sz="1600" b="1" spc="400" kern="0" dirty="0">
                <a:solidFill>
                  <a:srgbClr val="C9A227"/>
                </a:solidFill>
                <a:latin typeface="Calibri" pitchFamily="34" charset="0"/>
                <a:ea typeface="Calibri" pitchFamily="34" charset="-122"/>
                <a:cs typeface="Calibri" pitchFamily="34" charset="-120"/>
              </a:rPr>
              <a:t>CDS 3301</a:t>
            </a:r>
            <a:endParaRPr lang="en-US" sz="1600" dirty="0"/>
          </a:p>
        </p:txBody>
      </p:sp>
      <p:sp>
        <p:nvSpPr>
          <p:cNvPr id="5" name="Text 3"/>
          <p:cNvSpPr txBox="1"/>
          <p:nvPr/>
        </p:nvSpPr>
        <p:spPr>
          <a:xfrm>
            <a:off x="822960" y="1645920"/>
            <a:ext cx="8778240" cy="11430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Machine Learning</a:t>
            </a:r>
            <a:endParaRPr lang="en-US" sz="5400" dirty="0"/>
          </a:p>
        </p:txBody>
      </p:sp>
      <p:sp>
        <p:nvSpPr>
          <p:cNvPr id="6" name="Text 4"/>
          <p:cNvSpPr txBox="1"/>
          <p:nvPr/>
        </p:nvSpPr>
        <p:spPr>
          <a:xfrm>
            <a:off x="822960" y="2788920"/>
            <a:ext cx="8778240" cy="457200"/>
          </a:xfrm>
          <a:prstGeom prst="rect">
            <a:avLst/>
          </a:prstGeom>
          <a:noFill/>
          <a:ln/>
        </p:spPr>
        <p:txBody>
          <a:bodyPr wrap="square" lIns="0" tIns="0" rIns="0" bIns="0" rtlCol="0" anchor="ctr"/>
          <a:lstStyle/>
          <a:p>
            <a:pPr indent="0" marL="0">
              <a:buNone/>
            </a:pPr>
            <a:r>
              <a:rPr lang="en-US" sz="1800" i="1" dirty="0">
                <a:solidFill>
                  <a:srgbClr val="CFE3D5"/>
                </a:solidFill>
                <a:latin typeface="Calibri" pitchFamily="34" charset="0"/>
                <a:ea typeface="Calibri" pitchFamily="34" charset="-122"/>
                <a:cs typeface="Calibri" pitchFamily="34" charset="-120"/>
              </a:rPr>
              <a:t>Lecture 1 &amp; 2  —  Foundations: What Learning From Data Really Means</a:t>
            </a:r>
            <a:endParaRPr lang="en-US" sz="1800" dirty="0"/>
          </a:p>
        </p:txBody>
      </p:sp>
      <p:sp>
        <p:nvSpPr>
          <p:cNvPr id="7" name="Shape 5"/>
          <p:cNvSpPr/>
          <p:nvPr/>
        </p:nvSpPr>
        <p:spPr>
          <a:xfrm>
            <a:off x="841248" y="3429000"/>
            <a:ext cx="1463040" cy="32004"/>
          </a:xfrm>
          <a:prstGeom prst="rect">
            <a:avLst/>
          </a:prstGeom>
          <a:solidFill>
            <a:srgbClr val="C9A227"/>
          </a:solidFill>
          <a:ln w="12700">
            <a:solidFill>
              <a:srgbClr val="333333"/>
            </a:solidFill>
            <a:prstDash val="solid"/>
          </a:ln>
        </p:spPr>
      </p:sp>
      <p:sp>
        <p:nvSpPr>
          <p:cNvPr id="8" name="Text 6"/>
          <p:cNvSpPr txBox="1"/>
          <p:nvPr/>
        </p:nvSpPr>
        <p:spPr>
          <a:xfrm>
            <a:off x="822960" y="3749040"/>
            <a:ext cx="6858000" cy="173736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libri" pitchFamily="34" charset="0"/>
                <a:ea typeface="Calibri" pitchFamily="34" charset="-122"/>
                <a:cs typeface="Calibri" pitchFamily="34" charset="-120"/>
              </a:rPr>
              <a:t>Dr. Amos Chege Kirongo, PhD</a:t>
            </a:r>
            <a:endParaRPr lang="en-US" sz="1700" dirty="0"/>
          </a:p>
          <a:p>
            <a:pPr indent="0" marL="0">
              <a:lnSpc>
                <a:spcPts val="2100"/>
              </a:lnSpc>
              <a:buNone/>
            </a:pPr>
            <a:r>
              <a:rPr lang="en-US" sz="1350" dirty="0">
                <a:solidFill>
                  <a:srgbClr val="CFE3D5"/>
                </a:solidFill>
                <a:latin typeface="Calibri" pitchFamily="34" charset="0"/>
                <a:ea typeface="Calibri" pitchFamily="34" charset="-122"/>
                <a:cs typeface="Calibri" pitchFamily="34" charset="-120"/>
              </a:rPr>
              <a:t>Senior Lecturer, Department of Computer Science</a:t>
            </a:r>
            <a:endParaRPr lang="en-US" sz="1700" dirty="0"/>
          </a:p>
          <a:p>
            <a:pPr indent="0" marL="0">
              <a:lnSpc>
                <a:spcPts val="2100"/>
              </a:lnSpc>
              <a:buNone/>
            </a:pPr>
            <a:r>
              <a:rPr lang="en-US" sz="1350" dirty="0">
                <a:solidFill>
                  <a:srgbClr val="CFE3D5"/>
                </a:solidFill>
                <a:latin typeface="Calibri" pitchFamily="34" charset="0"/>
                <a:ea typeface="Calibri" pitchFamily="34" charset="-122"/>
                <a:cs typeface="Calibri" pitchFamily="34" charset="-120"/>
              </a:rPr>
              <a:t>School of Computing and Informatics</a:t>
            </a:r>
            <a:endParaRPr lang="en-US" sz="1700" dirty="0"/>
          </a:p>
          <a:p>
            <a:pPr indent="0" marL="0">
              <a:lnSpc>
                <a:spcPts val="2100"/>
              </a:lnSpc>
              <a:buNone/>
            </a:pPr>
            <a:r>
              <a:rPr lang="en-US" sz="1350" dirty="0">
                <a:solidFill>
                  <a:srgbClr val="CFE3D5"/>
                </a:solidFill>
                <a:latin typeface="Calibri" pitchFamily="34" charset="0"/>
                <a:ea typeface="Calibri" pitchFamily="34" charset="-122"/>
                <a:cs typeface="Calibri" pitchFamily="34" charset="-120"/>
              </a:rPr>
              <a:t>Meru University of Science and Technology</a:t>
            </a:r>
            <a:endParaRPr lang="en-US" sz="1700" dirty="0"/>
          </a:p>
          <a:p>
            <a:pPr indent="0" marL="0">
              <a:lnSpc>
                <a:spcPts val="2100"/>
              </a:lnSpc>
              <a:buNone/>
            </a:pPr>
            <a:r>
              <a:rPr lang="en-US" sz="1350" dirty="0">
                <a:solidFill>
                  <a:srgbClr val="C9A227"/>
                </a:solidFill>
                <a:latin typeface="Calibri" pitchFamily="34" charset="0"/>
                <a:ea typeface="Calibri" pitchFamily="34" charset="-122"/>
                <a:cs typeface="Calibri" pitchFamily="34" charset="-120"/>
              </a:rPr>
              <a:t>akirongo@must.ac.ke</a:t>
            </a:r>
            <a:endParaRPr lang="en-US" sz="1700" dirty="0"/>
          </a:p>
        </p:txBody>
      </p:sp>
      <p:sp>
        <p:nvSpPr>
          <p:cNvPr id="9" name="Text 7"/>
          <p:cNvSpPr txBox="1"/>
          <p:nvPr/>
        </p:nvSpPr>
        <p:spPr>
          <a:xfrm>
            <a:off x="822960" y="5897880"/>
            <a:ext cx="10515600" cy="365760"/>
          </a:xfrm>
          <a:prstGeom prst="rect">
            <a:avLst/>
          </a:prstGeom>
          <a:noFill/>
          <a:ln/>
        </p:spPr>
        <p:txBody>
          <a:bodyPr wrap="square" lIns="0" tIns="0" rIns="0" bIns="0" rtlCol="0" anchor="ctr"/>
          <a:lstStyle/>
          <a:p>
            <a:pPr indent="0" marL="0">
              <a:buNone/>
            </a:pPr>
            <a:r>
              <a:rPr lang="en-US" sz="1200" dirty="0">
                <a:solidFill>
                  <a:srgbClr val="A8C2B0"/>
                </a:solidFill>
                <a:latin typeface="Calibri" pitchFamily="34" charset="0"/>
                <a:ea typeface="Calibri" pitchFamily="34" charset="-122"/>
                <a:cs typeface="Calibri" pitchFamily="34" charset="-120"/>
              </a:rPr>
              <a:t>BSc Data Science — Year 3, Semester 1   •   BSc Computer Technology — Year 4, Semester 1</a:t>
            </a:r>
            <a:endParaRPr lang="en-US" sz="1200" dirty="0"/>
          </a:p>
        </p:txBody>
      </p:sp>
      <p:sp>
        <p:nvSpPr>
          <p:cNvPr id="11" name="Text 8"/>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8FAE99"/>
                </a:solidFill>
                <a:latin typeface="Calibri" pitchFamily="34" charset="0"/>
                <a:ea typeface="Calibri" pitchFamily="34" charset="-122"/>
                <a:cs typeface="Calibri" pitchFamily="34" charset="-120"/>
              </a:rPr>
              <a:t>1</a:t>
            </a:r>
            <a:endParaRPr lang="en-US" sz="900" dirty="0"/>
          </a:p>
        </p:txBody>
      </p:sp>
      <p:pic>
        <p:nvPicPr>
          <p:cNvPr id="12" name="Picture 11" descr="must_logo.png"/>
          <p:cNvPicPr>
            <a:picLocks noChangeAspect="1"/>
          </p:cNvPicPr>
          <p:nvPr/>
        </p:nvPicPr>
        <p:blipFill>
          <a:blip r:embed="rId3"/>
          <a:stretch>
            <a:fillRect/>
          </a:stretch>
        </p:blipFill>
        <p:spPr>
          <a:xfrm>
            <a:off x="10012680" y="457200"/>
            <a:ext cx="1603169" cy="1508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HOUSEKEEPING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Course at a Glance</a:t>
            </a:r>
            <a:endParaRPr lang="en-US" sz="3000" dirty="0"/>
          </a:p>
        </p:txBody>
      </p:sp>
      <p:sp>
        <p:nvSpPr>
          <p:cNvPr id="4" name="Shape 2"/>
          <p:cNvSpPr/>
          <p:nvPr/>
        </p:nvSpPr>
        <p:spPr>
          <a:xfrm>
            <a:off x="548640" y="1600200"/>
            <a:ext cx="5943600" cy="1188720"/>
          </a:xfrm>
          <a:prstGeom prst="roundRect">
            <a:avLst>
              <a:gd name="adj" fmla="val 923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68680" y="1911096"/>
            <a:ext cx="566928" cy="566928"/>
          </a:xfrm>
          <a:prstGeom prst="ellipse">
            <a:avLst/>
          </a:prstGeom>
          <a:solidFill>
            <a:srgbClr val="0F6B3C"/>
          </a:solidFill>
          <a:ln w="12700">
            <a:solidFill>
              <a:srgbClr val="0F6B3C"/>
            </a:solidFill>
            <a:prstDash val="solid"/>
          </a:ln>
        </p:spPr>
      </p:sp>
      <p:pic>
        <p:nvPicPr>
          <p:cNvPr id="6" name="Image 0" descr="preencoded.png">    </p:cNvPr>
          <p:cNvPicPr>
            <a:picLocks noChangeAspect="1"/>
          </p:cNvPicPr>
          <p:nvPr/>
        </p:nvPicPr>
        <p:blipFill>
          <a:blip r:embed="rId1"/>
          <a:stretch>
            <a:fillRect/>
          </a:stretch>
        </p:blipFill>
        <p:spPr>
          <a:xfrm>
            <a:off x="987735" y="2030151"/>
            <a:ext cx="328818" cy="328818"/>
          </a:xfrm>
          <a:prstGeom prst="rect">
            <a:avLst/>
          </a:prstGeom>
        </p:spPr>
      </p:pic>
      <p:sp>
        <p:nvSpPr>
          <p:cNvPr id="7" name="Text 4"/>
          <p:cNvSpPr txBox="1"/>
          <p:nvPr/>
        </p:nvSpPr>
        <p:spPr>
          <a:xfrm>
            <a:off x="1645920" y="1783080"/>
            <a:ext cx="4480560" cy="411480"/>
          </a:xfrm>
          <a:prstGeom prst="rect">
            <a:avLst/>
          </a:prstGeom>
          <a:noFill/>
          <a:ln/>
        </p:spPr>
        <p:txBody>
          <a:bodyPr wrap="square" lIns="0" tIns="0" rIns="0" bIns="0" rtlCol="0" anchor="ctr"/>
          <a:lstStyle/>
          <a:p>
            <a:pPr indent="0" marL="0">
              <a:buNone/>
            </a:pPr>
            <a:r>
              <a:rPr lang="en-US" sz="2100" b="1" dirty="0">
                <a:solidFill>
                  <a:srgbClr val="0F6B3C"/>
                </a:solidFill>
                <a:latin typeface="Cambria" pitchFamily="34" charset="0"/>
                <a:ea typeface="Cambria" pitchFamily="34" charset="-122"/>
                <a:cs typeface="Cambria" pitchFamily="34" charset="-120"/>
              </a:rPr>
              <a:t>45</a:t>
            </a:r>
            <a:endParaRPr lang="en-US" sz="2100" dirty="0"/>
          </a:p>
        </p:txBody>
      </p:sp>
      <p:sp>
        <p:nvSpPr>
          <p:cNvPr id="8" name="Text 5"/>
          <p:cNvSpPr txBox="1"/>
          <p:nvPr/>
        </p:nvSpPr>
        <p:spPr>
          <a:xfrm>
            <a:off x="1645920" y="2221992"/>
            <a:ext cx="4663440" cy="411480"/>
          </a:xfrm>
          <a:prstGeom prst="rect">
            <a:avLst/>
          </a:prstGeom>
          <a:noFill/>
          <a:ln/>
        </p:spPr>
        <p:txBody>
          <a:bodyPr wrap="square" lIns="0" tIns="0" rIns="0" bIns="0" rtlCol="0" anchor="ctr"/>
          <a:lstStyle/>
          <a:p>
            <a:pPr indent="0" marL="0">
              <a:buNone/>
            </a:pPr>
            <a:r>
              <a:rPr lang="en-US" sz="1250" dirty="0">
                <a:solidFill>
                  <a:srgbClr val="5C6B60"/>
                </a:solidFill>
                <a:latin typeface="Calibri" pitchFamily="34" charset="0"/>
                <a:ea typeface="Calibri" pitchFamily="34" charset="-122"/>
                <a:cs typeface="Calibri" pitchFamily="34" charset="-120"/>
              </a:rPr>
              <a:t>Contact hours</a:t>
            </a:r>
            <a:endParaRPr lang="en-US" sz="1250" dirty="0"/>
          </a:p>
        </p:txBody>
      </p:sp>
      <p:sp>
        <p:nvSpPr>
          <p:cNvPr id="9" name="Shape 6"/>
          <p:cNvSpPr/>
          <p:nvPr/>
        </p:nvSpPr>
        <p:spPr>
          <a:xfrm>
            <a:off x="548640" y="3017520"/>
            <a:ext cx="5943600" cy="1188720"/>
          </a:xfrm>
          <a:prstGeom prst="roundRect">
            <a:avLst>
              <a:gd name="adj" fmla="val 923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868680" y="3328416"/>
            <a:ext cx="566928" cy="566928"/>
          </a:xfrm>
          <a:prstGeom prst="ellipse">
            <a:avLst/>
          </a:prstGeom>
          <a:solidFill>
            <a:srgbClr val="0E7C61"/>
          </a:solidFill>
          <a:ln w="12700">
            <a:solidFill>
              <a:srgbClr val="0E7C61"/>
            </a:solidFill>
            <a:prstDash val="solid"/>
          </a:ln>
        </p:spPr>
      </p:sp>
      <p:pic>
        <p:nvPicPr>
          <p:cNvPr id="11" name="Image 1" descr="preencoded.png">    </p:cNvPr>
          <p:cNvPicPr>
            <a:picLocks noChangeAspect="1"/>
          </p:cNvPicPr>
          <p:nvPr/>
        </p:nvPicPr>
        <p:blipFill>
          <a:blip r:embed="rId2"/>
          <a:stretch>
            <a:fillRect/>
          </a:stretch>
        </p:blipFill>
        <p:spPr>
          <a:xfrm>
            <a:off x="987735" y="3447471"/>
            <a:ext cx="328818" cy="328818"/>
          </a:xfrm>
          <a:prstGeom prst="rect">
            <a:avLst/>
          </a:prstGeom>
        </p:spPr>
      </p:pic>
      <p:sp>
        <p:nvSpPr>
          <p:cNvPr id="12" name="Text 8"/>
          <p:cNvSpPr txBox="1"/>
          <p:nvPr/>
        </p:nvSpPr>
        <p:spPr>
          <a:xfrm>
            <a:off x="1645920" y="3200400"/>
            <a:ext cx="4480560" cy="411480"/>
          </a:xfrm>
          <a:prstGeom prst="rect">
            <a:avLst/>
          </a:prstGeom>
          <a:noFill/>
          <a:ln/>
        </p:spPr>
        <p:txBody>
          <a:bodyPr wrap="square" lIns="0" tIns="0" rIns="0" bIns="0" rtlCol="0" anchor="ctr"/>
          <a:lstStyle/>
          <a:p>
            <a:pPr indent="0" marL="0">
              <a:buNone/>
            </a:pPr>
            <a:r>
              <a:rPr lang="en-US" sz="2100" b="1" dirty="0">
                <a:solidFill>
                  <a:srgbClr val="0F6B3C"/>
                </a:solidFill>
                <a:latin typeface="Cambria" pitchFamily="34" charset="0"/>
                <a:ea typeface="Cambria" pitchFamily="34" charset="-122"/>
                <a:cs typeface="Cambria" pitchFamily="34" charset="-120"/>
              </a:rPr>
              <a:t>CDS 3253</a:t>
            </a:r>
            <a:endParaRPr lang="en-US" sz="2100" dirty="0"/>
          </a:p>
        </p:txBody>
      </p:sp>
      <p:sp>
        <p:nvSpPr>
          <p:cNvPr id="13" name="Text 9"/>
          <p:cNvSpPr txBox="1"/>
          <p:nvPr/>
        </p:nvSpPr>
        <p:spPr>
          <a:xfrm>
            <a:off x="1645920" y="3639312"/>
            <a:ext cx="4663440" cy="411480"/>
          </a:xfrm>
          <a:prstGeom prst="rect">
            <a:avLst/>
          </a:prstGeom>
          <a:noFill/>
          <a:ln/>
        </p:spPr>
        <p:txBody>
          <a:bodyPr wrap="square" lIns="0" tIns="0" rIns="0" bIns="0" rtlCol="0" anchor="ctr"/>
          <a:lstStyle/>
          <a:p>
            <a:pPr indent="0" marL="0">
              <a:buNone/>
            </a:pPr>
            <a:r>
              <a:rPr lang="en-US" sz="1250" dirty="0">
                <a:solidFill>
                  <a:srgbClr val="5C6B60"/>
                </a:solidFill>
                <a:latin typeface="Calibri" pitchFamily="34" charset="0"/>
                <a:ea typeface="Calibri" pitchFamily="34" charset="-122"/>
                <a:cs typeface="Calibri" pitchFamily="34" charset="-120"/>
              </a:rPr>
              <a:t>Prerequisite: Algorithms for Data Science</a:t>
            </a:r>
            <a:endParaRPr lang="en-US" sz="1250" dirty="0"/>
          </a:p>
        </p:txBody>
      </p:sp>
      <p:sp>
        <p:nvSpPr>
          <p:cNvPr id="14" name="Shape 10"/>
          <p:cNvSpPr/>
          <p:nvPr/>
        </p:nvSpPr>
        <p:spPr>
          <a:xfrm>
            <a:off x="548640" y="4434840"/>
            <a:ext cx="5943600" cy="1188720"/>
          </a:xfrm>
          <a:prstGeom prst="roundRect">
            <a:avLst>
              <a:gd name="adj" fmla="val 923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868680" y="4745736"/>
            <a:ext cx="566928" cy="566928"/>
          </a:xfrm>
          <a:prstGeom prst="ellipse">
            <a:avLst/>
          </a:prstGeom>
          <a:solidFill>
            <a:srgbClr val="C9A227"/>
          </a:solidFill>
          <a:ln w="12700">
            <a:solidFill>
              <a:srgbClr val="C9A227"/>
            </a:solidFill>
            <a:prstDash val="solid"/>
          </a:ln>
        </p:spPr>
      </p:sp>
      <p:pic>
        <p:nvPicPr>
          <p:cNvPr id="16" name="Image 2" descr="preencoded.png">    </p:cNvPr>
          <p:cNvPicPr>
            <a:picLocks noChangeAspect="1"/>
          </p:cNvPicPr>
          <p:nvPr/>
        </p:nvPicPr>
        <p:blipFill>
          <a:blip r:embed="rId3"/>
          <a:stretch>
            <a:fillRect/>
          </a:stretch>
        </p:blipFill>
        <p:spPr>
          <a:xfrm>
            <a:off x="987735" y="4864791"/>
            <a:ext cx="328818" cy="328818"/>
          </a:xfrm>
          <a:prstGeom prst="rect">
            <a:avLst/>
          </a:prstGeom>
        </p:spPr>
      </p:pic>
      <p:sp>
        <p:nvSpPr>
          <p:cNvPr id="17" name="Text 12"/>
          <p:cNvSpPr txBox="1"/>
          <p:nvPr/>
        </p:nvSpPr>
        <p:spPr>
          <a:xfrm>
            <a:off x="1645920" y="4617720"/>
            <a:ext cx="4480560" cy="411480"/>
          </a:xfrm>
          <a:prstGeom prst="rect">
            <a:avLst/>
          </a:prstGeom>
          <a:noFill/>
          <a:ln/>
        </p:spPr>
        <p:txBody>
          <a:bodyPr wrap="square" lIns="0" tIns="0" rIns="0" bIns="0" rtlCol="0" anchor="ctr"/>
          <a:lstStyle/>
          <a:p>
            <a:pPr indent="0" marL="0">
              <a:buNone/>
            </a:pPr>
            <a:r>
              <a:rPr lang="en-US" sz="2100" b="1" dirty="0">
                <a:solidFill>
                  <a:srgbClr val="0F6B3C"/>
                </a:solidFill>
                <a:latin typeface="Cambria" pitchFamily="34" charset="0"/>
                <a:ea typeface="Cambria" pitchFamily="34" charset="-122"/>
                <a:cs typeface="Cambria" pitchFamily="34" charset="-120"/>
              </a:rPr>
              <a:t>Lab-based</a:t>
            </a:r>
            <a:endParaRPr lang="en-US" sz="2100" dirty="0"/>
          </a:p>
        </p:txBody>
      </p:sp>
      <p:sp>
        <p:nvSpPr>
          <p:cNvPr id="18" name="Text 13"/>
          <p:cNvSpPr txBox="1"/>
          <p:nvPr/>
        </p:nvSpPr>
        <p:spPr>
          <a:xfrm>
            <a:off x="1645920" y="5056632"/>
            <a:ext cx="4663440" cy="411480"/>
          </a:xfrm>
          <a:prstGeom prst="rect">
            <a:avLst/>
          </a:prstGeom>
          <a:noFill/>
          <a:ln/>
        </p:spPr>
        <p:txBody>
          <a:bodyPr wrap="square" lIns="0" tIns="0" rIns="0" bIns="0" rtlCol="0" anchor="ctr"/>
          <a:lstStyle/>
          <a:p>
            <a:pPr indent="0" marL="0">
              <a:buNone/>
            </a:pPr>
            <a:r>
              <a:rPr lang="en-US" sz="1250" dirty="0">
                <a:solidFill>
                  <a:srgbClr val="5C6B60"/>
                </a:solidFill>
                <a:latin typeface="Calibri" pitchFamily="34" charset="0"/>
                <a:ea typeface="Calibri" pitchFamily="34" charset="-122"/>
                <a:cs typeface="Calibri" pitchFamily="34" charset="-120"/>
              </a:rPr>
              <a:t>Python, Jupyter / Google Colab, scikit-learn</a:t>
            </a:r>
            <a:endParaRPr lang="en-US" sz="1250" dirty="0"/>
          </a:p>
        </p:txBody>
      </p:sp>
      <p:sp>
        <p:nvSpPr>
          <p:cNvPr id="19" name="Text 14"/>
          <p:cNvSpPr txBox="1"/>
          <p:nvPr/>
        </p:nvSpPr>
        <p:spPr>
          <a:xfrm>
            <a:off x="6858000" y="1600200"/>
            <a:ext cx="4754880" cy="320040"/>
          </a:xfrm>
          <a:prstGeom prst="rect">
            <a:avLst/>
          </a:prstGeom>
          <a:noFill/>
          <a:ln/>
        </p:spPr>
        <p:txBody>
          <a:bodyPr wrap="square" lIns="0" tIns="0" rIns="0" bIns="0" rtlCol="0" anchor="ctr"/>
          <a:lstStyle/>
          <a:p>
            <a:pPr indent="0" marL="0">
              <a:buNone/>
            </a:pPr>
            <a:r>
              <a:rPr lang="en-US" sz="1300" b="1" dirty="0">
                <a:solidFill>
                  <a:srgbClr val="0F6B3C"/>
                </a:solidFill>
                <a:latin typeface="Calibri" pitchFamily="34" charset="0"/>
                <a:ea typeface="Calibri" pitchFamily="34" charset="-122"/>
                <a:cs typeface="Calibri" pitchFamily="34" charset="-120"/>
              </a:rPr>
              <a:t>Assessment structure</a:t>
            </a:r>
            <a:endParaRPr lang="en-US" sz="1300" dirty="0"/>
          </a:p>
        </p:txBody>
      </p:sp>
      <p:graphicFrame>
        <p:nvGraphicFramePr>
          <p:cNvPr id="20" name="Chart 0" descr=""/>
          <p:cNvGraphicFramePr/>
          <p:nvPr/>
        </p:nvGraphicFramePr>
        <p:xfrm>
          <a:off x="6766560" y="1874520"/>
          <a:ext cx="4937760" cy="3291840"/>
        </p:xfrm>
        <a:graphic xmlns:a="http://schemas.openxmlformats.org/drawingml/2006/main">
          <a:graphicData uri="http://schemas.openxmlformats.org/drawingml/2006/chart">
            <c:chart xmlns:c="http://schemas.openxmlformats.org/drawingml/2006/chart" r:id="rId4"/>
          </a:graphicData>
        </a:graphic>
      </p:graphicFrame>
      <p:sp>
        <p:nvSpPr>
          <p:cNvPr id="21" name="Text 15"/>
          <p:cNvSpPr txBox="1"/>
          <p:nvPr/>
        </p:nvSpPr>
        <p:spPr>
          <a:xfrm>
            <a:off x="6858000" y="5257800"/>
            <a:ext cx="4754880" cy="822960"/>
          </a:xfrm>
          <a:prstGeom prst="rect">
            <a:avLst/>
          </a:prstGeom>
          <a:noFill/>
          <a:ln/>
        </p:spPr>
        <p:txBody>
          <a:bodyPr wrap="square" lIns="0" tIns="0" rIns="0" bIns="0" rtlCol="0" anchor="t"/>
          <a:lstStyle/>
          <a:p>
            <a:pPr indent="0" marL="0">
              <a:lnSpc>
                <a:spcPts val="2000"/>
              </a:lnSpc>
              <a:buNone/>
            </a:pPr>
            <a:r>
              <a:rPr lang="en-US" sz="1250" i="1" dirty="0">
                <a:solidFill>
                  <a:srgbClr val="5C6B60"/>
                </a:solidFill>
                <a:latin typeface="Calibri" pitchFamily="34" charset="0"/>
                <a:ea typeface="Calibri" pitchFamily="34" charset="-122"/>
                <a:cs typeface="Calibri" pitchFamily="34" charset="-120"/>
              </a:rPr>
              <a:t>Continuous assessment = CATs, lab practicals, a group mini-project and a written report on a real dataset.</a:t>
            </a:r>
            <a:endParaRPr lang="en-US" sz="1250" dirty="0"/>
          </a:p>
        </p:txBody>
      </p:sp>
      <p:sp>
        <p:nvSpPr>
          <p:cNvPr id="23" name="Text 16"/>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4" name="Text 17"/>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a:t>
            </a:r>
            <a:endParaRPr lang="en-US" sz="900" dirty="0"/>
          </a:p>
        </p:txBody>
      </p:sp>
      <p:pic>
        <p:nvPicPr>
          <p:cNvPr id="25" name="Picture 24" descr="must_logo.png"/>
          <p:cNvPicPr>
            <a:picLocks noChangeAspect="1"/>
          </p:cNvPicPr>
          <p:nvPr/>
        </p:nvPicPr>
        <p:blipFill>
          <a:blip r:embed="rId7"/>
          <a:stretch>
            <a:fillRect/>
          </a:stretch>
        </p:blipFill>
        <p:spPr>
          <a:xfrm>
            <a:off x="11016642" y="274320"/>
            <a:ext cx="699565" cy="6583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EXPECTED LEARNING OUTCOMES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What You Will Be Able To Do</a:t>
            </a:r>
            <a:endParaRPr lang="en-US" sz="3000" dirty="0"/>
          </a:p>
        </p:txBody>
      </p:sp>
      <p:sp>
        <p:nvSpPr>
          <p:cNvPr id="4" name="Shape 2"/>
          <p:cNvSpPr/>
          <p:nvPr/>
        </p:nvSpPr>
        <p:spPr>
          <a:xfrm>
            <a:off x="548640" y="1554480"/>
            <a:ext cx="11064240" cy="1417320"/>
          </a:xfrm>
          <a:prstGeom prst="roundRect">
            <a:avLst>
              <a:gd name="adj" fmla="val 774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914400" y="1965960"/>
            <a:ext cx="603504" cy="603504"/>
          </a:xfrm>
          <a:prstGeom prst="ellipse">
            <a:avLst/>
          </a:prstGeom>
          <a:solidFill>
            <a:srgbClr val="C9A227"/>
          </a:solidFill>
          <a:ln w="12700">
            <a:solidFill>
              <a:srgbClr val="C9A227"/>
            </a:solidFill>
            <a:prstDash val="solid"/>
          </a:ln>
        </p:spPr>
      </p:sp>
      <p:sp>
        <p:nvSpPr>
          <p:cNvPr id="6" name="Text 4"/>
          <p:cNvSpPr txBox="1"/>
          <p:nvPr/>
        </p:nvSpPr>
        <p:spPr>
          <a:xfrm>
            <a:off x="914400" y="1965960"/>
            <a:ext cx="603504" cy="603504"/>
          </a:xfrm>
          <a:prstGeom prst="rect">
            <a:avLst/>
          </a:prstGeom>
          <a:noFill/>
          <a:ln/>
        </p:spPr>
        <p:txBody>
          <a:bodyPr wrap="square" lIns="0" tIns="0" rIns="0" bIns="0" rtlCol="0" anchor="ctr"/>
          <a:lstStyle/>
          <a:p>
            <a:pPr algn="ctr" indent="0" marL="0">
              <a:buNone/>
            </a:pPr>
            <a:r>
              <a:rPr lang="en-US" sz="1800" b="1" dirty="0">
                <a:solidFill>
                  <a:srgbClr val="0F6B3C"/>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783080" y="1755648"/>
            <a:ext cx="9509760" cy="384048"/>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Analyse machine learning algorithms</a:t>
            </a:r>
            <a:endParaRPr lang="en-US" sz="1900" dirty="0"/>
          </a:p>
        </p:txBody>
      </p:sp>
      <p:sp>
        <p:nvSpPr>
          <p:cNvPr id="8" name="Text 6"/>
          <p:cNvSpPr txBox="1"/>
          <p:nvPr/>
        </p:nvSpPr>
        <p:spPr>
          <a:xfrm>
            <a:off x="1783080" y="2176272"/>
            <a:ext cx="9418320" cy="685800"/>
          </a:xfrm>
          <a:prstGeom prst="rect">
            <a:avLst/>
          </a:prstGeom>
          <a:noFill/>
          <a:ln/>
        </p:spPr>
        <p:txBody>
          <a:bodyPr wrap="square" lIns="0" tIns="0" rIns="0" bIns="0" rtlCol="0" anchor="ctr"/>
          <a:lstStyle/>
          <a:p>
            <a:pPr indent="0" marL="0">
              <a:lnSpc>
                <a:spcPts val="1800"/>
              </a:lnSpc>
              <a:buNone/>
            </a:pPr>
            <a:r>
              <a:rPr lang="en-US" sz="1300" dirty="0">
                <a:solidFill>
                  <a:srgbClr val="5C6B60"/>
                </a:solidFill>
                <a:latin typeface="Calibri" pitchFamily="34" charset="0"/>
                <a:ea typeface="Calibri" pitchFamily="34" charset="-122"/>
                <a:cs typeface="Calibri" pitchFamily="34" charset="-120"/>
              </a:rPr>
              <a:t>Explain how decision trees, neural networks, SVMs, Bayesian networks, clustering and reinforcement learning work — and when each is the right tool.</a:t>
            </a:r>
            <a:endParaRPr lang="en-US" sz="1300" dirty="0"/>
          </a:p>
        </p:txBody>
      </p:sp>
      <p:sp>
        <p:nvSpPr>
          <p:cNvPr id="9" name="Shape 7"/>
          <p:cNvSpPr/>
          <p:nvPr/>
        </p:nvSpPr>
        <p:spPr>
          <a:xfrm>
            <a:off x="548640" y="3182112"/>
            <a:ext cx="11064240" cy="1417320"/>
          </a:xfrm>
          <a:prstGeom prst="roundRect">
            <a:avLst>
              <a:gd name="adj" fmla="val 774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8"/>
          <p:cNvSpPr/>
          <p:nvPr/>
        </p:nvSpPr>
        <p:spPr>
          <a:xfrm>
            <a:off x="914400" y="3593592"/>
            <a:ext cx="603504" cy="603504"/>
          </a:xfrm>
          <a:prstGeom prst="ellipse">
            <a:avLst/>
          </a:prstGeom>
          <a:solidFill>
            <a:srgbClr val="C9A227"/>
          </a:solidFill>
          <a:ln w="12700">
            <a:solidFill>
              <a:srgbClr val="C9A227"/>
            </a:solidFill>
            <a:prstDash val="solid"/>
          </a:ln>
        </p:spPr>
      </p:sp>
      <p:sp>
        <p:nvSpPr>
          <p:cNvPr id="11" name="Text 9"/>
          <p:cNvSpPr txBox="1"/>
          <p:nvPr/>
        </p:nvSpPr>
        <p:spPr>
          <a:xfrm>
            <a:off x="914400" y="3593592"/>
            <a:ext cx="603504" cy="603504"/>
          </a:xfrm>
          <a:prstGeom prst="rect">
            <a:avLst/>
          </a:prstGeom>
          <a:noFill/>
          <a:ln/>
        </p:spPr>
        <p:txBody>
          <a:bodyPr wrap="square" lIns="0" tIns="0" rIns="0" bIns="0" rtlCol="0" anchor="ctr"/>
          <a:lstStyle/>
          <a:p>
            <a:pPr algn="ctr" indent="0" marL="0">
              <a:buNone/>
            </a:pPr>
            <a:r>
              <a:rPr lang="en-US" sz="1800" b="1" dirty="0">
                <a:solidFill>
                  <a:srgbClr val="0F6B3C"/>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783080" y="3383280"/>
            <a:ext cx="9509760" cy="384048"/>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Evaluate models generated from data</a:t>
            </a:r>
            <a:endParaRPr lang="en-US" sz="1900" dirty="0"/>
          </a:p>
        </p:txBody>
      </p:sp>
      <p:sp>
        <p:nvSpPr>
          <p:cNvPr id="13" name="Text 11"/>
          <p:cNvSpPr txBox="1"/>
          <p:nvPr/>
        </p:nvSpPr>
        <p:spPr>
          <a:xfrm>
            <a:off x="1783080" y="3803904"/>
            <a:ext cx="9418320" cy="685800"/>
          </a:xfrm>
          <a:prstGeom prst="rect">
            <a:avLst/>
          </a:prstGeom>
          <a:noFill/>
          <a:ln/>
        </p:spPr>
        <p:txBody>
          <a:bodyPr wrap="square" lIns="0" tIns="0" rIns="0" bIns="0" rtlCol="0" anchor="ctr"/>
          <a:lstStyle/>
          <a:p>
            <a:pPr indent="0" marL="0">
              <a:lnSpc>
                <a:spcPts val="1800"/>
              </a:lnSpc>
              <a:buNone/>
            </a:pPr>
            <a:r>
              <a:rPr lang="en-US" sz="1300" dirty="0">
                <a:solidFill>
                  <a:srgbClr val="5C6B60"/>
                </a:solidFill>
                <a:latin typeface="Calibri" pitchFamily="34" charset="0"/>
                <a:ea typeface="Calibri" pitchFamily="34" charset="-122"/>
                <a:cs typeface="Calibri" pitchFamily="34" charset="-120"/>
              </a:rPr>
              <a:t>Measure whether a model is actually good: accuracy, precision, recall, cross-validation, and the theory of generalisation behind those numbers.</a:t>
            </a:r>
            <a:endParaRPr lang="en-US" sz="1300" dirty="0"/>
          </a:p>
        </p:txBody>
      </p:sp>
      <p:sp>
        <p:nvSpPr>
          <p:cNvPr id="14" name="Shape 12"/>
          <p:cNvSpPr/>
          <p:nvPr/>
        </p:nvSpPr>
        <p:spPr>
          <a:xfrm>
            <a:off x="548640" y="4809744"/>
            <a:ext cx="11064240" cy="1417320"/>
          </a:xfrm>
          <a:prstGeom prst="roundRect">
            <a:avLst>
              <a:gd name="adj" fmla="val 774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3"/>
          <p:cNvSpPr/>
          <p:nvPr/>
        </p:nvSpPr>
        <p:spPr>
          <a:xfrm>
            <a:off x="914400" y="5221224"/>
            <a:ext cx="603504" cy="603504"/>
          </a:xfrm>
          <a:prstGeom prst="ellipse">
            <a:avLst/>
          </a:prstGeom>
          <a:solidFill>
            <a:srgbClr val="C9A227"/>
          </a:solidFill>
          <a:ln w="12700">
            <a:solidFill>
              <a:srgbClr val="C9A227"/>
            </a:solidFill>
            <a:prstDash val="solid"/>
          </a:ln>
        </p:spPr>
      </p:sp>
      <p:sp>
        <p:nvSpPr>
          <p:cNvPr id="16" name="Text 14"/>
          <p:cNvSpPr txBox="1"/>
          <p:nvPr/>
        </p:nvSpPr>
        <p:spPr>
          <a:xfrm>
            <a:off x="914400" y="5221224"/>
            <a:ext cx="603504" cy="603504"/>
          </a:xfrm>
          <a:prstGeom prst="rect">
            <a:avLst/>
          </a:prstGeom>
          <a:noFill/>
          <a:ln/>
        </p:spPr>
        <p:txBody>
          <a:bodyPr wrap="square" lIns="0" tIns="0" rIns="0" bIns="0" rtlCol="0" anchor="ctr"/>
          <a:lstStyle/>
          <a:p>
            <a:pPr algn="ctr" indent="0" marL="0">
              <a:buNone/>
            </a:pPr>
            <a:r>
              <a:rPr lang="en-US" sz="1800" b="1" dirty="0">
                <a:solidFill>
                  <a:srgbClr val="0F6B3C"/>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783080" y="5010912"/>
            <a:ext cx="9509760" cy="384048"/>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Apply ML to a real-world problem</a:t>
            </a:r>
            <a:endParaRPr lang="en-US" sz="1900" dirty="0"/>
          </a:p>
        </p:txBody>
      </p:sp>
      <p:sp>
        <p:nvSpPr>
          <p:cNvPr id="18" name="Text 16"/>
          <p:cNvSpPr txBox="1"/>
          <p:nvPr/>
        </p:nvSpPr>
        <p:spPr>
          <a:xfrm>
            <a:off x="1783080" y="5431536"/>
            <a:ext cx="9418320" cy="685800"/>
          </a:xfrm>
          <a:prstGeom prst="rect">
            <a:avLst/>
          </a:prstGeom>
          <a:noFill/>
          <a:ln/>
        </p:spPr>
        <p:txBody>
          <a:bodyPr wrap="square" lIns="0" tIns="0" rIns="0" bIns="0" rtlCol="0" anchor="ctr"/>
          <a:lstStyle/>
          <a:p>
            <a:pPr indent="0" marL="0">
              <a:lnSpc>
                <a:spcPts val="1800"/>
              </a:lnSpc>
              <a:buNone/>
            </a:pPr>
            <a:r>
              <a:rPr lang="en-US" sz="1300" dirty="0">
                <a:solidFill>
                  <a:srgbClr val="5C6B60"/>
                </a:solidFill>
                <a:latin typeface="Calibri" pitchFamily="34" charset="0"/>
                <a:ea typeface="Calibri" pitchFamily="34" charset="-122"/>
                <a:cs typeface="Calibri" pitchFamily="34" charset="-120"/>
              </a:rPr>
              <a:t>Take a messy real dataset, build a model, optimise it, and report honestly on the accuracy you can expect in deployment.</a:t>
            </a:r>
            <a:endParaRPr lang="en-US" sz="1300" dirty="0"/>
          </a:p>
        </p:txBody>
      </p:sp>
      <p:sp>
        <p:nvSpPr>
          <p:cNvPr id="20" name="Text 17"/>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1" name="Text 18"/>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a:t>
            </a:r>
            <a:endParaRPr lang="en-US" sz="900" dirty="0"/>
          </a:p>
        </p:txBody>
      </p:sp>
      <p:pic>
        <p:nvPicPr>
          <p:cNvPr id="22" name="Picture 21"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COURSE ROADMAP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Where These Two Lectures Sit</a:t>
            </a:r>
            <a:endParaRPr lang="en-US" sz="3000" dirty="0"/>
          </a:p>
        </p:txBody>
      </p:sp>
      <p:sp>
        <p:nvSpPr>
          <p:cNvPr id="4" name="Shape 2"/>
          <p:cNvSpPr/>
          <p:nvPr/>
        </p:nvSpPr>
        <p:spPr>
          <a:xfrm>
            <a:off x="548640" y="1691640"/>
            <a:ext cx="2103120" cy="3566160"/>
          </a:xfrm>
          <a:prstGeom prst="roundRect">
            <a:avLst>
              <a:gd name="adj" fmla="val 4348"/>
            </a:avLst>
          </a:prstGeom>
          <a:solidFill>
            <a:srgbClr val="FBF3DC"/>
          </a:solidFill>
          <a:ln w="22225">
            <a:solidFill>
              <a:srgbClr val="C9A227"/>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749808" y="1874520"/>
            <a:ext cx="1700784" cy="274320"/>
          </a:xfrm>
          <a:prstGeom prst="rect">
            <a:avLst/>
          </a:prstGeom>
          <a:noFill/>
          <a:ln/>
        </p:spPr>
        <p:txBody>
          <a:bodyPr wrap="square" lIns="0" tIns="0" rIns="0" bIns="0" rtlCol="0" anchor="ctr"/>
          <a:lstStyle/>
          <a:p>
            <a:pPr indent="0" marL="0">
              <a:buNone/>
            </a:pPr>
            <a:r>
              <a:rPr lang="en-US" sz="1050" b="1" spc="150" kern="0" dirty="0">
                <a:solidFill>
                  <a:srgbClr val="C9A227"/>
                </a:solidFill>
                <a:latin typeface="Calibri" pitchFamily="34" charset="0"/>
                <a:ea typeface="Calibri" pitchFamily="34" charset="-122"/>
                <a:cs typeface="Calibri" pitchFamily="34" charset="-120"/>
              </a:rPr>
              <a:t>BLOCK A</a:t>
            </a:r>
            <a:endParaRPr lang="en-US" sz="1050" dirty="0"/>
          </a:p>
        </p:txBody>
      </p:sp>
      <p:sp>
        <p:nvSpPr>
          <p:cNvPr id="6" name="Text 4"/>
          <p:cNvSpPr txBox="1"/>
          <p:nvPr/>
        </p:nvSpPr>
        <p:spPr>
          <a:xfrm>
            <a:off x="749808" y="2176272"/>
            <a:ext cx="1700784" cy="82296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Foundations</a:t>
            </a:r>
            <a:endParaRPr lang="en-US" sz="1700" dirty="0"/>
          </a:p>
        </p:txBody>
      </p:sp>
      <p:sp>
        <p:nvSpPr>
          <p:cNvPr id="7" name="Text 5"/>
          <p:cNvSpPr txBox="1"/>
          <p:nvPr/>
        </p:nvSpPr>
        <p:spPr>
          <a:xfrm>
            <a:off x="749808" y="3017520"/>
            <a:ext cx="1700784" cy="2011680"/>
          </a:xfrm>
          <a:prstGeom prst="rect">
            <a:avLst/>
          </a:prstGeom>
          <a:noFill/>
          <a:ln/>
        </p:spPr>
        <p:txBody>
          <a:bodyPr wrap="square" lIns="0" tIns="0" rIns="0" bIns="0" rtlCol="0" anchor="ctr"/>
          <a:lstStyle/>
          <a:p>
            <a:pPr indent="0" marL="0">
              <a:lnSpc>
                <a:spcPts val="1600"/>
              </a:lnSpc>
              <a:buNone/>
            </a:pPr>
            <a:r>
              <a:rPr lang="en-US" sz="1150" dirty="0">
                <a:solidFill>
                  <a:srgbClr val="5C6B60"/>
                </a:solidFill>
                <a:latin typeface="Calibri" pitchFamily="34" charset="0"/>
                <a:ea typeface="Calibri" pitchFamily="34" charset="-122"/>
                <a:cs typeface="Calibri" pitchFamily="34" charset="-120"/>
              </a:rPr>
              <a:t>What learning is, the ML pipeline, loss, generalisation, evaluation metrics</a:t>
            </a:r>
            <a:endParaRPr lang="en-US" sz="1150" dirty="0"/>
          </a:p>
        </p:txBody>
      </p:sp>
      <p:sp>
        <p:nvSpPr>
          <p:cNvPr id="8" name="Shape 6"/>
          <p:cNvSpPr/>
          <p:nvPr/>
        </p:nvSpPr>
        <p:spPr>
          <a:xfrm>
            <a:off x="2825496" y="1691640"/>
            <a:ext cx="2103120" cy="3566160"/>
          </a:xfrm>
          <a:prstGeom prst="roundRect">
            <a:avLst>
              <a:gd name="adj" fmla="val 4348"/>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9" name="Text 7"/>
          <p:cNvSpPr txBox="1"/>
          <p:nvPr/>
        </p:nvSpPr>
        <p:spPr>
          <a:xfrm>
            <a:off x="3026664" y="1874520"/>
            <a:ext cx="1700784" cy="274320"/>
          </a:xfrm>
          <a:prstGeom prst="rect">
            <a:avLst/>
          </a:prstGeom>
          <a:noFill/>
          <a:ln/>
        </p:spPr>
        <p:txBody>
          <a:bodyPr wrap="square" lIns="0" tIns="0" rIns="0" bIns="0" rtlCol="0" anchor="ctr"/>
          <a:lstStyle/>
          <a:p>
            <a:pPr indent="0" marL="0">
              <a:buNone/>
            </a:pPr>
            <a:r>
              <a:rPr lang="en-US" sz="1050" b="1" spc="150" kern="0" dirty="0">
                <a:solidFill>
                  <a:srgbClr val="0F6B3C"/>
                </a:solidFill>
                <a:latin typeface="Calibri" pitchFamily="34" charset="0"/>
                <a:ea typeface="Calibri" pitchFamily="34" charset="-122"/>
                <a:cs typeface="Calibri" pitchFamily="34" charset="-120"/>
              </a:rPr>
              <a:t>BLOCK B</a:t>
            </a:r>
            <a:endParaRPr lang="en-US" sz="1050" dirty="0"/>
          </a:p>
        </p:txBody>
      </p:sp>
      <p:sp>
        <p:nvSpPr>
          <p:cNvPr id="10" name="Text 8"/>
          <p:cNvSpPr txBox="1"/>
          <p:nvPr/>
        </p:nvSpPr>
        <p:spPr>
          <a:xfrm>
            <a:off x="3026664" y="2176272"/>
            <a:ext cx="1700784" cy="82296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Supervised learning</a:t>
            </a:r>
            <a:endParaRPr lang="en-US" sz="1700" dirty="0"/>
          </a:p>
        </p:txBody>
      </p:sp>
      <p:sp>
        <p:nvSpPr>
          <p:cNvPr id="11" name="Text 9"/>
          <p:cNvSpPr txBox="1"/>
          <p:nvPr/>
        </p:nvSpPr>
        <p:spPr>
          <a:xfrm>
            <a:off x="3026664" y="3017520"/>
            <a:ext cx="1700784" cy="2011680"/>
          </a:xfrm>
          <a:prstGeom prst="rect">
            <a:avLst/>
          </a:prstGeom>
          <a:noFill/>
          <a:ln/>
        </p:spPr>
        <p:txBody>
          <a:bodyPr wrap="square" lIns="0" tIns="0" rIns="0" bIns="0" rtlCol="0" anchor="ctr"/>
          <a:lstStyle/>
          <a:p>
            <a:pPr indent="0" marL="0">
              <a:lnSpc>
                <a:spcPts val="1600"/>
              </a:lnSpc>
              <a:buNone/>
            </a:pPr>
            <a:r>
              <a:rPr lang="en-US" sz="1150" dirty="0">
                <a:solidFill>
                  <a:srgbClr val="5C6B60"/>
                </a:solidFill>
                <a:latin typeface="Calibri" pitchFamily="34" charset="0"/>
                <a:ea typeface="Calibri" pitchFamily="34" charset="-122"/>
                <a:cs typeface="Calibri" pitchFamily="34" charset="-120"/>
              </a:rPr>
              <a:t>Decision trees, k-NN, naive Bayes, SVMs, neural networks, ensembles</a:t>
            </a:r>
            <a:endParaRPr lang="en-US" sz="1150" dirty="0"/>
          </a:p>
        </p:txBody>
      </p:sp>
      <p:sp>
        <p:nvSpPr>
          <p:cNvPr id="12" name="Shape 10"/>
          <p:cNvSpPr/>
          <p:nvPr/>
        </p:nvSpPr>
        <p:spPr>
          <a:xfrm>
            <a:off x="5102352" y="1691640"/>
            <a:ext cx="2103120" cy="3566160"/>
          </a:xfrm>
          <a:prstGeom prst="roundRect">
            <a:avLst>
              <a:gd name="adj" fmla="val 4348"/>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13" name="Text 11"/>
          <p:cNvSpPr txBox="1"/>
          <p:nvPr/>
        </p:nvSpPr>
        <p:spPr>
          <a:xfrm>
            <a:off x="5303520" y="1874520"/>
            <a:ext cx="1700784" cy="274320"/>
          </a:xfrm>
          <a:prstGeom prst="rect">
            <a:avLst/>
          </a:prstGeom>
          <a:noFill/>
          <a:ln/>
        </p:spPr>
        <p:txBody>
          <a:bodyPr wrap="square" lIns="0" tIns="0" rIns="0" bIns="0" rtlCol="0" anchor="ctr"/>
          <a:lstStyle/>
          <a:p>
            <a:pPr indent="0" marL="0">
              <a:buNone/>
            </a:pPr>
            <a:r>
              <a:rPr lang="en-US" sz="1050" b="1" spc="150" kern="0" dirty="0">
                <a:solidFill>
                  <a:srgbClr val="0E7C61"/>
                </a:solidFill>
                <a:latin typeface="Calibri" pitchFamily="34" charset="0"/>
                <a:ea typeface="Calibri" pitchFamily="34" charset="-122"/>
                <a:cs typeface="Calibri" pitchFamily="34" charset="-120"/>
              </a:rPr>
              <a:t>BLOCK C</a:t>
            </a:r>
            <a:endParaRPr lang="en-US" sz="1050" dirty="0"/>
          </a:p>
        </p:txBody>
      </p:sp>
      <p:sp>
        <p:nvSpPr>
          <p:cNvPr id="14" name="Text 12"/>
          <p:cNvSpPr txBox="1"/>
          <p:nvPr/>
        </p:nvSpPr>
        <p:spPr>
          <a:xfrm>
            <a:off x="5303520" y="2176272"/>
            <a:ext cx="1700784" cy="82296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Probabilistic &amp; sequence models</a:t>
            </a:r>
            <a:endParaRPr lang="en-US" sz="1700" dirty="0"/>
          </a:p>
        </p:txBody>
      </p:sp>
      <p:sp>
        <p:nvSpPr>
          <p:cNvPr id="15" name="Text 13"/>
          <p:cNvSpPr txBox="1"/>
          <p:nvPr/>
        </p:nvSpPr>
        <p:spPr>
          <a:xfrm>
            <a:off x="5303520" y="3017520"/>
            <a:ext cx="1700784" cy="2011680"/>
          </a:xfrm>
          <a:prstGeom prst="rect">
            <a:avLst/>
          </a:prstGeom>
          <a:noFill/>
          <a:ln/>
        </p:spPr>
        <p:txBody>
          <a:bodyPr wrap="square" lIns="0" tIns="0" rIns="0" bIns="0" rtlCol="0" anchor="ctr"/>
          <a:lstStyle/>
          <a:p>
            <a:pPr indent="0" marL="0">
              <a:lnSpc>
                <a:spcPts val="1600"/>
              </a:lnSpc>
              <a:buNone/>
            </a:pPr>
            <a:r>
              <a:rPr lang="en-US" sz="1150" dirty="0">
                <a:solidFill>
                  <a:srgbClr val="5C6B60"/>
                </a:solidFill>
                <a:latin typeface="Calibri" pitchFamily="34" charset="0"/>
                <a:ea typeface="Calibri" pitchFamily="34" charset="-122"/>
                <a:cs typeface="Calibri" pitchFamily="34" charset="-120"/>
              </a:rPr>
              <a:t>Bayesian networks, MAP &amp; MDL, N-grams, Markov and Hidden Markov models</a:t>
            </a:r>
            <a:endParaRPr lang="en-US" sz="1150" dirty="0"/>
          </a:p>
        </p:txBody>
      </p:sp>
      <p:sp>
        <p:nvSpPr>
          <p:cNvPr id="16" name="Shape 14"/>
          <p:cNvSpPr/>
          <p:nvPr/>
        </p:nvSpPr>
        <p:spPr>
          <a:xfrm>
            <a:off x="7379208" y="1691640"/>
            <a:ext cx="2103120" cy="3566160"/>
          </a:xfrm>
          <a:prstGeom prst="roundRect">
            <a:avLst>
              <a:gd name="adj" fmla="val 4348"/>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17" name="Text 15"/>
          <p:cNvSpPr txBox="1"/>
          <p:nvPr/>
        </p:nvSpPr>
        <p:spPr>
          <a:xfrm>
            <a:off x="7580376" y="1874520"/>
            <a:ext cx="1700784" cy="274320"/>
          </a:xfrm>
          <a:prstGeom prst="rect">
            <a:avLst/>
          </a:prstGeom>
          <a:noFill/>
          <a:ln/>
        </p:spPr>
        <p:txBody>
          <a:bodyPr wrap="square" lIns="0" tIns="0" rIns="0" bIns="0" rtlCol="0" anchor="ctr"/>
          <a:lstStyle/>
          <a:p>
            <a:pPr indent="0" marL="0">
              <a:buNone/>
            </a:pPr>
            <a:r>
              <a:rPr lang="en-US" sz="1050" b="1" spc="150" kern="0" dirty="0">
                <a:solidFill>
                  <a:srgbClr val="1E8449"/>
                </a:solidFill>
                <a:latin typeface="Calibri" pitchFamily="34" charset="0"/>
                <a:ea typeface="Calibri" pitchFamily="34" charset="-122"/>
                <a:cs typeface="Calibri" pitchFamily="34" charset="-120"/>
              </a:rPr>
              <a:t>BLOCK D</a:t>
            </a:r>
            <a:endParaRPr lang="en-US" sz="1050" dirty="0"/>
          </a:p>
        </p:txBody>
      </p:sp>
      <p:sp>
        <p:nvSpPr>
          <p:cNvPr id="18" name="Text 16"/>
          <p:cNvSpPr txBox="1"/>
          <p:nvPr/>
        </p:nvSpPr>
        <p:spPr>
          <a:xfrm>
            <a:off x="7580376" y="2176272"/>
            <a:ext cx="1700784" cy="82296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Unsupervised &amp; theory</a:t>
            </a:r>
            <a:endParaRPr lang="en-US" sz="1700" dirty="0"/>
          </a:p>
        </p:txBody>
      </p:sp>
      <p:sp>
        <p:nvSpPr>
          <p:cNvPr id="19" name="Text 17"/>
          <p:cNvSpPr txBox="1"/>
          <p:nvPr/>
        </p:nvSpPr>
        <p:spPr>
          <a:xfrm>
            <a:off x="7580376" y="3017520"/>
            <a:ext cx="1700784" cy="2011680"/>
          </a:xfrm>
          <a:prstGeom prst="rect">
            <a:avLst/>
          </a:prstGeom>
          <a:noFill/>
          <a:ln/>
        </p:spPr>
        <p:txBody>
          <a:bodyPr wrap="square" lIns="0" tIns="0" rIns="0" bIns="0" rtlCol="0" anchor="ctr"/>
          <a:lstStyle/>
          <a:p>
            <a:pPr indent="0" marL="0">
              <a:lnSpc>
                <a:spcPts val="1600"/>
              </a:lnSpc>
              <a:buNone/>
            </a:pPr>
            <a:r>
              <a:rPr lang="en-US" sz="1150" dirty="0">
                <a:solidFill>
                  <a:srgbClr val="5C6B60"/>
                </a:solidFill>
                <a:latin typeface="Calibri" pitchFamily="34" charset="0"/>
                <a:ea typeface="Calibri" pitchFamily="34" charset="-122"/>
                <a:cs typeface="Calibri" pitchFamily="34" charset="-120"/>
              </a:rPr>
              <a:t>Clustering, mixture models, PCA, VC dimension, sample complexity, boosting</a:t>
            </a:r>
            <a:endParaRPr lang="en-US" sz="1150" dirty="0"/>
          </a:p>
        </p:txBody>
      </p:sp>
      <p:sp>
        <p:nvSpPr>
          <p:cNvPr id="20" name="Shape 18"/>
          <p:cNvSpPr/>
          <p:nvPr/>
        </p:nvSpPr>
        <p:spPr>
          <a:xfrm>
            <a:off x="9656064" y="1691640"/>
            <a:ext cx="2103120" cy="3566160"/>
          </a:xfrm>
          <a:prstGeom prst="roundRect">
            <a:avLst>
              <a:gd name="adj" fmla="val 4348"/>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21" name="Text 19"/>
          <p:cNvSpPr txBox="1"/>
          <p:nvPr/>
        </p:nvSpPr>
        <p:spPr>
          <a:xfrm>
            <a:off x="9857232" y="1874520"/>
            <a:ext cx="1700784" cy="274320"/>
          </a:xfrm>
          <a:prstGeom prst="rect">
            <a:avLst/>
          </a:prstGeom>
          <a:noFill/>
          <a:ln/>
        </p:spPr>
        <p:txBody>
          <a:bodyPr wrap="square" lIns="0" tIns="0" rIns="0" bIns="0" rtlCol="0" anchor="ctr"/>
          <a:lstStyle/>
          <a:p>
            <a:pPr indent="0" marL="0">
              <a:buNone/>
            </a:pPr>
            <a:r>
              <a:rPr lang="en-US" sz="1050" b="1" spc="150" kern="0" dirty="0">
                <a:solidFill>
                  <a:srgbClr val="9C3B2E"/>
                </a:solidFill>
                <a:latin typeface="Calibri" pitchFamily="34" charset="0"/>
                <a:ea typeface="Calibri" pitchFamily="34" charset="-122"/>
                <a:cs typeface="Calibri" pitchFamily="34" charset="-120"/>
              </a:rPr>
              <a:t>BLOCK E</a:t>
            </a:r>
            <a:endParaRPr lang="en-US" sz="1050" dirty="0"/>
          </a:p>
        </p:txBody>
      </p:sp>
      <p:sp>
        <p:nvSpPr>
          <p:cNvPr id="22" name="Text 20"/>
          <p:cNvSpPr txBox="1"/>
          <p:nvPr/>
        </p:nvSpPr>
        <p:spPr>
          <a:xfrm>
            <a:off x="9857232" y="2176272"/>
            <a:ext cx="1700784" cy="82296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Reinforcement &amp; applications</a:t>
            </a:r>
            <a:endParaRPr lang="en-US" sz="1700" dirty="0"/>
          </a:p>
        </p:txBody>
      </p:sp>
      <p:sp>
        <p:nvSpPr>
          <p:cNvPr id="23" name="Text 21"/>
          <p:cNvSpPr txBox="1"/>
          <p:nvPr/>
        </p:nvSpPr>
        <p:spPr>
          <a:xfrm>
            <a:off x="9857232" y="3017520"/>
            <a:ext cx="1700784" cy="2011680"/>
          </a:xfrm>
          <a:prstGeom prst="rect">
            <a:avLst/>
          </a:prstGeom>
          <a:noFill/>
          <a:ln/>
        </p:spPr>
        <p:txBody>
          <a:bodyPr wrap="square" lIns="0" tIns="0" rIns="0" bIns="0" rtlCol="0" anchor="ctr"/>
          <a:lstStyle/>
          <a:p>
            <a:pPr indent="0" marL="0">
              <a:lnSpc>
                <a:spcPts val="1600"/>
              </a:lnSpc>
              <a:buNone/>
            </a:pPr>
            <a:r>
              <a:rPr lang="en-US" sz="1150" dirty="0">
                <a:solidFill>
                  <a:srgbClr val="5C6B60"/>
                </a:solidFill>
                <a:latin typeface="Calibri" pitchFamily="34" charset="0"/>
                <a:ea typeface="Calibri" pitchFamily="34" charset="-122"/>
                <a:cs typeface="Calibri" pitchFamily="34" charset="-120"/>
              </a:rPr>
              <a:t>RL, text and language processing, bioinformatics, distributed learning</a:t>
            </a:r>
            <a:endParaRPr lang="en-US" sz="1150" dirty="0"/>
          </a:p>
        </p:txBody>
      </p:sp>
      <p:sp>
        <p:nvSpPr>
          <p:cNvPr id="24" name="Text 22"/>
          <p:cNvSpPr txBox="1"/>
          <p:nvPr/>
        </p:nvSpPr>
        <p:spPr>
          <a:xfrm>
            <a:off x="548640" y="5394960"/>
            <a:ext cx="2103120" cy="320040"/>
          </a:xfrm>
          <a:prstGeom prst="rect">
            <a:avLst/>
          </a:prstGeom>
          <a:noFill/>
          <a:ln/>
        </p:spPr>
        <p:txBody>
          <a:bodyPr wrap="square" lIns="0" tIns="0" rIns="0" bIns="0" rtlCol="0" anchor="ctr"/>
          <a:lstStyle/>
          <a:p>
            <a:pPr algn="ctr" indent="0" marL="0">
              <a:buNone/>
            </a:pPr>
            <a:r>
              <a:rPr lang="en-US" sz="1100" b="1" spc="150" kern="0" dirty="0">
                <a:solidFill>
                  <a:srgbClr val="C9A227"/>
                </a:solidFill>
                <a:latin typeface="Calibri" pitchFamily="34" charset="0"/>
                <a:ea typeface="Calibri" pitchFamily="34" charset="-122"/>
                <a:cs typeface="Calibri" pitchFamily="34" charset="-120"/>
              </a:rPr>
              <a:t>WE ARE HERE</a:t>
            </a:r>
            <a:endParaRPr lang="en-US" sz="1100" dirty="0"/>
          </a:p>
        </p:txBody>
      </p:sp>
      <p:sp>
        <p:nvSpPr>
          <p:cNvPr id="25" name="Text 23"/>
          <p:cNvSpPr txBox="1"/>
          <p:nvPr/>
        </p:nvSpPr>
        <p:spPr>
          <a:xfrm>
            <a:off x="2834640" y="5623560"/>
            <a:ext cx="8778240" cy="640080"/>
          </a:xfrm>
          <a:prstGeom prst="rect">
            <a:avLst/>
          </a:prstGeom>
          <a:noFill/>
          <a:ln/>
        </p:spPr>
        <p:txBody>
          <a:bodyPr wrap="square" lIns="0" tIns="0" rIns="0" bIns="0" rtlCol="0" anchor="t"/>
          <a:lstStyle/>
          <a:p>
            <a:pPr indent="0" marL="0">
              <a:lnSpc>
                <a:spcPts val="2000"/>
              </a:lnSpc>
              <a:buNone/>
            </a:pPr>
            <a:r>
              <a:rPr lang="en-US" sz="1300" i="1" dirty="0">
                <a:solidFill>
                  <a:srgbClr val="5C6B60"/>
                </a:solidFill>
                <a:latin typeface="Calibri" pitchFamily="34" charset="0"/>
                <a:ea typeface="Calibri" pitchFamily="34" charset="-122"/>
                <a:cs typeface="Calibri" pitchFamily="34" charset="-120"/>
              </a:rPr>
              <a:t>Everything in Blocks B to E is built on the ideas in these first two lectures. If the foundations are shaky, every later algorithm feels like magic instead of engineering.</a:t>
            </a:r>
            <a:endParaRPr lang="en-US" sz="1300" dirty="0"/>
          </a:p>
        </p:txBody>
      </p:sp>
      <p:sp>
        <p:nvSpPr>
          <p:cNvPr id="27" name="Text 2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8" name="Text 2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a:t>
            </a:r>
            <a:endParaRPr lang="en-US" sz="900" dirty="0"/>
          </a:p>
        </p:txBody>
      </p:sp>
      <p:pic>
        <p:nvPicPr>
          <p:cNvPr id="29" name="Picture 2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READING MATERIALS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Books, and How To Actually Use Them</a:t>
            </a:r>
            <a:endParaRPr lang="en-US" sz="3000" dirty="0"/>
          </a:p>
        </p:txBody>
      </p:sp>
      <p:sp>
        <p:nvSpPr>
          <p:cNvPr id="4" name="Text 2"/>
          <p:cNvSpPr txBox="1"/>
          <p:nvPr/>
        </p:nvSpPr>
        <p:spPr>
          <a:xfrm>
            <a:off x="548640" y="1554480"/>
            <a:ext cx="54864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CORE READING</a:t>
            </a:r>
            <a:endParaRPr lang="en-US" sz="1100" dirty="0"/>
          </a:p>
        </p:txBody>
      </p:sp>
      <p:sp>
        <p:nvSpPr>
          <p:cNvPr id="5" name="Shape 3"/>
          <p:cNvSpPr/>
          <p:nvPr/>
        </p:nvSpPr>
        <p:spPr>
          <a:xfrm>
            <a:off x="548640" y="1874520"/>
            <a:ext cx="5577840" cy="1371600"/>
          </a:xfrm>
          <a:prstGeom prst="roundRect">
            <a:avLst>
              <a:gd name="adj" fmla="val 8000"/>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 name="Text 4"/>
          <p:cNvSpPr txBox="1"/>
          <p:nvPr/>
        </p:nvSpPr>
        <p:spPr>
          <a:xfrm>
            <a:off x="822960" y="2039112"/>
            <a:ext cx="5029200" cy="292608"/>
          </a:xfrm>
          <a:prstGeom prst="rect">
            <a:avLst/>
          </a:prstGeom>
          <a:noFill/>
          <a:ln/>
        </p:spPr>
        <p:txBody>
          <a:bodyPr wrap="square" lIns="0" tIns="0" rIns="0" bIns="0" rtlCol="0" anchor="ctr"/>
          <a:lstStyle/>
          <a:p>
            <a:pPr indent="0" marL="0">
              <a:buNone/>
            </a:pPr>
            <a:r>
              <a:rPr lang="en-US" sz="1150" b="1" dirty="0">
                <a:solidFill>
                  <a:srgbClr val="C9A227"/>
                </a:solidFill>
                <a:latin typeface="Calibri" pitchFamily="34" charset="0"/>
                <a:ea typeface="Calibri" pitchFamily="34" charset="-122"/>
                <a:cs typeface="Calibri" pitchFamily="34" charset="-120"/>
              </a:rPr>
              <a:t>Bishop (2006)</a:t>
            </a:r>
            <a:endParaRPr lang="en-US" sz="1150" dirty="0"/>
          </a:p>
        </p:txBody>
      </p:sp>
      <p:sp>
        <p:nvSpPr>
          <p:cNvPr id="7" name="Text 5"/>
          <p:cNvSpPr txBox="1"/>
          <p:nvPr/>
        </p:nvSpPr>
        <p:spPr>
          <a:xfrm>
            <a:off x="822960" y="2313432"/>
            <a:ext cx="5029200" cy="347472"/>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Pattern Recognition and Machine Learning</a:t>
            </a:r>
            <a:endParaRPr lang="en-US" sz="1500" dirty="0"/>
          </a:p>
        </p:txBody>
      </p:sp>
      <p:sp>
        <p:nvSpPr>
          <p:cNvPr id="8" name="Text 6"/>
          <p:cNvSpPr txBox="1"/>
          <p:nvPr/>
        </p:nvSpPr>
        <p:spPr>
          <a:xfrm>
            <a:off x="822960" y="2679192"/>
            <a:ext cx="502920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Our main reference for probabilistic models. Dense but authoritative — read after each lecture, not before.</a:t>
            </a:r>
            <a:endParaRPr lang="en-US" sz="1150" dirty="0"/>
          </a:p>
        </p:txBody>
      </p:sp>
      <p:sp>
        <p:nvSpPr>
          <p:cNvPr id="9" name="Shape 7"/>
          <p:cNvSpPr/>
          <p:nvPr/>
        </p:nvSpPr>
        <p:spPr>
          <a:xfrm>
            <a:off x="548640" y="3447288"/>
            <a:ext cx="5577840" cy="1371600"/>
          </a:xfrm>
          <a:prstGeom prst="roundRect">
            <a:avLst>
              <a:gd name="adj" fmla="val 8000"/>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Text 8"/>
          <p:cNvSpPr txBox="1"/>
          <p:nvPr/>
        </p:nvSpPr>
        <p:spPr>
          <a:xfrm>
            <a:off x="822960" y="3611880"/>
            <a:ext cx="5029200" cy="292608"/>
          </a:xfrm>
          <a:prstGeom prst="rect">
            <a:avLst/>
          </a:prstGeom>
          <a:noFill/>
          <a:ln/>
        </p:spPr>
        <p:txBody>
          <a:bodyPr wrap="square" lIns="0" tIns="0" rIns="0" bIns="0" rtlCol="0" anchor="ctr"/>
          <a:lstStyle/>
          <a:p>
            <a:pPr indent="0" marL="0">
              <a:buNone/>
            </a:pPr>
            <a:r>
              <a:rPr lang="en-US" sz="1150" b="1" dirty="0">
                <a:solidFill>
                  <a:srgbClr val="C9A227"/>
                </a:solidFill>
                <a:latin typeface="Calibri" pitchFamily="34" charset="0"/>
                <a:ea typeface="Calibri" pitchFamily="34" charset="-122"/>
                <a:cs typeface="Calibri" pitchFamily="34" charset="-120"/>
              </a:rPr>
              <a:t>Barber (2012)</a:t>
            </a:r>
            <a:endParaRPr lang="en-US" sz="1150" dirty="0"/>
          </a:p>
        </p:txBody>
      </p:sp>
      <p:sp>
        <p:nvSpPr>
          <p:cNvPr id="11" name="Text 9"/>
          <p:cNvSpPr txBox="1"/>
          <p:nvPr/>
        </p:nvSpPr>
        <p:spPr>
          <a:xfrm>
            <a:off x="822960" y="3886200"/>
            <a:ext cx="5029200" cy="347472"/>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Bayesian Reasoning and Machine Learning</a:t>
            </a:r>
            <a:endParaRPr lang="en-US" sz="1500" dirty="0"/>
          </a:p>
        </p:txBody>
      </p:sp>
      <p:sp>
        <p:nvSpPr>
          <p:cNvPr id="12" name="Text 10"/>
          <p:cNvSpPr txBox="1"/>
          <p:nvPr/>
        </p:nvSpPr>
        <p:spPr>
          <a:xfrm>
            <a:off x="822960" y="4251960"/>
            <a:ext cx="502920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Free PDF from the author. Best for Bayesian networks and graphical models later in the semester.</a:t>
            </a:r>
            <a:endParaRPr lang="en-US" sz="1150" dirty="0"/>
          </a:p>
        </p:txBody>
      </p:sp>
      <p:sp>
        <p:nvSpPr>
          <p:cNvPr id="13" name="Text 11"/>
          <p:cNvSpPr txBox="1"/>
          <p:nvPr/>
        </p:nvSpPr>
        <p:spPr>
          <a:xfrm>
            <a:off x="6355080" y="1554480"/>
            <a:ext cx="5486400" cy="274320"/>
          </a:xfrm>
          <a:prstGeom prst="rect">
            <a:avLst/>
          </a:prstGeom>
          <a:noFill/>
          <a:ln/>
        </p:spPr>
        <p:txBody>
          <a:bodyPr wrap="square" lIns="0" tIns="0" rIns="0" bIns="0" rtlCol="0" anchor="ctr"/>
          <a:lstStyle/>
          <a:p>
            <a:pPr indent="0" marL="0">
              <a:buNone/>
            </a:pPr>
            <a:r>
              <a:rPr lang="en-US" sz="1100" b="1" spc="150" kern="0" dirty="0">
                <a:solidFill>
                  <a:srgbClr val="0E7C61"/>
                </a:solidFill>
                <a:latin typeface="Calibri" pitchFamily="34" charset="0"/>
                <a:ea typeface="Calibri" pitchFamily="34" charset="-122"/>
                <a:cs typeface="Calibri" pitchFamily="34" charset="-120"/>
              </a:rPr>
              <a:t>RECOMMENDED REFERENCE</a:t>
            </a:r>
            <a:endParaRPr lang="en-US" sz="1100" dirty="0"/>
          </a:p>
        </p:txBody>
      </p:sp>
      <p:sp>
        <p:nvSpPr>
          <p:cNvPr id="14" name="Shape 12"/>
          <p:cNvSpPr/>
          <p:nvPr/>
        </p:nvSpPr>
        <p:spPr>
          <a:xfrm>
            <a:off x="6355080" y="1874520"/>
            <a:ext cx="5257800" cy="1298448"/>
          </a:xfrm>
          <a:prstGeom prst="roundRect">
            <a:avLst>
              <a:gd name="adj" fmla="val 8451"/>
            </a:avLst>
          </a:prstGeom>
          <a:solidFill>
            <a:srgbClr val="FFFFFF"/>
          </a:solidFill>
          <a:ln w="15875">
            <a:solidFill>
              <a:srgbClr val="D9E3DB"/>
            </a:solidFill>
            <a:prstDash val="solid"/>
          </a:ln>
        </p:spPr>
      </p:sp>
      <p:sp>
        <p:nvSpPr>
          <p:cNvPr id="15" name="Text 13"/>
          <p:cNvSpPr txBox="1"/>
          <p:nvPr/>
        </p:nvSpPr>
        <p:spPr>
          <a:xfrm>
            <a:off x="6601968" y="2020824"/>
            <a:ext cx="4754880" cy="274320"/>
          </a:xfrm>
          <a:prstGeom prst="rect">
            <a:avLst/>
          </a:prstGeom>
          <a:noFill/>
          <a:ln/>
        </p:spPr>
        <p:txBody>
          <a:bodyPr wrap="square" lIns="0" tIns="0" rIns="0" bIns="0" rtlCol="0" anchor="ctr"/>
          <a:lstStyle/>
          <a:p>
            <a:pPr indent="0" marL="0">
              <a:buNone/>
            </a:pPr>
            <a:r>
              <a:rPr lang="en-US" sz="1100" b="1" dirty="0">
                <a:solidFill>
                  <a:srgbClr val="0E7C61"/>
                </a:solidFill>
                <a:latin typeface="Calibri" pitchFamily="34" charset="0"/>
                <a:ea typeface="Calibri" pitchFamily="34" charset="-122"/>
                <a:cs typeface="Calibri" pitchFamily="34" charset="-120"/>
              </a:rPr>
              <a:t>Murphy (2012)</a:t>
            </a:r>
            <a:endParaRPr lang="en-US" sz="1100" dirty="0"/>
          </a:p>
        </p:txBody>
      </p:sp>
      <p:sp>
        <p:nvSpPr>
          <p:cNvPr id="16" name="Text 14"/>
          <p:cNvSpPr txBox="1"/>
          <p:nvPr/>
        </p:nvSpPr>
        <p:spPr>
          <a:xfrm>
            <a:off x="6601968" y="2276856"/>
            <a:ext cx="4800600" cy="365760"/>
          </a:xfrm>
          <a:prstGeom prst="rect">
            <a:avLst/>
          </a:prstGeom>
          <a:noFill/>
          <a:ln/>
        </p:spPr>
        <p:txBody>
          <a:bodyPr wrap="square" lIns="0" tIns="0" rIns="0" bIns="0" rtlCol="0" anchor="ctr"/>
          <a:lstStyle/>
          <a:p>
            <a:pPr indent="0" marL="0">
              <a:buNone/>
            </a:pPr>
            <a:r>
              <a:rPr lang="en-US" sz="1350" b="1" dirty="0">
                <a:solidFill>
                  <a:srgbClr val="0F6B3C"/>
                </a:solidFill>
                <a:latin typeface="Cambria" pitchFamily="34" charset="0"/>
                <a:ea typeface="Cambria" pitchFamily="34" charset="-122"/>
                <a:cs typeface="Cambria" pitchFamily="34" charset="-120"/>
              </a:rPr>
              <a:t>Machine Learning: A Probabilistic Perspective</a:t>
            </a:r>
            <a:endParaRPr lang="en-US" sz="1350" dirty="0"/>
          </a:p>
        </p:txBody>
      </p:sp>
      <p:sp>
        <p:nvSpPr>
          <p:cNvPr id="17" name="Text 15"/>
          <p:cNvSpPr txBox="1"/>
          <p:nvPr/>
        </p:nvSpPr>
        <p:spPr>
          <a:xfrm>
            <a:off x="6601968" y="2660904"/>
            <a:ext cx="4800600" cy="411480"/>
          </a:xfrm>
          <a:prstGeom prst="rect">
            <a:avLst/>
          </a:prstGeom>
          <a:noFill/>
          <a:ln/>
        </p:spPr>
        <p:txBody>
          <a:bodyPr wrap="square" lIns="0" tIns="0" rIns="0" bIns="0" rtlCol="0" anchor="ctr"/>
          <a:lstStyle/>
          <a:p>
            <a:pPr indent="0" marL="0">
              <a:lnSpc>
                <a:spcPts val="1400"/>
              </a:lnSpc>
              <a:buNone/>
            </a:pPr>
            <a:r>
              <a:rPr lang="en-US" sz="1100" dirty="0">
                <a:solidFill>
                  <a:srgbClr val="5C6B60"/>
                </a:solidFill>
                <a:latin typeface="Calibri" pitchFamily="34" charset="0"/>
                <a:ea typeface="Calibri" pitchFamily="34" charset="-122"/>
                <a:cs typeface="Calibri" pitchFamily="34" charset="-120"/>
              </a:rPr>
              <a:t>Encyclopaedic. Use it as a lookup, not a novel.</a:t>
            </a:r>
            <a:endParaRPr lang="en-US" sz="1100" dirty="0"/>
          </a:p>
        </p:txBody>
      </p:sp>
      <p:sp>
        <p:nvSpPr>
          <p:cNvPr id="18" name="Shape 16"/>
          <p:cNvSpPr/>
          <p:nvPr/>
        </p:nvSpPr>
        <p:spPr>
          <a:xfrm>
            <a:off x="6355080" y="3337560"/>
            <a:ext cx="5257800" cy="1298448"/>
          </a:xfrm>
          <a:prstGeom prst="roundRect">
            <a:avLst>
              <a:gd name="adj" fmla="val 8451"/>
            </a:avLst>
          </a:prstGeom>
          <a:solidFill>
            <a:srgbClr val="FFFFFF"/>
          </a:solidFill>
          <a:ln w="15875">
            <a:solidFill>
              <a:srgbClr val="D9E3DB"/>
            </a:solidFill>
            <a:prstDash val="solid"/>
          </a:ln>
        </p:spPr>
      </p:sp>
      <p:sp>
        <p:nvSpPr>
          <p:cNvPr id="19" name="Text 17"/>
          <p:cNvSpPr txBox="1"/>
          <p:nvPr/>
        </p:nvSpPr>
        <p:spPr>
          <a:xfrm>
            <a:off x="6601968" y="3483864"/>
            <a:ext cx="4754880" cy="274320"/>
          </a:xfrm>
          <a:prstGeom prst="rect">
            <a:avLst/>
          </a:prstGeom>
          <a:noFill/>
          <a:ln/>
        </p:spPr>
        <p:txBody>
          <a:bodyPr wrap="square" lIns="0" tIns="0" rIns="0" bIns="0" rtlCol="0" anchor="ctr"/>
          <a:lstStyle/>
          <a:p>
            <a:pPr indent="0" marL="0">
              <a:buNone/>
            </a:pPr>
            <a:r>
              <a:rPr lang="en-US" sz="1100" b="1" dirty="0">
                <a:solidFill>
                  <a:srgbClr val="0E7C61"/>
                </a:solidFill>
                <a:latin typeface="Calibri" pitchFamily="34" charset="0"/>
                <a:ea typeface="Calibri" pitchFamily="34" charset="-122"/>
                <a:cs typeface="Calibri" pitchFamily="34" charset="-120"/>
              </a:rPr>
              <a:t>Shalev-Shwartz &amp; Ben-David (2014)</a:t>
            </a:r>
            <a:endParaRPr lang="en-US" sz="1100" dirty="0"/>
          </a:p>
        </p:txBody>
      </p:sp>
      <p:sp>
        <p:nvSpPr>
          <p:cNvPr id="20" name="Text 18"/>
          <p:cNvSpPr txBox="1"/>
          <p:nvPr/>
        </p:nvSpPr>
        <p:spPr>
          <a:xfrm>
            <a:off x="6601968" y="3739896"/>
            <a:ext cx="4800600" cy="365760"/>
          </a:xfrm>
          <a:prstGeom prst="rect">
            <a:avLst/>
          </a:prstGeom>
          <a:noFill/>
          <a:ln/>
        </p:spPr>
        <p:txBody>
          <a:bodyPr wrap="square" lIns="0" tIns="0" rIns="0" bIns="0" rtlCol="0" anchor="ctr"/>
          <a:lstStyle/>
          <a:p>
            <a:pPr indent="0" marL="0">
              <a:buNone/>
            </a:pPr>
            <a:r>
              <a:rPr lang="en-US" sz="1350" b="1" dirty="0">
                <a:solidFill>
                  <a:srgbClr val="0F6B3C"/>
                </a:solidFill>
                <a:latin typeface="Cambria" pitchFamily="34" charset="0"/>
                <a:ea typeface="Cambria" pitchFamily="34" charset="-122"/>
                <a:cs typeface="Cambria" pitchFamily="34" charset="-120"/>
              </a:rPr>
              <a:t>Understanding Machine Learning: From Theory to Algorithms</a:t>
            </a:r>
            <a:endParaRPr lang="en-US" sz="1350" dirty="0"/>
          </a:p>
        </p:txBody>
      </p:sp>
      <p:sp>
        <p:nvSpPr>
          <p:cNvPr id="21" name="Text 19"/>
          <p:cNvSpPr txBox="1"/>
          <p:nvPr/>
        </p:nvSpPr>
        <p:spPr>
          <a:xfrm>
            <a:off x="6601968" y="4123944"/>
            <a:ext cx="4800600" cy="411480"/>
          </a:xfrm>
          <a:prstGeom prst="rect">
            <a:avLst/>
          </a:prstGeom>
          <a:noFill/>
          <a:ln/>
        </p:spPr>
        <p:txBody>
          <a:bodyPr wrap="square" lIns="0" tIns="0" rIns="0" bIns="0" rtlCol="0" anchor="ctr"/>
          <a:lstStyle/>
          <a:p>
            <a:pPr indent="0" marL="0">
              <a:lnSpc>
                <a:spcPts val="1400"/>
              </a:lnSpc>
              <a:buNone/>
            </a:pPr>
            <a:r>
              <a:rPr lang="en-US" sz="1100" dirty="0">
                <a:solidFill>
                  <a:srgbClr val="5C6B60"/>
                </a:solidFill>
                <a:latin typeface="Calibri" pitchFamily="34" charset="0"/>
                <a:ea typeface="Calibri" pitchFamily="34" charset="-122"/>
                <a:cs typeface="Calibri" pitchFamily="34" charset="-120"/>
              </a:rPr>
              <a:t>Free PDF. The source for VC dimension and sample complexity in Block D.</a:t>
            </a:r>
            <a:endParaRPr lang="en-US" sz="1100" dirty="0"/>
          </a:p>
        </p:txBody>
      </p:sp>
      <p:sp>
        <p:nvSpPr>
          <p:cNvPr id="22" name="Shape 20"/>
          <p:cNvSpPr/>
          <p:nvPr/>
        </p:nvSpPr>
        <p:spPr>
          <a:xfrm>
            <a:off x="6355080" y="4800600"/>
            <a:ext cx="5257800" cy="1298448"/>
          </a:xfrm>
          <a:prstGeom prst="roundRect">
            <a:avLst>
              <a:gd name="adj" fmla="val 8451"/>
            </a:avLst>
          </a:prstGeom>
          <a:solidFill>
            <a:srgbClr val="FFFFFF"/>
          </a:solidFill>
          <a:ln w="15875">
            <a:solidFill>
              <a:srgbClr val="D9E3DB"/>
            </a:solidFill>
            <a:prstDash val="solid"/>
          </a:ln>
        </p:spPr>
      </p:sp>
      <p:sp>
        <p:nvSpPr>
          <p:cNvPr id="23" name="Text 21"/>
          <p:cNvSpPr txBox="1"/>
          <p:nvPr/>
        </p:nvSpPr>
        <p:spPr>
          <a:xfrm>
            <a:off x="6601968" y="4946904"/>
            <a:ext cx="4754880" cy="274320"/>
          </a:xfrm>
          <a:prstGeom prst="rect">
            <a:avLst/>
          </a:prstGeom>
          <a:noFill/>
          <a:ln/>
        </p:spPr>
        <p:txBody>
          <a:bodyPr wrap="square" lIns="0" tIns="0" rIns="0" bIns="0" rtlCol="0" anchor="ctr"/>
          <a:lstStyle/>
          <a:p>
            <a:pPr indent="0" marL="0">
              <a:buNone/>
            </a:pPr>
            <a:r>
              <a:rPr lang="en-US" sz="1100" b="1" dirty="0">
                <a:solidFill>
                  <a:srgbClr val="0E7C61"/>
                </a:solidFill>
                <a:latin typeface="Calibri" pitchFamily="34" charset="0"/>
                <a:ea typeface="Calibri" pitchFamily="34" charset="-122"/>
                <a:cs typeface="Calibri" pitchFamily="34" charset="-120"/>
              </a:rPr>
              <a:t>IEEE Access / IEEE T-CSS</a:t>
            </a:r>
            <a:endParaRPr lang="en-US" sz="1100" dirty="0"/>
          </a:p>
        </p:txBody>
      </p:sp>
      <p:sp>
        <p:nvSpPr>
          <p:cNvPr id="24" name="Text 22"/>
          <p:cNvSpPr txBox="1"/>
          <p:nvPr/>
        </p:nvSpPr>
        <p:spPr>
          <a:xfrm>
            <a:off x="6601968" y="5202936"/>
            <a:ext cx="4800600" cy="365760"/>
          </a:xfrm>
          <a:prstGeom prst="rect">
            <a:avLst/>
          </a:prstGeom>
          <a:noFill/>
          <a:ln/>
        </p:spPr>
        <p:txBody>
          <a:bodyPr wrap="square" lIns="0" tIns="0" rIns="0" bIns="0" rtlCol="0" anchor="ctr"/>
          <a:lstStyle/>
          <a:p>
            <a:pPr indent="0" marL="0">
              <a:buNone/>
            </a:pPr>
            <a:r>
              <a:rPr lang="en-US" sz="1350" b="1" dirty="0">
                <a:solidFill>
                  <a:srgbClr val="0F6B3C"/>
                </a:solidFill>
                <a:latin typeface="Cambria" pitchFamily="34" charset="0"/>
                <a:ea typeface="Cambria" pitchFamily="34" charset="-122"/>
                <a:cs typeface="Cambria" pitchFamily="34" charset="-120"/>
              </a:rPr>
              <a:t>Current journal literature</a:t>
            </a:r>
            <a:endParaRPr lang="en-US" sz="1350" dirty="0"/>
          </a:p>
        </p:txBody>
      </p:sp>
      <p:sp>
        <p:nvSpPr>
          <p:cNvPr id="25" name="Text 23"/>
          <p:cNvSpPr txBox="1"/>
          <p:nvPr/>
        </p:nvSpPr>
        <p:spPr>
          <a:xfrm>
            <a:off x="6601968" y="5586984"/>
            <a:ext cx="4800600" cy="411480"/>
          </a:xfrm>
          <a:prstGeom prst="rect">
            <a:avLst/>
          </a:prstGeom>
          <a:noFill/>
          <a:ln/>
        </p:spPr>
        <p:txBody>
          <a:bodyPr wrap="square" lIns="0" tIns="0" rIns="0" bIns="0" rtlCol="0" anchor="ctr"/>
          <a:lstStyle/>
          <a:p>
            <a:pPr indent="0" marL="0">
              <a:lnSpc>
                <a:spcPts val="1400"/>
              </a:lnSpc>
              <a:buNone/>
            </a:pPr>
            <a:r>
              <a:rPr lang="en-US" sz="1100" dirty="0">
                <a:solidFill>
                  <a:srgbClr val="5C6B60"/>
                </a:solidFill>
                <a:latin typeface="Calibri" pitchFamily="34" charset="0"/>
                <a:ea typeface="Calibri" pitchFamily="34" charset="-122"/>
                <a:cs typeface="Calibri" pitchFamily="34" charset="-120"/>
              </a:rPr>
              <a:t>Where you will find recent African ML applications for your project literature review.</a:t>
            </a:r>
            <a:endParaRPr lang="en-US" sz="1100" dirty="0"/>
          </a:p>
        </p:txBody>
      </p:sp>
      <p:sp>
        <p:nvSpPr>
          <p:cNvPr id="27" name="Text 2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8" name="Text 2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5</a:t>
            </a:r>
            <a:endParaRPr lang="en-US" sz="900" dirty="0"/>
          </a:p>
        </p:txBody>
      </p:sp>
      <p:pic>
        <p:nvPicPr>
          <p:cNvPr id="29" name="Picture 2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6B3C"/>
        </a:solidFill>
      </p:bgPr>
    </p:bg>
    <p:spTree>
      <p:nvGrpSpPr>
        <p:cNvPr id="1" name=""/>
        <p:cNvGrpSpPr/>
        <p:nvPr/>
      </p:nvGrpSpPr>
      <p:grpSpPr>
        <a:xfrm>
          <a:off x="0" y="0"/>
          <a:ext cx="0" cy="0"/>
          <a:chOff x="0" y="0"/>
          <a:chExt cx="0" cy="0"/>
        </a:xfrm>
      </p:grpSpPr>
      <p:sp>
        <p:nvSpPr>
          <p:cNvPr id="2" name="Shape 0"/>
          <p:cNvSpPr/>
          <p:nvPr/>
        </p:nvSpPr>
        <p:spPr>
          <a:xfrm>
            <a:off x="8869680" y="1005840"/>
            <a:ext cx="4754880" cy="4754880"/>
          </a:xfrm>
          <a:prstGeom prst="ellipse">
            <a:avLst/>
          </a:prstGeom>
          <a:solidFill>
            <a:srgbClr val="1E8449"/>
          </a:solidFill>
          <a:ln w="12700">
            <a:solidFill>
              <a:srgbClr val="333333"/>
            </a:solidFill>
            <a:prstDash val="solid"/>
          </a:ln>
        </p:spPr>
      </p:sp>
      <p:sp>
        <p:nvSpPr>
          <p:cNvPr id="3" name="Text 1"/>
          <p:cNvSpPr txBox="1"/>
          <p:nvPr/>
        </p:nvSpPr>
        <p:spPr>
          <a:xfrm>
            <a:off x="822960" y="1965960"/>
            <a:ext cx="7315200" cy="365760"/>
          </a:xfrm>
          <a:prstGeom prst="rect">
            <a:avLst/>
          </a:prstGeom>
          <a:noFill/>
          <a:ln/>
        </p:spPr>
        <p:txBody>
          <a:bodyPr wrap="square" lIns="0" tIns="0" rIns="0" bIns="0" rtlCol="0" anchor="ctr"/>
          <a:lstStyle/>
          <a:p>
            <a:pPr indent="0" marL="0">
              <a:buNone/>
            </a:pPr>
            <a:r>
              <a:rPr lang="en-US" sz="1400" b="1" spc="400" kern="0" dirty="0">
                <a:solidFill>
                  <a:srgbClr val="C9A227"/>
                </a:solidFill>
                <a:latin typeface="Calibri" pitchFamily="34" charset="0"/>
                <a:ea typeface="Calibri" pitchFamily="34" charset="-122"/>
                <a:cs typeface="Calibri" pitchFamily="34" charset="-120"/>
              </a:rPr>
              <a:t>LECTURE ONE</a:t>
            </a:r>
            <a:endParaRPr lang="en-US" sz="1400" dirty="0"/>
          </a:p>
        </p:txBody>
      </p:sp>
      <p:sp>
        <p:nvSpPr>
          <p:cNvPr id="4" name="Text 2"/>
          <p:cNvSpPr txBox="1"/>
          <p:nvPr/>
        </p:nvSpPr>
        <p:spPr>
          <a:xfrm>
            <a:off x="822960" y="2423160"/>
            <a:ext cx="7863840" cy="155448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Why Machines Need</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To Learn At All</a:t>
            </a:r>
            <a:endParaRPr lang="en-US" sz="4200" dirty="0"/>
          </a:p>
        </p:txBody>
      </p:sp>
      <p:sp>
        <p:nvSpPr>
          <p:cNvPr id="5" name="Text 3"/>
          <p:cNvSpPr txBox="1"/>
          <p:nvPr/>
        </p:nvSpPr>
        <p:spPr>
          <a:xfrm>
            <a:off x="822960" y="4206240"/>
            <a:ext cx="7680960" cy="1097280"/>
          </a:xfrm>
          <a:prstGeom prst="rect">
            <a:avLst/>
          </a:prstGeom>
          <a:noFill/>
          <a:ln/>
        </p:spPr>
        <p:txBody>
          <a:bodyPr wrap="square" lIns="0" tIns="0" rIns="0" bIns="0" rtlCol="0" anchor="t"/>
          <a:lstStyle/>
          <a:p>
            <a:pPr indent="0" marL="0">
              <a:lnSpc>
                <a:spcPts val="2200"/>
              </a:lnSpc>
              <a:buNone/>
            </a:pPr>
            <a:r>
              <a:rPr lang="en-US" sz="1400" dirty="0">
                <a:solidFill>
                  <a:srgbClr val="CFE3D5"/>
                </a:solidFill>
                <a:latin typeface="Calibri" pitchFamily="34" charset="0"/>
                <a:ea typeface="Calibri" pitchFamily="34" charset="-122"/>
                <a:cs typeface="Calibri" pitchFamily="34" charset="-120"/>
              </a:rPr>
              <a:t>From hand-written rules to learned rules · Definitions that survive scrutiny · Types of learning · The ML pipeline · Where it is already running in Kenya</a:t>
            </a:r>
            <a:endParaRPr lang="en-US" sz="1400" dirty="0"/>
          </a:p>
        </p:txBody>
      </p:sp>
      <p:sp>
        <p:nvSpPr>
          <p:cNvPr id="7" name="Text 4"/>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8FAE99"/>
                </a:solidFill>
                <a:latin typeface="Calibri" pitchFamily="34" charset="0"/>
                <a:ea typeface="Calibri" pitchFamily="34" charset="-122"/>
                <a:cs typeface="Calibri" pitchFamily="34" charset="-120"/>
              </a:rPr>
              <a:t>6</a:t>
            </a:r>
            <a:endParaRPr lang="en-US" sz="900" dirty="0"/>
          </a:p>
        </p:txBody>
      </p:sp>
      <p:pic>
        <p:nvPicPr>
          <p:cNvPr id="8" name="Picture 7"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BEFORE 10 A.M.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You Have Already Used Six ML Systems Today</a:t>
            </a:r>
            <a:endParaRPr lang="en-US" sz="3000" dirty="0"/>
          </a:p>
        </p:txBody>
      </p:sp>
      <p:sp>
        <p:nvSpPr>
          <p:cNvPr id="4" name="Shape 2"/>
          <p:cNvSpPr/>
          <p:nvPr/>
        </p:nvSpPr>
        <p:spPr>
          <a:xfrm>
            <a:off x="548640" y="160020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41248" y="1874520"/>
            <a:ext cx="603504" cy="603504"/>
          </a:xfrm>
          <a:prstGeom prst="ellipse">
            <a:avLst/>
          </a:prstGeom>
          <a:solidFill>
            <a:srgbClr val="0F6B3C"/>
          </a:solidFill>
          <a:ln w="12700">
            <a:solidFill>
              <a:srgbClr val="0F6B3C"/>
            </a:solidFill>
            <a:prstDash val="solid"/>
          </a:ln>
        </p:spPr>
      </p:sp>
      <p:pic>
        <p:nvPicPr>
          <p:cNvPr id="6" name="Image 0" descr="preencoded.png">    </p:cNvPr>
          <p:cNvPicPr>
            <a:picLocks noChangeAspect="1"/>
          </p:cNvPicPr>
          <p:nvPr/>
        </p:nvPicPr>
        <p:blipFill>
          <a:blip r:embed="rId1"/>
          <a:stretch>
            <a:fillRect/>
          </a:stretch>
        </p:blipFill>
        <p:spPr>
          <a:xfrm>
            <a:off x="967984" y="2001256"/>
            <a:ext cx="350032" cy="350032"/>
          </a:xfrm>
          <a:prstGeom prst="rect">
            <a:avLst/>
          </a:prstGeom>
        </p:spPr>
      </p:pic>
      <p:sp>
        <p:nvSpPr>
          <p:cNvPr id="7" name="Text 4"/>
          <p:cNvSpPr txBox="1"/>
          <p:nvPr/>
        </p:nvSpPr>
        <p:spPr>
          <a:xfrm>
            <a:off x="841248" y="2560320"/>
            <a:ext cx="3017520" cy="41148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Face or fingerprint unlock</a:t>
            </a:r>
            <a:endParaRPr lang="en-US" sz="1500" dirty="0"/>
          </a:p>
        </p:txBody>
      </p:sp>
      <p:sp>
        <p:nvSpPr>
          <p:cNvPr id="8" name="Text 5"/>
          <p:cNvSpPr txBox="1"/>
          <p:nvPr/>
        </p:nvSpPr>
        <p:spPr>
          <a:xfrm>
            <a:off x="841248" y="2990088"/>
            <a:ext cx="3035808" cy="6858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 model decides "is this the owner?" in under 200 ms, on-device.</a:t>
            </a:r>
            <a:endParaRPr lang="en-US" sz="1150" dirty="0"/>
          </a:p>
        </p:txBody>
      </p:sp>
      <p:sp>
        <p:nvSpPr>
          <p:cNvPr id="9" name="Shape 6"/>
          <p:cNvSpPr/>
          <p:nvPr/>
        </p:nvSpPr>
        <p:spPr>
          <a:xfrm>
            <a:off x="4297680" y="160020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4590288" y="1874520"/>
            <a:ext cx="603504" cy="603504"/>
          </a:xfrm>
          <a:prstGeom prst="ellipse">
            <a:avLst/>
          </a:prstGeom>
          <a:solidFill>
            <a:srgbClr val="0E7C61"/>
          </a:solidFill>
          <a:ln w="12700">
            <a:solidFill>
              <a:srgbClr val="0E7C61"/>
            </a:solidFill>
            <a:prstDash val="solid"/>
          </a:ln>
        </p:spPr>
      </p:sp>
      <p:pic>
        <p:nvPicPr>
          <p:cNvPr id="11" name="Image 1" descr="preencoded.png">    </p:cNvPr>
          <p:cNvPicPr>
            <a:picLocks noChangeAspect="1"/>
          </p:cNvPicPr>
          <p:nvPr/>
        </p:nvPicPr>
        <p:blipFill>
          <a:blip r:embed="rId2"/>
          <a:stretch>
            <a:fillRect/>
          </a:stretch>
        </p:blipFill>
        <p:spPr>
          <a:xfrm>
            <a:off x="4717024" y="2001256"/>
            <a:ext cx="350032" cy="350032"/>
          </a:xfrm>
          <a:prstGeom prst="rect">
            <a:avLst/>
          </a:prstGeom>
        </p:spPr>
      </p:pic>
      <p:sp>
        <p:nvSpPr>
          <p:cNvPr id="12" name="Text 8"/>
          <p:cNvSpPr txBox="1"/>
          <p:nvPr/>
        </p:nvSpPr>
        <p:spPr>
          <a:xfrm>
            <a:off x="4590288" y="2560320"/>
            <a:ext cx="3017520" cy="41148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M-Pesa fraud checks</a:t>
            </a:r>
            <a:endParaRPr lang="en-US" sz="1500" dirty="0"/>
          </a:p>
        </p:txBody>
      </p:sp>
      <p:sp>
        <p:nvSpPr>
          <p:cNvPr id="13" name="Text 9"/>
          <p:cNvSpPr txBox="1"/>
          <p:nvPr/>
        </p:nvSpPr>
        <p:spPr>
          <a:xfrm>
            <a:off x="4590288" y="2990088"/>
            <a:ext cx="3035808" cy="6858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Every transaction is scored against your normal spending pattern before it clears.</a:t>
            </a:r>
            <a:endParaRPr lang="en-US" sz="1150" dirty="0"/>
          </a:p>
        </p:txBody>
      </p:sp>
      <p:sp>
        <p:nvSpPr>
          <p:cNvPr id="14" name="Shape 10"/>
          <p:cNvSpPr/>
          <p:nvPr/>
        </p:nvSpPr>
        <p:spPr>
          <a:xfrm>
            <a:off x="8046720" y="160020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8339328" y="1874520"/>
            <a:ext cx="603504" cy="603504"/>
          </a:xfrm>
          <a:prstGeom prst="ellipse">
            <a:avLst/>
          </a:prstGeom>
          <a:solidFill>
            <a:srgbClr val="9C3B2E"/>
          </a:solidFill>
          <a:ln w="12700">
            <a:solidFill>
              <a:srgbClr val="9C3B2E"/>
            </a:solidFill>
            <a:prstDash val="solid"/>
          </a:ln>
        </p:spPr>
      </p:sp>
      <p:pic>
        <p:nvPicPr>
          <p:cNvPr id="16" name="Image 2" descr="preencoded.png">    </p:cNvPr>
          <p:cNvPicPr>
            <a:picLocks noChangeAspect="1"/>
          </p:cNvPicPr>
          <p:nvPr/>
        </p:nvPicPr>
        <p:blipFill>
          <a:blip r:embed="rId3"/>
          <a:stretch>
            <a:fillRect/>
          </a:stretch>
        </p:blipFill>
        <p:spPr>
          <a:xfrm>
            <a:off x="8466064" y="2001256"/>
            <a:ext cx="350032" cy="350032"/>
          </a:xfrm>
          <a:prstGeom prst="rect">
            <a:avLst/>
          </a:prstGeom>
        </p:spPr>
      </p:pic>
      <p:sp>
        <p:nvSpPr>
          <p:cNvPr id="17" name="Text 12"/>
          <p:cNvSpPr txBox="1"/>
          <p:nvPr/>
        </p:nvSpPr>
        <p:spPr>
          <a:xfrm>
            <a:off x="8339328" y="2560320"/>
            <a:ext cx="3017520" cy="41148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YouTube / TikTok feed</a:t>
            </a:r>
            <a:endParaRPr lang="en-US" sz="1500" dirty="0"/>
          </a:p>
        </p:txBody>
      </p:sp>
      <p:sp>
        <p:nvSpPr>
          <p:cNvPr id="18" name="Text 13"/>
          <p:cNvSpPr txBox="1"/>
          <p:nvPr/>
        </p:nvSpPr>
        <p:spPr>
          <a:xfrm>
            <a:off x="8339328" y="2990088"/>
            <a:ext cx="3035808" cy="6858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 ranking model predicts, per video, how long you will watch it.</a:t>
            </a:r>
            <a:endParaRPr lang="en-US" sz="1150" dirty="0"/>
          </a:p>
        </p:txBody>
      </p:sp>
      <p:sp>
        <p:nvSpPr>
          <p:cNvPr id="19" name="Shape 14"/>
          <p:cNvSpPr/>
          <p:nvPr/>
        </p:nvSpPr>
        <p:spPr>
          <a:xfrm>
            <a:off x="548640" y="397764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5"/>
          <p:cNvSpPr/>
          <p:nvPr/>
        </p:nvSpPr>
        <p:spPr>
          <a:xfrm>
            <a:off x="841248" y="4251960"/>
            <a:ext cx="603504" cy="603504"/>
          </a:xfrm>
          <a:prstGeom prst="ellipse">
            <a:avLst/>
          </a:prstGeom>
          <a:solidFill>
            <a:srgbClr val="C9A227"/>
          </a:solidFill>
          <a:ln w="12700">
            <a:solidFill>
              <a:srgbClr val="C9A227"/>
            </a:solidFill>
            <a:prstDash val="solid"/>
          </a:ln>
        </p:spPr>
      </p:sp>
      <p:pic>
        <p:nvPicPr>
          <p:cNvPr id="21" name="Image 3" descr="preencoded.png">    </p:cNvPr>
          <p:cNvPicPr>
            <a:picLocks noChangeAspect="1"/>
          </p:cNvPicPr>
          <p:nvPr/>
        </p:nvPicPr>
        <p:blipFill>
          <a:blip r:embed="rId4"/>
          <a:stretch>
            <a:fillRect/>
          </a:stretch>
        </p:blipFill>
        <p:spPr>
          <a:xfrm>
            <a:off x="967984" y="4378696"/>
            <a:ext cx="350032" cy="350032"/>
          </a:xfrm>
          <a:prstGeom prst="rect">
            <a:avLst/>
          </a:prstGeom>
        </p:spPr>
      </p:pic>
      <p:sp>
        <p:nvSpPr>
          <p:cNvPr id="22" name="Text 16"/>
          <p:cNvSpPr txBox="1"/>
          <p:nvPr/>
        </p:nvSpPr>
        <p:spPr>
          <a:xfrm>
            <a:off x="841248" y="4937760"/>
            <a:ext cx="3017520" cy="41148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Google Maps on Thika Road</a:t>
            </a:r>
            <a:endParaRPr lang="en-US" sz="1500" dirty="0"/>
          </a:p>
        </p:txBody>
      </p:sp>
      <p:sp>
        <p:nvSpPr>
          <p:cNvPr id="23" name="Text 17"/>
          <p:cNvSpPr txBox="1"/>
          <p:nvPr/>
        </p:nvSpPr>
        <p:spPr>
          <a:xfrm>
            <a:off x="841248" y="5367528"/>
            <a:ext cx="3035808" cy="6858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Traffic speed is predicted from anonymised phone GPS traces.</a:t>
            </a:r>
            <a:endParaRPr lang="en-US" sz="1150" dirty="0"/>
          </a:p>
        </p:txBody>
      </p:sp>
      <p:sp>
        <p:nvSpPr>
          <p:cNvPr id="24" name="Shape 18"/>
          <p:cNvSpPr/>
          <p:nvPr/>
        </p:nvSpPr>
        <p:spPr>
          <a:xfrm>
            <a:off x="4297680" y="397764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19"/>
          <p:cNvSpPr/>
          <p:nvPr/>
        </p:nvSpPr>
        <p:spPr>
          <a:xfrm>
            <a:off x="4590288" y="4251960"/>
            <a:ext cx="603504" cy="603504"/>
          </a:xfrm>
          <a:prstGeom prst="ellipse">
            <a:avLst/>
          </a:prstGeom>
          <a:solidFill>
            <a:srgbClr val="1E8449"/>
          </a:solidFill>
          <a:ln w="12700">
            <a:solidFill>
              <a:srgbClr val="1E8449"/>
            </a:solidFill>
            <a:prstDash val="solid"/>
          </a:ln>
        </p:spPr>
      </p:sp>
      <p:pic>
        <p:nvPicPr>
          <p:cNvPr id="26" name="Image 4" descr="preencoded.png">    </p:cNvPr>
          <p:cNvPicPr>
            <a:picLocks noChangeAspect="1"/>
          </p:cNvPicPr>
          <p:nvPr/>
        </p:nvPicPr>
        <p:blipFill>
          <a:blip r:embed="rId5"/>
          <a:stretch>
            <a:fillRect/>
          </a:stretch>
        </p:blipFill>
        <p:spPr>
          <a:xfrm>
            <a:off x="4717024" y="4378696"/>
            <a:ext cx="350032" cy="350032"/>
          </a:xfrm>
          <a:prstGeom prst="rect">
            <a:avLst/>
          </a:prstGeom>
        </p:spPr>
      </p:pic>
      <p:sp>
        <p:nvSpPr>
          <p:cNvPr id="27" name="Text 20"/>
          <p:cNvSpPr txBox="1"/>
          <p:nvPr/>
        </p:nvSpPr>
        <p:spPr>
          <a:xfrm>
            <a:off x="4590288" y="4937760"/>
            <a:ext cx="3017520" cy="41148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Gmail spam filter</a:t>
            </a:r>
            <a:endParaRPr lang="en-US" sz="1500" dirty="0"/>
          </a:p>
        </p:txBody>
      </p:sp>
      <p:sp>
        <p:nvSpPr>
          <p:cNvPr id="28" name="Text 21"/>
          <p:cNvSpPr txBox="1"/>
          <p:nvPr/>
        </p:nvSpPr>
        <p:spPr>
          <a:xfrm>
            <a:off x="4590288" y="5367528"/>
            <a:ext cx="3035808" cy="6858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Roughly 99.9% of spam removed before you ever see it.</a:t>
            </a:r>
            <a:endParaRPr lang="en-US" sz="1150" dirty="0"/>
          </a:p>
        </p:txBody>
      </p:sp>
      <p:sp>
        <p:nvSpPr>
          <p:cNvPr id="29" name="Shape 22"/>
          <p:cNvSpPr/>
          <p:nvPr/>
        </p:nvSpPr>
        <p:spPr>
          <a:xfrm>
            <a:off x="8046720" y="397764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0" name="Shape 23"/>
          <p:cNvSpPr/>
          <p:nvPr/>
        </p:nvSpPr>
        <p:spPr>
          <a:xfrm>
            <a:off x="8339328" y="4251960"/>
            <a:ext cx="603504" cy="603504"/>
          </a:xfrm>
          <a:prstGeom prst="ellipse">
            <a:avLst/>
          </a:prstGeom>
          <a:solidFill>
            <a:srgbClr val="0E7C61"/>
          </a:solidFill>
          <a:ln w="12700">
            <a:solidFill>
              <a:srgbClr val="0E7C61"/>
            </a:solidFill>
            <a:prstDash val="solid"/>
          </a:ln>
        </p:spPr>
      </p:sp>
      <p:pic>
        <p:nvPicPr>
          <p:cNvPr id="31" name="Image 5" descr="preencoded.png">    </p:cNvPr>
          <p:cNvPicPr>
            <a:picLocks noChangeAspect="1"/>
          </p:cNvPicPr>
          <p:nvPr/>
        </p:nvPicPr>
        <p:blipFill>
          <a:blip r:embed="rId6"/>
          <a:stretch>
            <a:fillRect/>
          </a:stretch>
        </p:blipFill>
        <p:spPr>
          <a:xfrm>
            <a:off x="8466064" y="4378696"/>
            <a:ext cx="350032" cy="350032"/>
          </a:xfrm>
          <a:prstGeom prst="rect">
            <a:avLst/>
          </a:prstGeom>
        </p:spPr>
      </p:pic>
      <p:sp>
        <p:nvSpPr>
          <p:cNvPr id="32" name="Text 24"/>
          <p:cNvSpPr txBox="1"/>
          <p:nvPr/>
        </p:nvSpPr>
        <p:spPr>
          <a:xfrm>
            <a:off x="8339328" y="4937760"/>
            <a:ext cx="3017520" cy="41148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Autocomplete &amp; translation</a:t>
            </a:r>
            <a:endParaRPr lang="en-US" sz="1500" dirty="0"/>
          </a:p>
        </p:txBody>
      </p:sp>
      <p:sp>
        <p:nvSpPr>
          <p:cNvPr id="33" name="Text 25"/>
          <p:cNvSpPr txBox="1"/>
          <p:nvPr/>
        </p:nvSpPr>
        <p:spPr>
          <a:xfrm>
            <a:off x="8339328" y="5367528"/>
            <a:ext cx="3035808" cy="6858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Your keyboard predicts the next word; the same idea scaled up gives ChatGPT.</a:t>
            </a:r>
            <a:endParaRPr lang="en-US" sz="1150" dirty="0"/>
          </a:p>
        </p:txBody>
      </p:sp>
      <p:sp>
        <p:nvSpPr>
          <p:cNvPr id="35" name="Text 26"/>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6" name="Text 27"/>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7</a:t>
            </a:r>
            <a:endParaRPr lang="en-US" sz="900" dirty="0"/>
          </a:p>
        </p:txBody>
      </p:sp>
      <p:pic>
        <p:nvPicPr>
          <p:cNvPr id="37" name="Picture 36" descr="must_logo.png"/>
          <p:cNvPicPr>
            <a:picLocks noChangeAspect="1"/>
          </p:cNvPicPr>
          <p:nvPr/>
        </p:nvPicPr>
        <p:blipFill>
          <a:blip r:embed="rId9"/>
          <a:stretch>
            <a:fillRect/>
          </a:stretch>
        </p:blipFill>
        <p:spPr>
          <a:xfrm>
            <a:off x="11016642" y="274320"/>
            <a:ext cx="699565" cy="6583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MOTIVATING PROBLEM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Try To Write The Rules Yourself</a:t>
            </a:r>
            <a:endParaRPr lang="en-US" sz="3000" dirty="0"/>
          </a:p>
        </p:txBody>
      </p:sp>
      <p:sp>
        <p:nvSpPr>
          <p:cNvPr id="4" name="Text 2"/>
          <p:cNvSpPr txBox="1"/>
          <p:nvPr/>
        </p:nvSpPr>
        <p:spPr>
          <a:xfrm>
            <a:off x="548640" y="1508760"/>
            <a:ext cx="11064240" cy="365760"/>
          </a:xfrm>
          <a:prstGeom prst="rect">
            <a:avLst/>
          </a:prstGeom>
          <a:noFill/>
          <a:ln/>
        </p:spPr>
        <p:txBody>
          <a:bodyPr wrap="square" lIns="0" tIns="0" rIns="0" bIns="0" rtlCol="0" anchor="t"/>
          <a:lstStyle/>
          <a:p>
            <a:pPr indent="0" marL="0">
              <a:lnSpc>
                <a:spcPts val="2000"/>
              </a:lnSpc>
              <a:buNone/>
            </a:pPr>
            <a:r>
              <a:rPr lang="en-US" sz="1500" b="1" dirty="0">
                <a:solidFill>
                  <a:srgbClr val="0F6B3C"/>
                </a:solidFill>
                <a:latin typeface="Calibri" pitchFamily="34" charset="0"/>
                <a:ea typeface="Calibri" pitchFamily="34" charset="-122"/>
                <a:cs typeface="Calibri" pitchFamily="34" charset="-120"/>
              </a:rPr>
              <a:t>Task: write a program that flags a text message as fraudulent ("Congratulations! You have won Ksh 500,000...").</a:t>
            </a:r>
            <a:endParaRPr lang="en-US" sz="1500" dirty="0"/>
          </a:p>
        </p:txBody>
      </p:sp>
      <p:sp>
        <p:nvSpPr>
          <p:cNvPr id="5" name="Shape 3"/>
          <p:cNvSpPr/>
          <p:nvPr/>
        </p:nvSpPr>
        <p:spPr>
          <a:xfrm>
            <a:off x="548640" y="2011680"/>
            <a:ext cx="5394960" cy="3794760"/>
          </a:xfrm>
          <a:prstGeom prst="roundRect">
            <a:avLst>
              <a:gd name="adj" fmla="val 289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 name="Text 4"/>
          <p:cNvSpPr txBox="1"/>
          <p:nvPr/>
        </p:nvSpPr>
        <p:spPr>
          <a:xfrm>
            <a:off x="868680" y="2240280"/>
            <a:ext cx="475488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Attempt 1: hand-written rules</a:t>
            </a:r>
            <a:endParaRPr lang="en-US" sz="1600" dirty="0"/>
          </a:p>
        </p:txBody>
      </p:sp>
      <p:sp>
        <p:nvSpPr>
          <p:cNvPr id="7" name="Text 5"/>
          <p:cNvSpPr txBox="1"/>
          <p:nvPr/>
        </p:nvSpPr>
        <p:spPr>
          <a:xfrm>
            <a:off x="868680" y="2651760"/>
            <a:ext cx="4754880" cy="1737360"/>
          </a:xfrm>
          <a:prstGeom prst="rect">
            <a:avLst/>
          </a:prstGeom>
          <a:noFill/>
          <a:ln/>
        </p:spPr>
        <p:txBody>
          <a:bodyPr wrap="square" lIns="0" tIns="0" rIns="0" bIns="0" rtlCol="0" anchor="ctr"/>
          <a:lstStyle/>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if "congratulations" in msg:</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    flag()</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if "you have won" in msg:</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    flag()</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if sender not in contacts and \</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   "MPESA" in msg.upper():</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    flag()</a:t>
            </a:r>
            <a:endParaRPr lang="en-US" sz="1200" dirty="0"/>
          </a:p>
          <a:p>
            <a:pPr indent="0" marL="0">
              <a:lnSpc>
                <a:spcPts val="1700"/>
              </a:lnSpc>
              <a:buNone/>
            </a:pPr>
            <a:r>
              <a:rPr lang="en-US" sz="1200" dirty="0">
                <a:solidFill>
                  <a:srgbClr val="1E8449"/>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868680" y="4434840"/>
            <a:ext cx="4754880" cy="1234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9C3B2E"/>
                </a:solidFill>
                <a:latin typeface="Calibri" pitchFamily="34" charset="0"/>
                <a:ea typeface="Calibri" pitchFamily="34" charset="-122"/>
                <a:cs typeface="Calibri" pitchFamily="34" charset="-120"/>
              </a:rPr>
              <a:t>Fraudsters change one word: "Congratulation$"</a:t>
            </a:r>
            <a:endParaRPr lang="en-US" sz="1250" dirty="0"/>
          </a:p>
          <a:p>
            <a:pPr marL="342900" indent="-342900">
              <a:spcAft>
                <a:spcPts val="500"/>
              </a:spcAft>
              <a:buSzPct val="100000"/>
              <a:buChar char="•"/>
            </a:pPr>
            <a:r>
              <a:rPr lang="en-US" sz="1250" dirty="0">
                <a:solidFill>
                  <a:srgbClr val="9C3B2E"/>
                </a:solidFill>
                <a:latin typeface="Calibri" pitchFamily="34" charset="0"/>
                <a:ea typeface="Calibri" pitchFamily="34" charset="-122"/>
                <a:cs typeface="Calibri" pitchFamily="34" charset="-120"/>
              </a:rPr>
              <a:t>Rules conflict; nobody dares delete an old one</a:t>
            </a:r>
            <a:endParaRPr lang="en-US" sz="1250" dirty="0"/>
          </a:p>
          <a:p>
            <a:pPr marL="342900" indent="-342900">
              <a:spcAft>
                <a:spcPts val="500"/>
              </a:spcAft>
              <a:buSzPct val="100000"/>
              <a:buChar char="•"/>
            </a:pPr>
            <a:r>
              <a:rPr lang="en-US" sz="1250" dirty="0">
                <a:solidFill>
                  <a:srgbClr val="9C3B2E"/>
                </a:solidFill>
                <a:latin typeface="Calibri" pitchFamily="34" charset="0"/>
                <a:ea typeface="Calibri" pitchFamily="34" charset="-122"/>
                <a:cs typeface="Calibri" pitchFamily="34" charset="-120"/>
              </a:rPr>
              <a:t>2,000 rules later, no one understands the system</a:t>
            </a:r>
            <a:endParaRPr lang="en-US" sz="1250" dirty="0"/>
          </a:p>
          <a:p>
            <a:pPr marL="342900" indent="-342900">
              <a:spcAft>
                <a:spcPts val="500"/>
              </a:spcAft>
              <a:buSzPct val="100000"/>
              <a:buChar char="•"/>
            </a:pPr>
            <a:r>
              <a:rPr lang="en-US" sz="1250" dirty="0">
                <a:solidFill>
                  <a:srgbClr val="9C3B2E"/>
                </a:solidFill>
                <a:latin typeface="Calibri" pitchFamily="34" charset="0"/>
                <a:ea typeface="Calibri" pitchFamily="34" charset="-122"/>
                <a:cs typeface="Calibri" pitchFamily="34" charset="-120"/>
              </a:rPr>
              <a:t>A new scam type needs a new developer, not new data</a:t>
            </a:r>
            <a:endParaRPr lang="en-US" sz="1250" dirty="0"/>
          </a:p>
        </p:txBody>
      </p:sp>
      <p:sp>
        <p:nvSpPr>
          <p:cNvPr id="9" name="Shape 7"/>
          <p:cNvSpPr/>
          <p:nvPr/>
        </p:nvSpPr>
        <p:spPr>
          <a:xfrm>
            <a:off x="6217920" y="2011680"/>
            <a:ext cx="5394960" cy="3794760"/>
          </a:xfrm>
          <a:prstGeom prst="roundRect">
            <a:avLst>
              <a:gd name="adj" fmla="val 2892"/>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Text 8"/>
          <p:cNvSpPr txBox="1"/>
          <p:nvPr/>
        </p:nvSpPr>
        <p:spPr>
          <a:xfrm>
            <a:off x="6537960" y="2240280"/>
            <a:ext cx="4754880" cy="320040"/>
          </a:xfrm>
          <a:prstGeom prst="rect">
            <a:avLst/>
          </a:prstGeom>
          <a:noFill/>
          <a:ln/>
        </p:spPr>
        <p:txBody>
          <a:bodyPr wrap="square" lIns="0" tIns="0" rIns="0" bIns="0" rtlCol="0" anchor="ctr"/>
          <a:lstStyle/>
          <a:p>
            <a:pPr indent="0" marL="0">
              <a:buNone/>
            </a:pPr>
            <a:r>
              <a:rPr lang="en-US" sz="1600" b="1" dirty="0">
                <a:solidFill>
                  <a:srgbClr val="0E7C61"/>
                </a:solidFill>
                <a:latin typeface="Cambria" pitchFamily="34" charset="0"/>
                <a:ea typeface="Cambria" pitchFamily="34" charset="-122"/>
                <a:cs typeface="Cambria" pitchFamily="34" charset="-120"/>
              </a:rPr>
              <a:t>Attempt 2: learn the rules from data</a:t>
            </a:r>
            <a:endParaRPr lang="en-US" sz="1600" dirty="0"/>
          </a:p>
        </p:txBody>
      </p:sp>
      <p:sp>
        <p:nvSpPr>
          <p:cNvPr id="11" name="Text 9"/>
          <p:cNvSpPr txBox="1"/>
          <p:nvPr/>
        </p:nvSpPr>
        <p:spPr>
          <a:xfrm>
            <a:off x="6537960" y="2651760"/>
            <a:ext cx="4754880" cy="1737360"/>
          </a:xfrm>
          <a:prstGeom prst="rect">
            <a:avLst/>
          </a:prstGeom>
          <a:noFill/>
          <a:ln/>
        </p:spPr>
        <p:txBody>
          <a:bodyPr wrap="square" lIns="0" tIns="0" rIns="0" bIns="0" rtlCol="0" anchor="ctr"/>
          <a:lstStyle/>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Show the computer 50,000 messages</a:t>
            </a:r>
            <a:endParaRPr lang="en-US" sz="1350" dirty="0"/>
          </a:p>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already labelled  spam  /  not spam.</a:t>
            </a:r>
            <a:endParaRPr lang="en-US" sz="1350" dirty="0"/>
          </a:p>
          <a:p>
            <a:pPr indent="0" marL="0">
              <a:lnSpc>
                <a:spcPts val="1900"/>
              </a:lnSpc>
              <a:buNone/>
            </a:pPr>
            <a:endParaRPr lang="en-US" sz="1350" dirty="0"/>
          </a:p>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Let it discover, on its own, which</a:t>
            </a:r>
            <a:endParaRPr lang="en-US" sz="1350" dirty="0"/>
          </a:p>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word patterns, sender types and</a:t>
            </a:r>
            <a:endParaRPr lang="en-US" sz="1350" dirty="0"/>
          </a:p>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timing signals separate the two.</a:t>
            </a:r>
            <a:endParaRPr lang="en-US" sz="1350" dirty="0"/>
          </a:p>
        </p:txBody>
      </p:sp>
      <p:sp>
        <p:nvSpPr>
          <p:cNvPr id="12" name="Text 10"/>
          <p:cNvSpPr txBox="1"/>
          <p:nvPr/>
        </p:nvSpPr>
        <p:spPr>
          <a:xfrm>
            <a:off x="6537960" y="4434840"/>
            <a:ext cx="4754880" cy="1234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0E7C61"/>
                </a:solidFill>
                <a:latin typeface="Calibri" pitchFamily="34" charset="0"/>
                <a:ea typeface="Calibri" pitchFamily="34" charset="-122"/>
                <a:cs typeface="Calibri" pitchFamily="34" charset="-120"/>
              </a:rPr>
              <a:t>New scam wording? Add examples, retrain.</a:t>
            </a:r>
            <a:endParaRPr lang="en-US" sz="1250" dirty="0"/>
          </a:p>
          <a:p>
            <a:pPr marL="342900" indent="-342900">
              <a:spcAft>
                <a:spcPts val="500"/>
              </a:spcAft>
              <a:buSzPct val="100000"/>
              <a:buChar char="•"/>
            </a:pPr>
            <a:r>
              <a:rPr lang="en-US" sz="1250" dirty="0">
                <a:solidFill>
                  <a:srgbClr val="0E7C61"/>
                </a:solidFill>
                <a:latin typeface="Calibri" pitchFamily="34" charset="0"/>
                <a:ea typeface="Calibri" pitchFamily="34" charset="-122"/>
                <a:cs typeface="Calibri" pitchFamily="34" charset="-120"/>
              </a:rPr>
              <a:t>The rules become numbers the model tunes itself</a:t>
            </a:r>
            <a:endParaRPr lang="en-US" sz="1250" dirty="0"/>
          </a:p>
          <a:p>
            <a:pPr marL="342900" indent="-342900">
              <a:spcAft>
                <a:spcPts val="500"/>
              </a:spcAft>
              <a:buSzPct val="100000"/>
              <a:buChar char="•"/>
            </a:pPr>
            <a:r>
              <a:rPr lang="en-US" sz="1250" dirty="0">
                <a:solidFill>
                  <a:srgbClr val="0E7C61"/>
                </a:solidFill>
                <a:latin typeface="Calibri" pitchFamily="34" charset="0"/>
                <a:ea typeface="Calibri" pitchFamily="34" charset="-122"/>
                <a:cs typeface="Calibri" pitchFamily="34" charset="-120"/>
              </a:rPr>
              <a:t>Improves as data grows, without new code</a:t>
            </a:r>
            <a:endParaRPr lang="en-US" sz="1250" dirty="0"/>
          </a:p>
          <a:p>
            <a:pPr marL="342900" indent="-342900">
              <a:spcAft>
                <a:spcPts val="500"/>
              </a:spcAft>
              <a:buSzPct val="100000"/>
              <a:buChar char="•"/>
            </a:pPr>
            <a:r>
              <a:rPr lang="en-US" sz="1250" dirty="0">
                <a:solidFill>
                  <a:srgbClr val="0E7C61"/>
                </a:solidFill>
                <a:latin typeface="Calibri" pitchFamily="34" charset="0"/>
                <a:ea typeface="Calibri" pitchFamily="34" charset="-122"/>
                <a:cs typeface="Calibri" pitchFamily="34" charset="-120"/>
              </a:rPr>
              <a:t>Cost moves from programmers to data</a:t>
            </a:r>
            <a:endParaRPr lang="en-US" sz="1250" dirty="0"/>
          </a:p>
        </p:txBody>
      </p:sp>
      <p:sp>
        <p:nvSpPr>
          <p:cNvPr id="14" name="Text 11"/>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5" name="Text 12"/>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8</a:t>
            </a:r>
            <a:endParaRPr lang="en-US" sz="900" dirty="0"/>
          </a:p>
        </p:txBody>
      </p:sp>
      <p:pic>
        <p:nvPicPr>
          <p:cNvPr id="16" name="Picture 15"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TRADITIONAL PROGRAMMING VS MACHINE LEARNING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Arrow Points The Other Way</a:t>
            </a:r>
            <a:endParaRPr lang="en-US" sz="3000" dirty="0"/>
          </a:p>
        </p:txBody>
      </p:sp>
      <p:sp>
        <p:nvSpPr>
          <p:cNvPr id="4" name="Text 2"/>
          <p:cNvSpPr txBox="1"/>
          <p:nvPr/>
        </p:nvSpPr>
        <p:spPr>
          <a:xfrm>
            <a:off x="548640" y="1463040"/>
            <a:ext cx="5394960" cy="274320"/>
          </a:xfrm>
          <a:prstGeom prst="rect">
            <a:avLst/>
          </a:prstGeom>
          <a:noFill/>
          <a:ln/>
        </p:spPr>
        <p:txBody>
          <a:bodyPr wrap="square" lIns="0" tIns="0" rIns="0" bIns="0" rtlCol="0" anchor="ctr"/>
          <a:lstStyle/>
          <a:p>
            <a:pPr indent="0" marL="0">
              <a:buNone/>
            </a:pPr>
            <a:r>
              <a:rPr lang="en-US" sz="1100" b="1" spc="150" kern="0" dirty="0">
                <a:solidFill>
                  <a:srgbClr val="5C6B60"/>
                </a:solidFill>
                <a:latin typeface="Calibri" pitchFamily="34" charset="0"/>
                <a:ea typeface="Calibri" pitchFamily="34" charset="-122"/>
                <a:cs typeface="Calibri" pitchFamily="34" charset="-120"/>
              </a:rPr>
              <a:t>TRADITIONAL PROGRAMMING</a:t>
            </a:r>
            <a:endParaRPr lang="en-US" sz="1100" dirty="0"/>
          </a:p>
        </p:txBody>
      </p:sp>
      <p:sp>
        <p:nvSpPr>
          <p:cNvPr id="5" name="Shape 3"/>
          <p:cNvSpPr/>
          <p:nvPr/>
        </p:nvSpPr>
        <p:spPr>
          <a:xfrm>
            <a:off x="685800" y="1810512"/>
            <a:ext cx="2148840" cy="658368"/>
          </a:xfrm>
          <a:prstGeom prst="roundRect">
            <a:avLst>
              <a:gd name="adj" fmla="val 13889"/>
            </a:avLst>
          </a:prstGeom>
          <a:solidFill>
            <a:srgbClr val="F2F6F2"/>
          </a:solidFill>
          <a:ln w="15240">
            <a:solidFill>
              <a:srgbClr val="D9E3DB"/>
            </a:solidFill>
            <a:prstDash val="solid"/>
          </a:ln>
        </p:spPr>
      </p:sp>
      <p:sp>
        <p:nvSpPr>
          <p:cNvPr id="6" name="Text 4"/>
          <p:cNvSpPr txBox="1"/>
          <p:nvPr/>
        </p:nvSpPr>
        <p:spPr>
          <a:xfrm>
            <a:off x="685800" y="1810512"/>
            <a:ext cx="2148840" cy="65836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Data</a:t>
            </a:r>
            <a:endParaRPr lang="en-US" sz="1300" dirty="0"/>
          </a:p>
        </p:txBody>
      </p:sp>
      <p:sp>
        <p:nvSpPr>
          <p:cNvPr id="7" name="Shape 5"/>
          <p:cNvSpPr/>
          <p:nvPr/>
        </p:nvSpPr>
        <p:spPr>
          <a:xfrm>
            <a:off x="685800" y="2679192"/>
            <a:ext cx="2148840" cy="658368"/>
          </a:xfrm>
          <a:prstGeom prst="roundRect">
            <a:avLst>
              <a:gd name="adj" fmla="val 13889"/>
            </a:avLst>
          </a:prstGeom>
          <a:solidFill>
            <a:srgbClr val="FBF3DC"/>
          </a:solidFill>
          <a:ln w="15240">
            <a:solidFill>
              <a:srgbClr val="C9A227"/>
            </a:solidFill>
            <a:prstDash val="solid"/>
          </a:ln>
        </p:spPr>
      </p:sp>
      <p:sp>
        <p:nvSpPr>
          <p:cNvPr id="8" name="Text 6"/>
          <p:cNvSpPr txBox="1"/>
          <p:nvPr/>
        </p:nvSpPr>
        <p:spPr>
          <a:xfrm>
            <a:off x="685800" y="2679192"/>
            <a:ext cx="2148840" cy="65836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Rules (code)</a:t>
            </a:r>
            <a:endParaRPr lang="en-US" sz="1300" dirty="0"/>
          </a:p>
        </p:txBody>
      </p:sp>
      <p:sp>
        <p:nvSpPr>
          <p:cNvPr id="9" name="Shape 7"/>
          <p:cNvSpPr/>
          <p:nvPr/>
        </p:nvSpPr>
        <p:spPr>
          <a:xfrm>
            <a:off x="2834640" y="2139696"/>
            <a:ext cx="457200" cy="18288"/>
          </a:xfrm>
          <a:prstGeom prst="rect">
            <a:avLst/>
          </a:prstGeom>
          <a:solidFill>
            <a:srgbClr val="5C6B60"/>
          </a:solidFill>
          <a:ln w="12700">
            <a:solidFill>
              <a:srgbClr val="333333"/>
            </a:solidFill>
            <a:prstDash val="solid"/>
          </a:ln>
        </p:spPr>
      </p:sp>
      <p:sp>
        <p:nvSpPr>
          <p:cNvPr id="10" name="Shape 8"/>
          <p:cNvSpPr/>
          <p:nvPr/>
        </p:nvSpPr>
        <p:spPr>
          <a:xfrm>
            <a:off x="2834640" y="3008376"/>
            <a:ext cx="457200" cy="18288"/>
          </a:xfrm>
          <a:prstGeom prst="rect">
            <a:avLst/>
          </a:prstGeom>
          <a:solidFill>
            <a:srgbClr val="5C6B60"/>
          </a:solidFill>
          <a:ln w="12700">
            <a:solidFill>
              <a:srgbClr val="333333"/>
            </a:solidFill>
            <a:prstDash val="solid"/>
          </a:ln>
        </p:spPr>
      </p:sp>
      <p:sp>
        <p:nvSpPr>
          <p:cNvPr id="11" name="Shape 9"/>
          <p:cNvSpPr/>
          <p:nvPr/>
        </p:nvSpPr>
        <p:spPr>
          <a:xfrm>
            <a:off x="3291840" y="2148840"/>
            <a:ext cx="1371600" cy="914400"/>
          </a:xfrm>
          <a:prstGeom prst="roundRect">
            <a:avLst>
              <a:gd name="adj" fmla="val 10000"/>
            </a:avLst>
          </a:prstGeom>
          <a:solidFill>
            <a:srgbClr val="0F6B3C"/>
          </a:solidFill>
          <a:ln w="12700">
            <a:solidFill>
              <a:srgbClr val="333333"/>
            </a:solidFill>
            <a:prstDash val="solid"/>
          </a:ln>
        </p:spPr>
      </p:sp>
      <p:sp>
        <p:nvSpPr>
          <p:cNvPr id="12" name="Text 10"/>
          <p:cNvSpPr txBox="1"/>
          <p:nvPr/>
        </p:nvSpPr>
        <p:spPr>
          <a:xfrm>
            <a:off x="3291840" y="2148840"/>
            <a:ext cx="137160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Computer</a:t>
            </a:r>
            <a:endParaRPr lang="en-US" sz="1300" dirty="0"/>
          </a:p>
        </p:txBody>
      </p:sp>
      <p:sp>
        <p:nvSpPr>
          <p:cNvPr id="13" name="Shape 11"/>
          <p:cNvSpPr/>
          <p:nvPr/>
        </p:nvSpPr>
        <p:spPr>
          <a:xfrm>
            <a:off x="4663440" y="2606040"/>
            <a:ext cx="411480" cy="0"/>
          </a:xfrm>
          <a:prstGeom prst="line">
            <a:avLst/>
          </a:prstGeom>
          <a:noFill/>
          <a:ln w="19050">
            <a:solidFill>
              <a:srgbClr val="5C6B60"/>
            </a:solidFill>
            <a:prstDash val="solid"/>
            <a:tailEnd type="triangle"/>
          </a:ln>
        </p:spPr>
      </p:sp>
      <p:sp>
        <p:nvSpPr>
          <p:cNvPr id="14" name="Shape 12"/>
          <p:cNvSpPr/>
          <p:nvPr/>
        </p:nvSpPr>
        <p:spPr>
          <a:xfrm>
            <a:off x="5074920" y="2286000"/>
            <a:ext cx="1234440" cy="658368"/>
          </a:xfrm>
          <a:prstGeom prst="roundRect">
            <a:avLst>
              <a:gd name="adj" fmla="val 13889"/>
            </a:avLst>
          </a:prstGeom>
          <a:solidFill>
            <a:srgbClr val="E4F1EA"/>
          </a:solidFill>
          <a:ln w="15240">
            <a:solidFill>
              <a:srgbClr val="0E7C61"/>
            </a:solidFill>
            <a:prstDash val="solid"/>
          </a:ln>
        </p:spPr>
      </p:sp>
      <p:sp>
        <p:nvSpPr>
          <p:cNvPr id="15" name="Text 13"/>
          <p:cNvSpPr txBox="1"/>
          <p:nvPr/>
        </p:nvSpPr>
        <p:spPr>
          <a:xfrm>
            <a:off x="5074920" y="2286000"/>
            <a:ext cx="1234440" cy="658368"/>
          </a:xfrm>
          <a:prstGeom prst="rect">
            <a:avLst/>
          </a:prstGeom>
          <a:noFill/>
          <a:ln/>
        </p:spPr>
        <p:txBody>
          <a:bodyPr wrap="square" lIns="0" tIns="0" rIns="0" bIns="0" rtlCol="0" anchor="ctr"/>
          <a:lstStyle/>
          <a:p>
            <a:pPr algn="ctr" indent="0" marL="0">
              <a:buNone/>
            </a:pPr>
            <a:r>
              <a:rPr lang="en-US" sz="1250" b="1" dirty="0">
                <a:solidFill>
                  <a:srgbClr val="0E7C61"/>
                </a:solidFill>
                <a:latin typeface="Calibri" pitchFamily="34" charset="0"/>
                <a:ea typeface="Calibri" pitchFamily="34" charset="-122"/>
                <a:cs typeface="Calibri" pitchFamily="34" charset="-120"/>
              </a:rPr>
              <a:t>Answers</a:t>
            </a:r>
            <a:endParaRPr lang="en-US" sz="1250" dirty="0"/>
          </a:p>
        </p:txBody>
      </p:sp>
      <p:sp>
        <p:nvSpPr>
          <p:cNvPr id="16" name="Text 14"/>
          <p:cNvSpPr txBox="1"/>
          <p:nvPr/>
        </p:nvSpPr>
        <p:spPr>
          <a:xfrm>
            <a:off x="548640" y="3840480"/>
            <a:ext cx="539496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MACHINE LEARNING</a:t>
            </a:r>
            <a:endParaRPr lang="en-US" sz="1100" dirty="0"/>
          </a:p>
        </p:txBody>
      </p:sp>
      <p:sp>
        <p:nvSpPr>
          <p:cNvPr id="17" name="Shape 15"/>
          <p:cNvSpPr/>
          <p:nvPr/>
        </p:nvSpPr>
        <p:spPr>
          <a:xfrm>
            <a:off x="685800" y="4187952"/>
            <a:ext cx="2148840" cy="658368"/>
          </a:xfrm>
          <a:prstGeom prst="roundRect">
            <a:avLst>
              <a:gd name="adj" fmla="val 13889"/>
            </a:avLst>
          </a:prstGeom>
          <a:solidFill>
            <a:srgbClr val="F2F6F2"/>
          </a:solidFill>
          <a:ln w="15240">
            <a:solidFill>
              <a:srgbClr val="D9E3DB"/>
            </a:solidFill>
            <a:prstDash val="solid"/>
          </a:ln>
        </p:spPr>
      </p:sp>
      <p:sp>
        <p:nvSpPr>
          <p:cNvPr id="18" name="Text 16"/>
          <p:cNvSpPr txBox="1"/>
          <p:nvPr/>
        </p:nvSpPr>
        <p:spPr>
          <a:xfrm>
            <a:off x="685800" y="4187952"/>
            <a:ext cx="2148840" cy="65836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Data</a:t>
            </a:r>
            <a:endParaRPr lang="en-US" sz="1300" dirty="0"/>
          </a:p>
        </p:txBody>
      </p:sp>
      <p:sp>
        <p:nvSpPr>
          <p:cNvPr id="19" name="Shape 17"/>
          <p:cNvSpPr/>
          <p:nvPr/>
        </p:nvSpPr>
        <p:spPr>
          <a:xfrm>
            <a:off x="685800" y="5056632"/>
            <a:ext cx="2148840" cy="658368"/>
          </a:xfrm>
          <a:prstGeom prst="roundRect">
            <a:avLst>
              <a:gd name="adj" fmla="val 13889"/>
            </a:avLst>
          </a:prstGeom>
          <a:solidFill>
            <a:srgbClr val="E4F1EA"/>
          </a:solidFill>
          <a:ln w="15240">
            <a:solidFill>
              <a:srgbClr val="0E7C61"/>
            </a:solidFill>
            <a:prstDash val="solid"/>
          </a:ln>
        </p:spPr>
      </p:sp>
      <p:sp>
        <p:nvSpPr>
          <p:cNvPr id="20" name="Text 18"/>
          <p:cNvSpPr txBox="1"/>
          <p:nvPr/>
        </p:nvSpPr>
        <p:spPr>
          <a:xfrm>
            <a:off x="685800" y="5056632"/>
            <a:ext cx="2148840" cy="658368"/>
          </a:xfrm>
          <a:prstGeom prst="rect">
            <a:avLst/>
          </a:prstGeom>
          <a:noFill/>
          <a:ln/>
        </p:spPr>
        <p:txBody>
          <a:bodyPr wrap="square" lIns="0" tIns="0" rIns="0" bIns="0" rtlCol="0" anchor="ctr"/>
          <a:lstStyle/>
          <a:p>
            <a:pPr algn="ctr" indent="0" marL="0">
              <a:buNone/>
            </a:pPr>
            <a:r>
              <a:rPr lang="en-US" sz="1300" b="1" dirty="0">
                <a:solidFill>
                  <a:srgbClr val="0E7C61"/>
                </a:solidFill>
                <a:latin typeface="Calibri" pitchFamily="34" charset="0"/>
                <a:ea typeface="Calibri" pitchFamily="34" charset="-122"/>
                <a:cs typeface="Calibri" pitchFamily="34" charset="-120"/>
              </a:rPr>
              <a:t>Answers (labels)</a:t>
            </a:r>
            <a:endParaRPr lang="en-US" sz="1300" dirty="0"/>
          </a:p>
        </p:txBody>
      </p:sp>
      <p:sp>
        <p:nvSpPr>
          <p:cNvPr id="21" name="Shape 19"/>
          <p:cNvSpPr/>
          <p:nvPr/>
        </p:nvSpPr>
        <p:spPr>
          <a:xfrm>
            <a:off x="2834640" y="4517136"/>
            <a:ext cx="457200" cy="18288"/>
          </a:xfrm>
          <a:prstGeom prst="rect">
            <a:avLst/>
          </a:prstGeom>
          <a:solidFill>
            <a:srgbClr val="5C6B60"/>
          </a:solidFill>
          <a:ln w="12700">
            <a:solidFill>
              <a:srgbClr val="333333"/>
            </a:solidFill>
            <a:prstDash val="solid"/>
          </a:ln>
        </p:spPr>
      </p:sp>
      <p:sp>
        <p:nvSpPr>
          <p:cNvPr id="22" name="Shape 20"/>
          <p:cNvSpPr/>
          <p:nvPr/>
        </p:nvSpPr>
        <p:spPr>
          <a:xfrm>
            <a:off x="2834640" y="5385816"/>
            <a:ext cx="457200" cy="18288"/>
          </a:xfrm>
          <a:prstGeom prst="rect">
            <a:avLst/>
          </a:prstGeom>
          <a:solidFill>
            <a:srgbClr val="5C6B60"/>
          </a:solidFill>
          <a:ln w="12700">
            <a:solidFill>
              <a:srgbClr val="333333"/>
            </a:solidFill>
            <a:prstDash val="solid"/>
          </a:ln>
        </p:spPr>
      </p:sp>
      <p:sp>
        <p:nvSpPr>
          <p:cNvPr id="23" name="Shape 21"/>
          <p:cNvSpPr/>
          <p:nvPr/>
        </p:nvSpPr>
        <p:spPr>
          <a:xfrm>
            <a:off x="3291840" y="4526280"/>
            <a:ext cx="1371600" cy="914400"/>
          </a:xfrm>
          <a:prstGeom prst="roundRect">
            <a:avLst>
              <a:gd name="adj" fmla="val 10000"/>
            </a:avLst>
          </a:prstGeom>
          <a:solidFill>
            <a:srgbClr val="0F6B3C"/>
          </a:solidFill>
          <a:ln w="12700">
            <a:solidFill>
              <a:srgbClr val="333333"/>
            </a:solidFill>
            <a:prstDash val="solid"/>
          </a:ln>
        </p:spPr>
      </p:sp>
      <p:sp>
        <p:nvSpPr>
          <p:cNvPr id="24" name="Text 22"/>
          <p:cNvSpPr txBox="1"/>
          <p:nvPr/>
        </p:nvSpPr>
        <p:spPr>
          <a:xfrm>
            <a:off x="3291840" y="4526280"/>
            <a:ext cx="137160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Computer</a:t>
            </a:r>
            <a:endParaRPr lang="en-US" sz="1300" dirty="0"/>
          </a:p>
        </p:txBody>
      </p:sp>
      <p:sp>
        <p:nvSpPr>
          <p:cNvPr id="25" name="Shape 23"/>
          <p:cNvSpPr/>
          <p:nvPr/>
        </p:nvSpPr>
        <p:spPr>
          <a:xfrm>
            <a:off x="4663440" y="4983480"/>
            <a:ext cx="411480" cy="0"/>
          </a:xfrm>
          <a:prstGeom prst="line">
            <a:avLst/>
          </a:prstGeom>
          <a:noFill/>
          <a:ln w="19050">
            <a:solidFill>
              <a:srgbClr val="5C6B60"/>
            </a:solidFill>
            <a:prstDash val="solid"/>
            <a:tailEnd type="triangle"/>
          </a:ln>
        </p:spPr>
      </p:sp>
      <p:sp>
        <p:nvSpPr>
          <p:cNvPr id="26" name="Shape 24"/>
          <p:cNvSpPr/>
          <p:nvPr/>
        </p:nvSpPr>
        <p:spPr>
          <a:xfrm>
            <a:off x="5074920" y="4663440"/>
            <a:ext cx="1234440" cy="658368"/>
          </a:xfrm>
          <a:prstGeom prst="roundRect">
            <a:avLst>
              <a:gd name="adj" fmla="val 13889"/>
            </a:avLst>
          </a:prstGeom>
          <a:solidFill>
            <a:srgbClr val="FBF3DC"/>
          </a:solidFill>
          <a:ln w="15240">
            <a:solidFill>
              <a:srgbClr val="C9A227"/>
            </a:solidFill>
            <a:prstDash val="solid"/>
          </a:ln>
        </p:spPr>
      </p:sp>
      <p:sp>
        <p:nvSpPr>
          <p:cNvPr id="27" name="Text 25"/>
          <p:cNvSpPr txBox="1"/>
          <p:nvPr/>
        </p:nvSpPr>
        <p:spPr>
          <a:xfrm>
            <a:off x="5074920" y="4663440"/>
            <a:ext cx="1234440" cy="658368"/>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Rules</a:t>
            </a:r>
            <a:endParaRPr lang="en-US" sz="1250" dirty="0"/>
          </a:p>
        </p:txBody>
      </p:sp>
      <p:sp>
        <p:nvSpPr>
          <p:cNvPr id="28" name="Shape 26"/>
          <p:cNvSpPr/>
          <p:nvPr/>
        </p:nvSpPr>
        <p:spPr>
          <a:xfrm>
            <a:off x="6720840" y="1810512"/>
            <a:ext cx="4892040" cy="4023360"/>
          </a:xfrm>
          <a:prstGeom prst="roundRect">
            <a:avLst>
              <a:gd name="adj" fmla="val 272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9" name="Text 27"/>
          <p:cNvSpPr txBox="1"/>
          <p:nvPr/>
        </p:nvSpPr>
        <p:spPr>
          <a:xfrm>
            <a:off x="7040880" y="2057400"/>
            <a:ext cx="4297680" cy="365760"/>
          </a:xfrm>
          <a:prstGeom prst="rect">
            <a:avLst/>
          </a:prstGeom>
          <a:noFill/>
          <a:ln/>
        </p:spPr>
        <p:txBody>
          <a:bodyPr wrap="square" lIns="0" tIns="0" rIns="0" bIns="0" rtlCol="0" anchor="ctr"/>
          <a:lstStyle/>
          <a:p>
            <a:pPr indent="0" marL="0">
              <a:buNone/>
            </a:pPr>
            <a:r>
              <a:rPr lang="en-US" sz="1800" b="1" dirty="0">
                <a:solidFill>
                  <a:srgbClr val="0F6B3C"/>
                </a:solidFill>
                <a:latin typeface="Cambria" pitchFamily="34" charset="0"/>
                <a:ea typeface="Cambria" pitchFamily="34" charset="-122"/>
                <a:cs typeface="Cambria" pitchFamily="34" charset="-120"/>
              </a:rPr>
              <a:t>Read it out loud</a:t>
            </a:r>
            <a:endParaRPr lang="en-US" sz="1800" dirty="0"/>
          </a:p>
        </p:txBody>
      </p:sp>
      <p:sp>
        <p:nvSpPr>
          <p:cNvPr id="30" name="Text 28"/>
          <p:cNvSpPr txBox="1"/>
          <p:nvPr/>
        </p:nvSpPr>
        <p:spPr>
          <a:xfrm>
            <a:off x="7040880" y="2514600"/>
            <a:ext cx="4297680" cy="2286000"/>
          </a:xfrm>
          <a:prstGeom prst="rect">
            <a:avLst/>
          </a:prstGeom>
          <a:noFill/>
          <a:ln/>
        </p:spPr>
        <p:txBody>
          <a:bodyPr wrap="square" lIns="0" tIns="0" rIns="0" bIns="0" rtlCol="0" anchor="t"/>
          <a:lstStyle/>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In traditional programming a human supplies the rules and the computer produces answers.</a:t>
            </a:r>
            <a:endParaRPr lang="en-US" sz="1350" dirty="0"/>
          </a:p>
          <a:p>
            <a:pPr indent="0" marL="0">
              <a:lnSpc>
                <a:spcPts val="1900"/>
              </a:lnSpc>
              <a:buNone/>
            </a:pPr>
            <a:endParaRPr lang="en-US" sz="1350" dirty="0"/>
          </a:p>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In machine learning a human supplies the answers and the computer produces the rules.</a:t>
            </a:r>
            <a:endParaRPr lang="en-US" sz="1350" dirty="0"/>
          </a:p>
          <a:p>
            <a:pPr indent="0" marL="0">
              <a:lnSpc>
                <a:spcPts val="1900"/>
              </a:lnSpc>
              <a:buNone/>
            </a:pPr>
            <a:endParaRPr lang="en-US" sz="1350" dirty="0"/>
          </a:p>
          <a:p>
            <a:pPr indent="0" marL="0">
              <a:lnSpc>
                <a:spcPts val="1900"/>
              </a:lnSpc>
              <a:buNone/>
            </a:pPr>
            <a:r>
              <a:rPr lang="en-US" sz="1350" dirty="0">
                <a:solidFill>
                  <a:srgbClr val="1B2A20"/>
                </a:solidFill>
                <a:latin typeface="Calibri" pitchFamily="34" charset="0"/>
                <a:ea typeface="Calibri" pitchFamily="34" charset="-122"/>
                <a:cs typeface="Calibri" pitchFamily="34" charset="-120"/>
              </a:rPr>
              <a:t>Those learned "rules" are called a model. Running the model on new, unseen data is called inference or prediction.</a:t>
            </a:r>
            <a:endParaRPr lang="en-US" sz="1350" dirty="0"/>
          </a:p>
        </p:txBody>
      </p:sp>
      <p:sp>
        <p:nvSpPr>
          <p:cNvPr id="31" name="Text 29"/>
          <p:cNvSpPr txBox="1"/>
          <p:nvPr/>
        </p:nvSpPr>
        <p:spPr>
          <a:xfrm>
            <a:off x="7040880" y="4892040"/>
            <a:ext cx="4297680" cy="777240"/>
          </a:xfrm>
          <a:prstGeom prst="rect">
            <a:avLst/>
          </a:prstGeom>
          <a:noFill/>
          <a:ln/>
        </p:spPr>
        <p:txBody>
          <a:bodyPr wrap="square" lIns="0" tIns="0" rIns="0" bIns="0" rtlCol="0" anchor="ctr"/>
          <a:lstStyle/>
          <a:p>
            <a:pPr indent="0" marL="0">
              <a:lnSpc>
                <a:spcPts val="1700"/>
              </a:lnSpc>
              <a:buNone/>
            </a:pPr>
            <a:r>
              <a:rPr lang="en-US" sz="1250" i="1" dirty="0">
                <a:solidFill>
                  <a:srgbClr val="C9A227"/>
                </a:solidFill>
                <a:latin typeface="Calibri" pitchFamily="34" charset="0"/>
                <a:ea typeface="Calibri" pitchFamily="34" charset="-122"/>
                <a:cs typeface="Calibri" pitchFamily="34" charset="-120"/>
              </a:rPr>
              <a:t>The rules the model learns are not English sentences — they are numbers (parameters) that the computer adjusts until its answers stop being wrong.</a:t>
            </a:r>
            <a:endParaRPr lang="en-US" sz="1250" dirty="0"/>
          </a:p>
        </p:txBody>
      </p:sp>
      <p:sp>
        <p:nvSpPr>
          <p:cNvPr id="33" name="Text 30"/>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4" name="Text 31"/>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9</a:t>
            </a:r>
            <a:endParaRPr lang="en-US" sz="900" dirty="0"/>
          </a:p>
        </p:txBody>
      </p:sp>
      <p:pic>
        <p:nvPicPr>
          <p:cNvPr id="35" name="Picture 34"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WHAT IS MACHINE LEARNING?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Two Definitions Worth Memorising</a:t>
            </a:r>
            <a:endParaRPr lang="en-US" sz="3000" dirty="0"/>
          </a:p>
        </p:txBody>
      </p:sp>
      <p:sp>
        <p:nvSpPr>
          <p:cNvPr id="4" name="Shape 2"/>
          <p:cNvSpPr/>
          <p:nvPr/>
        </p:nvSpPr>
        <p:spPr>
          <a:xfrm>
            <a:off x="548640" y="1554480"/>
            <a:ext cx="11064240" cy="1691640"/>
          </a:xfrm>
          <a:prstGeom prst="roundRect">
            <a:avLst>
              <a:gd name="adj" fmla="val 6486"/>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960120" y="1828800"/>
            <a:ext cx="10241280" cy="777240"/>
          </a:xfrm>
          <a:prstGeom prst="rect">
            <a:avLst/>
          </a:prstGeom>
          <a:noFill/>
          <a:ln/>
        </p:spPr>
        <p:txBody>
          <a:bodyPr wrap="square" lIns="0" tIns="0" rIns="0" bIns="0" rtlCol="0" anchor="ctr"/>
          <a:lstStyle/>
          <a:p>
            <a:pPr indent="0" marL="0">
              <a:lnSpc>
                <a:spcPts val="2700"/>
              </a:lnSpc>
              <a:buNone/>
            </a:pPr>
            <a:r>
              <a:rPr lang="en-US" sz="2100" b="1" i="1" dirty="0">
                <a:solidFill>
                  <a:srgbClr val="0F6B3C"/>
                </a:solidFill>
                <a:latin typeface="Cambria" pitchFamily="34" charset="0"/>
                <a:ea typeface="Cambria" pitchFamily="34" charset="-122"/>
                <a:cs typeface="Cambria" pitchFamily="34" charset="-120"/>
              </a:rPr>
              <a:t>"The field of study that gives computers the ability to learn without being explicitly programmed."</a:t>
            </a:r>
            <a:endParaRPr lang="en-US" sz="2100" dirty="0"/>
          </a:p>
        </p:txBody>
      </p:sp>
      <p:sp>
        <p:nvSpPr>
          <p:cNvPr id="6" name="Text 4"/>
          <p:cNvSpPr txBox="1"/>
          <p:nvPr/>
        </p:nvSpPr>
        <p:spPr>
          <a:xfrm>
            <a:off x="960120" y="2670048"/>
            <a:ext cx="10241280" cy="36576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Arthur Samuel, 1959 — while building a checkers program that beat him by learning from its own games</a:t>
            </a:r>
            <a:endParaRPr lang="en-US" sz="1200" dirty="0"/>
          </a:p>
        </p:txBody>
      </p:sp>
      <p:sp>
        <p:nvSpPr>
          <p:cNvPr id="7" name="Shape 5"/>
          <p:cNvSpPr/>
          <p:nvPr/>
        </p:nvSpPr>
        <p:spPr>
          <a:xfrm>
            <a:off x="548640" y="3429000"/>
            <a:ext cx="11064240" cy="2377440"/>
          </a:xfrm>
          <a:prstGeom prst="roundRect">
            <a:avLst>
              <a:gd name="adj" fmla="val 461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8" name="Text 6"/>
          <p:cNvSpPr txBox="1"/>
          <p:nvPr/>
        </p:nvSpPr>
        <p:spPr>
          <a:xfrm>
            <a:off x="960120" y="3703320"/>
            <a:ext cx="10241280" cy="1051560"/>
          </a:xfrm>
          <a:prstGeom prst="rect">
            <a:avLst/>
          </a:prstGeom>
          <a:noFill/>
          <a:ln/>
        </p:spPr>
        <p:txBody>
          <a:bodyPr wrap="square" lIns="0" tIns="0" rIns="0" bIns="0" rtlCol="0" anchor="ctr"/>
          <a:lstStyle/>
          <a:p>
            <a:pPr indent="0" marL="0">
              <a:lnSpc>
                <a:spcPts val="2500"/>
              </a:lnSpc>
              <a:buNone/>
            </a:pPr>
            <a:r>
              <a:rPr lang="en-US" sz="1800" i="1" dirty="0">
                <a:solidFill>
                  <a:srgbClr val="0F6B3C"/>
                </a:solidFill>
                <a:latin typeface="Cambria" pitchFamily="34" charset="0"/>
                <a:ea typeface="Cambria" pitchFamily="34" charset="-122"/>
                <a:cs typeface="Cambria" pitchFamily="34" charset="-120"/>
              </a:rPr>
              <a:t>"A computer program is said to learn from experience E with respect to some class of tasks T and performance measure P, if its performance at tasks in T, as measured by P, improves with experience E."</a:t>
            </a:r>
            <a:endParaRPr lang="en-US" sz="1800" dirty="0"/>
          </a:p>
        </p:txBody>
      </p:sp>
      <p:sp>
        <p:nvSpPr>
          <p:cNvPr id="9" name="Text 7"/>
          <p:cNvSpPr txBox="1"/>
          <p:nvPr/>
        </p:nvSpPr>
        <p:spPr>
          <a:xfrm>
            <a:off x="960120" y="4773168"/>
            <a:ext cx="10241280" cy="320040"/>
          </a:xfrm>
          <a:prstGeom prst="rect">
            <a:avLst/>
          </a:prstGeom>
          <a:noFill/>
          <a:ln/>
        </p:spPr>
        <p:txBody>
          <a:bodyPr wrap="square" lIns="0" tIns="0" rIns="0" bIns="0" rtlCol="0" anchor="ctr"/>
          <a:lstStyle/>
          <a:p>
            <a:pPr indent="0" marL="0">
              <a:buNone/>
            </a:pPr>
            <a:r>
              <a:rPr lang="en-US" sz="1200" b="1" dirty="0">
                <a:solidFill>
                  <a:srgbClr val="0E7C61"/>
                </a:solidFill>
                <a:latin typeface="Calibri" pitchFamily="34" charset="0"/>
                <a:ea typeface="Calibri" pitchFamily="34" charset="-122"/>
                <a:cs typeface="Calibri" pitchFamily="34" charset="-120"/>
              </a:rPr>
              <a:t>Tom Mitchell, 1997 — the operational definition we will use all semester</a:t>
            </a:r>
            <a:endParaRPr lang="en-US" sz="1200" dirty="0"/>
          </a:p>
        </p:txBody>
      </p:sp>
      <p:sp>
        <p:nvSpPr>
          <p:cNvPr id="10" name="Shape 8"/>
          <p:cNvSpPr/>
          <p:nvPr/>
        </p:nvSpPr>
        <p:spPr>
          <a:xfrm>
            <a:off x="960120" y="5193792"/>
            <a:ext cx="411480" cy="411480"/>
          </a:xfrm>
          <a:prstGeom prst="ellipse">
            <a:avLst/>
          </a:prstGeom>
          <a:solidFill>
            <a:srgbClr val="0F6B3C"/>
          </a:solidFill>
          <a:ln w="12700">
            <a:solidFill>
              <a:srgbClr val="0F6B3C"/>
            </a:solidFill>
            <a:prstDash val="solid"/>
          </a:ln>
        </p:spPr>
      </p:sp>
      <p:sp>
        <p:nvSpPr>
          <p:cNvPr id="11" name="Text 9"/>
          <p:cNvSpPr txBox="1"/>
          <p:nvPr/>
        </p:nvSpPr>
        <p:spPr>
          <a:xfrm>
            <a:off x="960120" y="51937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12" name="Text 10"/>
          <p:cNvSpPr txBox="1"/>
          <p:nvPr/>
        </p:nvSpPr>
        <p:spPr>
          <a:xfrm>
            <a:off x="1490472" y="5212080"/>
            <a:ext cx="3017520" cy="365760"/>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Experience — the data</a:t>
            </a:r>
            <a:endParaRPr lang="en-US" sz="1250" dirty="0"/>
          </a:p>
        </p:txBody>
      </p:sp>
      <p:sp>
        <p:nvSpPr>
          <p:cNvPr id="13" name="Shape 11"/>
          <p:cNvSpPr/>
          <p:nvPr/>
        </p:nvSpPr>
        <p:spPr>
          <a:xfrm>
            <a:off x="4572000" y="5193792"/>
            <a:ext cx="411480" cy="411480"/>
          </a:xfrm>
          <a:prstGeom prst="ellipse">
            <a:avLst/>
          </a:prstGeom>
          <a:solidFill>
            <a:srgbClr val="0F6B3C"/>
          </a:solidFill>
          <a:ln w="12700">
            <a:solidFill>
              <a:srgbClr val="0F6B3C"/>
            </a:solidFill>
            <a:prstDash val="solid"/>
          </a:ln>
        </p:spPr>
      </p:sp>
      <p:sp>
        <p:nvSpPr>
          <p:cNvPr id="14" name="Text 12"/>
          <p:cNvSpPr txBox="1"/>
          <p:nvPr/>
        </p:nvSpPr>
        <p:spPr>
          <a:xfrm>
            <a:off x="4572000" y="51937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t>
            </a:r>
            <a:endParaRPr lang="en-US" sz="1300" dirty="0"/>
          </a:p>
        </p:txBody>
      </p:sp>
      <p:sp>
        <p:nvSpPr>
          <p:cNvPr id="15" name="Text 13"/>
          <p:cNvSpPr txBox="1"/>
          <p:nvPr/>
        </p:nvSpPr>
        <p:spPr>
          <a:xfrm>
            <a:off x="5102352" y="5212080"/>
            <a:ext cx="3017520" cy="365760"/>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Task — what we want done</a:t>
            </a:r>
            <a:endParaRPr lang="en-US" sz="1250" dirty="0"/>
          </a:p>
        </p:txBody>
      </p:sp>
      <p:sp>
        <p:nvSpPr>
          <p:cNvPr id="16" name="Shape 14"/>
          <p:cNvSpPr/>
          <p:nvPr/>
        </p:nvSpPr>
        <p:spPr>
          <a:xfrm>
            <a:off x="8183880" y="5193792"/>
            <a:ext cx="411480" cy="411480"/>
          </a:xfrm>
          <a:prstGeom prst="ellipse">
            <a:avLst/>
          </a:prstGeom>
          <a:solidFill>
            <a:srgbClr val="0F6B3C"/>
          </a:solidFill>
          <a:ln w="12700">
            <a:solidFill>
              <a:srgbClr val="0F6B3C"/>
            </a:solidFill>
            <a:prstDash val="solid"/>
          </a:ln>
        </p:spPr>
      </p:sp>
      <p:sp>
        <p:nvSpPr>
          <p:cNvPr id="17" name="Text 15"/>
          <p:cNvSpPr txBox="1"/>
          <p:nvPr/>
        </p:nvSpPr>
        <p:spPr>
          <a:xfrm>
            <a:off x="8183880" y="51937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t>
            </a:r>
            <a:endParaRPr lang="en-US" sz="1300" dirty="0"/>
          </a:p>
        </p:txBody>
      </p:sp>
      <p:sp>
        <p:nvSpPr>
          <p:cNvPr id="18" name="Text 16"/>
          <p:cNvSpPr txBox="1"/>
          <p:nvPr/>
        </p:nvSpPr>
        <p:spPr>
          <a:xfrm>
            <a:off x="8714232" y="5212080"/>
            <a:ext cx="3017520" cy="365760"/>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Performance — how we score it</a:t>
            </a:r>
            <a:endParaRPr lang="en-US" sz="1250" dirty="0"/>
          </a:p>
        </p:txBody>
      </p:sp>
      <p:sp>
        <p:nvSpPr>
          <p:cNvPr id="20" name="Text 17"/>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1" name="Text 18"/>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10</a:t>
            </a:r>
            <a:endParaRPr lang="en-US" sz="900" dirty="0"/>
          </a:p>
        </p:txBody>
      </p:sp>
      <p:pic>
        <p:nvPicPr>
          <p:cNvPr id="22" name="Picture 21"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 T AND 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Mitchell's Framework On Real Problems</a:t>
            </a:r>
            <a:endParaRPr lang="en-US" sz="3000" dirty="0"/>
          </a:p>
        </p:txBody>
      </p:sp>
      <p:sp>
        <p:nvSpPr>
          <p:cNvPr id="4" name="Text 2"/>
          <p:cNvSpPr txBox="1"/>
          <p:nvPr/>
        </p:nvSpPr>
        <p:spPr>
          <a:xfrm>
            <a:off x="685800" y="1572768"/>
            <a:ext cx="2514600" cy="274320"/>
          </a:xfrm>
          <a:prstGeom prst="rect">
            <a:avLst/>
          </a:prstGeom>
          <a:noFill/>
          <a:ln/>
        </p:spPr>
        <p:txBody>
          <a:bodyPr wrap="square" lIns="0" tIns="0" rIns="0" bIns="0" rtlCol="0" anchor="ctr"/>
          <a:lstStyle/>
          <a:p>
            <a:pPr indent="0" marL="0">
              <a:buNone/>
            </a:pPr>
            <a:r>
              <a:rPr lang="en-US" sz="1100" b="1" spc="120" kern="0" dirty="0">
                <a:solidFill>
                  <a:srgbClr val="C9A227"/>
                </a:solidFill>
                <a:latin typeface="Calibri" pitchFamily="34" charset="0"/>
                <a:ea typeface="Calibri" pitchFamily="34" charset="-122"/>
                <a:cs typeface="Calibri" pitchFamily="34" charset="-120"/>
              </a:rPr>
              <a:t>PROBLEM</a:t>
            </a:r>
            <a:endParaRPr lang="en-US" sz="1100" dirty="0"/>
          </a:p>
        </p:txBody>
      </p:sp>
      <p:sp>
        <p:nvSpPr>
          <p:cNvPr id="5" name="Text 3"/>
          <p:cNvSpPr txBox="1"/>
          <p:nvPr/>
        </p:nvSpPr>
        <p:spPr>
          <a:xfrm>
            <a:off x="3474720" y="1572768"/>
            <a:ext cx="2788920" cy="274320"/>
          </a:xfrm>
          <a:prstGeom prst="rect">
            <a:avLst/>
          </a:prstGeom>
          <a:noFill/>
          <a:ln/>
        </p:spPr>
        <p:txBody>
          <a:bodyPr wrap="square" lIns="0" tIns="0" rIns="0" bIns="0" rtlCol="0" anchor="ctr"/>
          <a:lstStyle/>
          <a:p>
            <a:pPr indent="0" marL="0">
              <a:buNone/>
            </a:pPr>
            <a:r>
              <a:rPr lang="en-US" sz="1100" b="1" spc="120" kern="0" dirty="0">
                <a:solidFill>
                  <a:srgbClr val="C9A227"/>
                </a:solidFill>
                <a:latin typeface="Calibri" pitchFamily="34" charset="0"/>
                <a:ea typeface="Calibri" pitchFamily="34" charset="-122"/>
                <a:cs typeface="Calibri" pitchFamily="34" charset="-120"/>
              </a:rPr>
              <a:t>E — EXPERIENCE</a:t>
            </a:r>
            <a:endParaRPr lang="en-US" sz="1100" dirty="0"/>
          </a:p>
        </p:txBody>
      </p:sp>
      <p:sp>
        <p:nvSpPr>
          <p:cNvPr id="6" name="Text 4"/>
          <p:cNvSpPr txBox="1"/>
          <p:nvPr/>
        </p:nvSpPr>
        <p:spPr>
          <a:xfrm>
            <a:off x="6537960" y="1572768"/>
            <a:ext cx="2468880" cy="274320"/>
          </a:xfrm>
          <a:prstGeom prst="rect">
            <a:avLst/>
          </a:prstGeom>
          <a:noFill/>
          <a:ln/>
        </p:spPr>
        <p:txBody>
          <a:bodyPr wrap="square" lIns="0" tIns="0" rIns="0" bIns="0" rtlCol="0" anchor="ctr"/>
          <a:lstStyle/>
          <a:p>
            <a:pPr indent="0" marL="0">
              <a:buNone/>
            </a:pPr>
            <a:r>
              <a:rPr lang="en-US" sz="1100" b="1" spc="120" kern="0" dirty="0">
                <a:solidFill>
                  <a:srgbClr val="C9A227"/>
                </a:solidFill>
                <a:latin typeface="Calibri" pitchFamily="34" charset="0"/>
                <a:ea typeface="Calibri" pitchFamily="34" charset="-122"/>
                <a:cs typeface="Calibri" pitchFamily="34" charset="-120"/>
              </a:rPr>
              <a:t>T — TASK</a:t>
            </a:r>
            <a:endParaRPr lang="en-US" sz="1100" dirty="0"/>
          </a:p>
        </p:txBody>
      </p:sp>
      <p:sp>
        <p:nvSpPr>
          <p:cNvPr id="7" name="Text 5"/>
          <p:cNvSpPr txBox="1"/>
          <p:nvPr/>
        </p:nvSpPr>
        <p:spPr>
          <a:xfrm>
            <a:off x="9281160" y="1572768"/>
            <a:ext cx="2560320" cy="274320"/>
          </a:xfrm>
          <a:prstGeom prst="rect">
            <a:avLst/>
          </a:prstGeom>
          <a:noFill/>
          <a:ln/>
        </p:spPr>
        <p:txBody>
          <a:bodyPr wrap="square" lIns="0" tIns="0" rIns="0" bIns="0" rtlCol="0" anchor="ctr"/>
          <a:lstStyle/>
          <a:p>
            <a:pPr indent="0" marL="0">
              <a:buNone/>
            </a:pPr>
            <a:r>
              <a:rPr lang="en-US" sz="1100" b="1" spc="120" kern="0" dirty="0">
                <a:solidFill>
                  <a:srgbClr val="C9A227"/>
                </a:solidFill>
                <a:latin typeface="Calibri" pitchFamily="34" charset="0"/>
                <a:ea typeface="Calibri" pitchFamily="34" charset="-122"/>
                <a:cs typeface="Calibri" pitchFamily="34" charset="-120"/>
              </a:rPr>
              <a:t>P — PERFORMANCE</a:t>
            </a:r>
            <a:endParaRPr lang="en-US" sz="1100" dirty="0"/>
          </a:p>
        </p:txBody>
      </p:sp>
      <p:sp>
        <p:nvSpPr>
          <p:cNvPr id="8" name="Shape 6"/>
          <p:cNvSpPr/>
          <p:nvPr/>
        </p:nvSpPr>
        <p:spPr>
          <a:xfrm>
            <a:off x="548640" y="1938528"/>
            <a:ext cx="11430000" cy="1298448"/>
          </a:xfrm>
          <a:prstGeom prst="roundRect">
            <a:avLst>
              <a:gd name="adj" fmla="val 845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9" name="Text 7"/>
          <p:cNvSpPr txBox="1"/>
          <p:nvPr/>
        </p:nvSpPr>
        <p:spPr>
          <a:xfrm>
            <a:off x="685800" y="2121408"/>
            <a:ext cx="2478024" cy="960120"/>
          </a:xfrm>
          <a:prstGeom prst="rect">
            <a:avLst/>
          </a:prstGeom>
          <a:noFill/>
          <a:ln/>
        </p:spPr>
        <p:txBody>
          <a:bodyPr wrap="square" lIns="0" tIns="0" rIns="0" bIns="0" rtlCol="0" anchor="ctr"/>
          <a:lstStyle/>
          <a:p>
            <a:pPr indent="0" marL="0">
              <a:lnSpc>
                <a:spcPts val="1600"/>
              </a:lnSpc>
              <a:buNone/>
            </a:pPr>
            <a:r>
              <a:rPr lang="en-US" sz="1200" b="1" dirty="0">
                <a:solidFill>
                  <a:srgbClr val="0F6B3C"/>
                </a:solidFill>
                <a:latin typeface="Calibri" pitchFamily="34" charset="0"/>
                <a:ea typeface="Calibri" pitchFamily="34" charset="-122"/>
                <a:cs typeface="Calibri" pitchFamily="34" charset="-120"/>
              </a:rPr>
              <a:t>Maize leaf disease detection</a:t>
            </a:r>
            <a:endParaRPr lang="en-US" sz="1200" dirty="0"/>
          </a:p>
        </p:txBody>
      </p:sp>
      <p:sp>
        <p:nvSpPr>
          <p:cNvPr id="10" name="Text 8"/>
          <p:cNvSpPr txBox="1"/>
          <p:nvPr/>
        </p:nvSpPr>
        <p:spPr>
          <a:xfrm>
            <a:off x="3474720" y="2121408"/>
            <a:ext cx="275234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20,000 labelled photos of healthy and diseased maize leaves</a:t>
            </a:r>
            <a:endParaRPr lang="en-US" sz="1200" dirty="0"/>
          </a:p>
        </p:txBody>
      </p:sp>
      <p:sp>
        <p:nvSpPr>
          <p:cNvPr id="11" name="Text 9"/>
          <p:cNvSpPr txBox="1"/>
          <p:nvPr/>
        </p:nvSpPr>
        <p:spPr>
          <a:xfrm>
            <a:off x="6537960" y="2121408"/>
            <a:ext cx="243230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Classify a leaf photo into healthy / blight / rust / streak virus</a:t>
            </a:r>
            <a:endParaRPr lang="en-US" sz="1200" dirty="0"/>
          </a:p>
        </p:txBody>
      </p:sp>
      <p:sp>
        <p:nvSpPr>
          <p:cNvPr id="12" name="Text 10"/>
          <p:cNvSpPr txBox="1"/>
          <p:nvPr/>
        </p:nvSpPr>
        <p:spPr>
          <a:xfrm>
            <a:off x="9281160" y="2121408"/>
            <a:ext cx="252374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 of leaves correctly diagnosed on farms never seen in training</a:t>
            </a:r>
            <a:endParaRPr lang="en-US" sz="1200" dirty="0"/>
          </a:p>
        </p:txBody>
      </p:sp>
      <p:sp>
        <p:nvSpPr>
          <p:cNvPr id="13" name="Shape 11"/>
          <p:cNvSpPr/>
          <p:nvPr/>
        </p:nvSpPr>
        <p:spPr>
          <a:xfrm>
            <a:off x="548640" y="3401568"/>
            <a:ext cx="11430000" cy="1298448"/>
          </a:xfrm>
          <a:prstGeom prst="roundRect">
            <a:avLst>
              <a:gd name="adj" fmla="val 845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4" name="Text 12"/>
          <p:cNvSpPr txBox="1"/>
          <p:nvPr/>
        </p:nvSpPr>
        <p:spPr>
          <a:xfrm>
            <a:off x="685800" y="3584448"/>
            <a:ext cx="2478024" cy="960120"/>
          </a:xfrm>
          <a:prstGeom prst="rect">
            <a:avLst/>
          </a:prstGeom>
          <a:noFill/>
          <a:ln/>
        </p:spPr>
        <p:txBody>
          <a:bodyPr wrap="square" lIns="0" tIns="0" rIns="0" bIns="0" rtlCol="0" anchor="ctr"/>
          <a:lstStyle/>
          <a:p>
            <a:pPr indent="0" marL="0">
              <a:lnSpc>
                <a:spcPts val="1600"/>
              </a:lnSpc>
              <a:buNone/>
            </a:pPr>
            <a:r>
              <a:rPr lang="en-US" sz="1200" b="1" dirty="0">
                <a:solidFill>
                  <a:srgbClr val="0F6B3C"/>
                </a:solidFill>
                <a:latin typeface="Calibri" pitchFamily="34" charset="0"/>
                <a:ea typeface="Calibri" pitchFamily="34" charset="-122"/>
                <a:cs typeface="Calibri" pitchFamily="34" charset="-120"/>
              </a:rPr>
              <a:t>Mobile-money credit scoring</a:t>
            </a:r>
            <a:endParaRPr lang="en-US" sz="1200" dirty="0"/>
          </a:p>
        </p:txBody>
      </p:sp>
      <p:sp>
        <p:nvSpPr>
          <p:cNvPr id="15" name="Text 13"/>
          <p:cNvSpPr txBox="1"/>
          <p:nvPr/>
        </p:nvSpPr>
        <p:spPr>
          <a:xfrm>
            <a:off x="3474720" y="3584448"/>
            <a:ext cx="275234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Repayment history and airtime/transaction patterns of past borrowers</a:t>
            </a:r>
            <a:endParaRPr lang="en-US" sz="1200" dirty="0"/>
          </a:p>
        </p:txBody>
      </p:sp>
      <p:sp>
        <p:nvSpPr>
          <p:cNvPr id="16" name="Text 14"/>
          <p:cNvSpPr txBox="1"/>
          <p:nvPr/>
        </p:nvSpPr>
        <p:spPr>
          <a:xfrm>
            <a:off x="6537960" y="3584448"/>
            <a:ext cx="243230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Predict whether a new applicant will repay a small loan</a:t>
            </a:r>
            <a:endParaRPr lang="en-US" sz="1200" dirty="0"/>
          </a:p>
        </p:txBody>
      </p:sp>
      <p:sp>
        <p:nvSpPr>
          <p:cNvPr id="17" name="Text 15"/>
          <p:cNvSpPr txBox="1"/>
          <p:nvPr/>
        </p:nvSpPr>
        <p:spPr>
          <a:xfrm>
            <a:off x="9281160" y="3584448"/>
            <a:ext cx="252374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Default rate at a fixed approval rate; fairness across counties</a:t>
            </a:r>
            <a:endParaRPr lang="en-US" sz="1200" dirty="0"/>
          </a:p>
        </p:txBody>
      </p:sp>
      <p:sp>
        <p:nvSpPr>
          <p:cNvPr id="18" name="Shape 16"/>
          <p:cNvSpPr/>
          <p:nvPr/>
        </p:nvSpPr>
        <p:spPr>
          <a:xfrm>
            <a:off x="548640" y="4864608"/>
            <a:ext cx="11430000" cy="1298448"/>
          </a:xfrm>
          <a:prstGeom prst="roundRect">
            <a:avLst>
              <a:gd name="adj" fmla="val 845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9" name="Text 17"/>
          <p:cNvSpPr txBox="1"/>
          <p:nvPr/>
        </p:nvSpPr>
        <p:spPr>
          <a:xfrm>
            <a:off x="685800" y="5047488"/>
            <a:ext cx="2478024" cy="960120"/>
          </a:xfrm>
          <a:prstGeom prst="rect">
            <a:avLst/>
          </a:prstGeom>
          <a:noFill/>
          <a:ln/>
        </p:spPr>
        <p:txBody>
          <a:bodyPr wrap="square" lIns="0" tIns="0" rIns="0" bIns="0" rtlCol="0" anchor="ctr"/>
          <a:lstStyle/>
          <a:p>
            <a:pPr indent="0" marL="0">
              <a:lnSpc>
                <a:spcPts val="1600"/>
              </a:lnSpc>
              <a:buNone/>
            </a:pPr>
            <a:r>
              <a:rPr lang="en-US" sz="1200" b="1" dirty="0">
                <a:solidFill>
                  <a:srgbClr val="0F6B3C"/>
                </a:solidFill>
                <a:latin typeface="Calibri" pitchFamily="34" charset="0"/>
                <a:ea typeface="Calibri" pitchFamily="34" charset="-122"/>
                <a:cs typeface="Calibri" pitchFamily="34" charset="-120"/>
              </a:rPr>
              <a:t>Kimeru speech recognition</a:t>
            </a:r>
            <a:endParaRPr lang="en-US" sz="1200" dirty="0"/>
          </a:p>
        </p:txBody>
      </p:sp>
      <p:sp>
        <p:nvSpPr>
          <p:cNvPr id="20" name="Text 18"/>
          <p:cNvSpPr txBox="1"/>
          <p:nvPr/>
        </p:nvSpPr>
        <p:spPr>
          <a:xfrm>
            <a:off x="3474720" y="5047488"/>
            <a:ext cx="275234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Hours of recorded Kimeru audio paired with transcripts</a:t>
            </a:r>
            <a:endParaRPr lang="en-US" sz="1200" dirty="0"/>
          </a:p>
        </p:txBody>
      </p:sp>
      <p:sp>
        <p:nvSpPr>
          <p:cNvPr id="21" name="Text 19"/>
          <p:cNvSpPr txBox="1"/>
          <p:nvPr/>
        </p:nvSpPr>
        <p:spPr>
          <a:xfrm>
            <a:off x="6537960" y="5047488"/>
            <a:ext cx="243230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Convert spoken Kimeru into written text</a:t>
            </a:r>
            <a:endParaRPr lang="en-US" sz="1200" dirty="0"/>
          </a:p>
        </p:txBody>
      </p:sp>
      <p:sp>
        <p:nvSpPr>
          <p:cNvPr id="22" name="Text 20"/>
          <p:cNvSpPr txBox="1"/>
          <p:nvPr/>
        </p:nvSpPr>
        <p:spPr>
          <a:xfrm>
            <a:off x="9281160" y="5047488"/>
            <a:ext cx="2523744" cy="96012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Word error rate on speakers not in the training recordings</a:t>
            </a:r>
            <a:endParaRPr lang="en-US" sz="1200" dirty="0"/>
          </a:p>
        </p:txBody>
      </p:sp>
      <p:sp>
        <p:nvSpPr>
          <p:cNvPr id="23" name="Text 21"/>
          <p:cNvSpPr txBox="1"/>
          <p:nvPr/>
        </p:nvSpPr>
        <p:spPr>
          <a:xfrm>
            <a:off x="548640" y="6035040"/>
            <a:ext cx="11064240" cy="365760"/>
          </a:xfrm>
          <a:prstGeom prst="rect">
            <a:avLst/>
          </a:prstGeom>
          <a:noFill/>
          <a:ln/>
        </p:spPr>
        <p:txBody>
          <a:bodyPr wrap="square" lIns="0" tIns="0" rIns="0" bIns="0" rtlCol="0" anchor="t"/>
          <a:lstStyle/>
          <a:p>
            <a:pPr indent="0" marL="0">
              <a:lnSpc>
                <a:spcPts val="2000"/>
              </a:lnSpc>
              <a:buNone/>
            </a:pPr>
            <a:r>
              <a:rPr lang="en-US" sz="1250" i="1" dirty="0">
                <a:solidFill>
                  <a:srgbClr val="0E7C61"/>
                </a:solidFill>
                <a:latin typeface="Calibri" pitchFamily="34" charset="0"/>
                <a:ea typeface="Calibri" pitchFamily="34" charset="-122"/>
                <a:cs typeface="Calibri" pitchFamily="34" charset="-120"/>
              </a:rPr>
              <a:t>Notice the P column: in every case performance is measured on data the model has never seen. That is not a detail — it is the whole discipline.</a:t>
            </a:r>
            <a:endParaRPr lang="en-US" sz="1250" dirty="0"/>
          </a:p>
        </p:txBody>
      </p:sp>
      <p:sp>
        <p:nvSpPr>
          <p:cNvPr id="25" name="Text 22"/>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6" name="Text 23"/>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11</a:t>
            </a:r>
            <a:endParaRPr lang="en-US" sz="900" dirty="0"/>
          </a:p>
        </p:txBody>
      </p:sp>
      <p:pic>
        <p:nvPicPr>
          <p:cNvPr id="27" name="Picture 26"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CLEARING UP THE BUZZWORDS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AI, ML, Deep Learning, Data Science</a:t>
            </a:r>
            <a:endParaRPr lang="en-US" sz="3000" dirty="0"/>
          </a:p>
        </p:txBody>
      </p:sp>
      <p:sp>
        <p:nvSpPr>
          <p:cNvPr id="4" name="Shape 2"/>
          <p:cNvSpPr/>
          <p:nvPr/>
        </p:nvSpPr>
        <p:spPr>
          <a:xfrm>
            <a:off x="685800" y="1554480"/>
            <a:ext cx="5120640" cy="4343400"/>
          </a:xfrm>
          <a:prstGeom prst="roundRect">
            <a:avLst>
              <a:gd name="adj" fmla="val 3789"/>
            </a:avLst>
          </a:prstGeom>
          <a:solidFill>
            <a:srgbClr val="E9F0EA"/>
          </a:solidFill>
          <a:ln w="12700">
            <a:solidFill>
              <a:srgbClr val="333333"/>
            </a:solidFill>
            <a:prstDash val="solid"/>
          </a:ln>
        </p:spPr>
      </p:sp>
      <p:sp>
        <p:nvSpPr>
          <p:cNvPr id="5" name="Shape 3"/>
          <p:cNvSpPr/>
          <p:nvPr/>
        </p:nvSpPr>
        <p:spPr>
          <a:xfrm>
            <a:off x="1143000" y="2057400"/>
            <a:ext cx="4206240" cy="3337560"/>
          </a:xfrm>
          <a:prstGeom prst="roundRect">
            <a:avLst>
              <a:gd name="adj" fmla="val 4932"/>
            </a:avLst>
          </a:prstGeom>
          <a:solidFill>
            <a:srgbClr val="C9DFCF"/>
          </a:solidFill>
          <a:ln w="12700">
            <a:solidFill>
              <a:srgbClr val="333333"/>
            </a:solidFill>
            <a:prstDash val="solid"/>
          </a:ln>
        </p:spPr>
      </p:sp>
      <p:sp>
        <p:nvSpPr>
          <p:cNvPr id="6" name="Shape 4"/>
          <p:cNvSpPr/>
          <p:nvPr/>
        </p:nvSpPr>
        <p:spPr>
          <a:xfrm>
            <a:off x="1691640" y="2651760"/>
            <a:ext cx="3108960" cy="2148840"/>
          </a:xfrm>
          <a:prstGeom prst="roundRect">
            <a:avLst>
              <a:gd name="adj" fmla="val 7660"/>
            </a:avLst>
          </a:prstGeom>
          <a:solidFill>
            <a:srgbClr val="F0DFAE"/>
          </a:solidFill>
          <a:ln w="12700">
            <a:solidFill>
              <a:srgbClr val="333333"/>
            </a:solidFill>
            <a:prstDash val="solid"/>
          </a:ln>
        </p:spPr>
      </p:sp>
      <p:sp>
        <p:nvSpPr>
          <p:cNvPr id="7" name="Text 5"/>
          <p:cNvSpPr txBox="1"/>
          <p:nvPr/>
        </p:nvSpPr>
        <p:spPr>
          <a:xfrm>
            <a:off x="822960" y="1691640"/>
            <a:ext cx="4846320" cy="274320"/>
          </a:xfrm>
          <a:prstGeom prst="rect">
            <a:avLst/>
          </a:prstGeom>
          <a:noFill/>
          <a:ln/>
        </p:spPr>
        <p:txBody>
          <a:bodyPr wrap="square" lIns="0" tIns="0" rIns="0" bIns="0" rtlCol="0" anchor="ctr"/>
          <a:lstStyle/>
          <a:p>
            <a:pPr indent="0" marL="0">
              <a:buNone/>
            </a:pPr>
            <a:r>
              <a:rPr lang="en-US" sz="1200" b="1" spc="120" kern="0" dirty="0">
                <a:solidFill>
                  <a:srgbClr val="1E8449"/>
                </a:solidFill>
                <a:latin typeface="Calibri" pitchFamily="34" charset="0"/>
                <a:ea typeface="Calibri" pitchFamily="34" charset="-122"/>
                <a:cs typeface="Calibri" pitchFamily="34" charset="-120"/>
              </a:rPr>
              <a:t>ARTIFICIAL INTELLIGENCE</a:t>
            </a:r>
            <a:endParaRPr lang="en-US" sz="1200" dirty="0"/>
          </a:p>
        </p:txBody>
      </p:sp>
      <p:sp>
        <p:nvSpPr>
          <p:cNvPr id="8" name="Text 6"/>
          <p:cNvSpPr txBox="1"/>
          <p:nvPr/>
        </p:nvSpPr>
        <p:spPr>
          <a:xfrm>
            <a:off x="1280160" y="2194560"/>
            <a:ext cx="3931920" cy="274320"/>
          </a:xfrm>
          <a:prstGeom prst="rect">
            <a:avLst/>
          </a:prstGeom>
          <a:noFill/>
          <a:ln/>
        </p:spPr>
        <p:txBody>
          <a:bodyPr wrap="square" lIns="0" tIns="0" rIns="0" bIns="0" rtlCol="0" anchor="ctr"/>
          <a:lstStyle/>
          <a:p>
            <a:pPr indent="0" marL="0">
              <a:buNone/>
            </a:pPr>
            <a:r>
              <a:rPr lang="en-US" sz="1200" b="1" spc="120" kern="0" dirty="0">
                <a:solidFill>
                  <a:srgbClr val="0F6B3C"/>
                </a:solidFill>
                <a:latin typeface="Calibri" pitchFamily="34" charset="0"/>
                <a:ea typeface="Calibri" pitchFamily="34" charset="-122"/>
                <a:cs typeface="Calibri" pitchFamily="34" charset="-120"/>
              </a:rPr>
              <a:t>MACHINE LEARNING</a:t>
            </a:r>
            <a:endParaRPr lang="en-US" sz="1200" dirty="0"/>
          </a:p>
        </p:txBody>
      </p:sp>
      <p:sp>
        <p:nvSpPr>
          <p:cNvPr id="9" name="Text 7"/>
          <p:cNvSpPr txBox="1"/>
          <p:nvPr/>
        </p:nvSpPr>
        <p:spPr>
          <a:xfrm>
            <a:off x="1691640" y="3291840"/>
            <a:ext cx="3108960" cy="822960"/>
          </a:xfrm>
          <a:prstGeom prst="rect">
            <a:avLst/>
          </a:prstGeom>
          <a:noFill/>
          <a:ln/>
        </p:spPr>
        <p:txBody>
          <a:bodyPr wrap="square" lIns="0" tIns="0" rIns="0" bIns="0" rtlCol="0" anchor="ctr"/>
          <a:lstStyle/>
          <a:p>
            <a:pPr algn="ctr" indent="0" marL="0">
              <a:lnSpc>
                <a:spcPts val="2400"/>
              </a:lnSpc>
              <a:buNone/>
            </a:pPr>
            <a:r>
              <a:rPr lang="en-US" sz="2000" b="1" dirty="0">
                <a:solidFill>
                  <a:srgbClr val="8A6D0B"/>
                </a:solidFill>
                <a:latin typeface="Cambria" pitchFamily="34" charset="0"/>
                <a:ea typeface="Cambria" pitchFamily="34" charset="-122"/>
                <a:cs typeface="Cambria" pitchFamily="34" charset="-120"/>
              </a:rPr>
              <a:t>DEEP</a:t>
            </a:r>
            <a:endParaRPr lang="en-US" sz="2000" dirty="0"/>
          </a:p>
          <a:p>
            <a:pPr algn="ctr" indent="0" marL="0">
              <a:lnSpc>
                <a:spcPts val="2400"/>
              </a:lnSpc>
              <a:buNone/>
            </a:pPr>
            <a:r>
              <a:rPr lang="en-US" sz="2000" b="1" dirty="0">
                <a:solidFill>
                  <a:srgbClr val="8A6D0B"/>
                </a:solidFill>
                <a:latin typeface="Cambria" pitchFamily="34" charset="0"/>
                <a:ea typeface="Cambria" pitchFamily="34" charset="-122"/>
                <a:cs typeface="Cambria" pitchFamily="34" charset="-120"/>
              </a:rPr>
              <a:t>LEARNING</a:t>
            </a:r>
            <a:endParaRPr lang="en-US" sz="2000" dirty="0"/>
          </a:p>
        </p:txBody>
      </p:sp>
      <p:sp>
        <p:nvSpPr>
          <p:cNvPr id="10" name="Shape 8"/>
          <p:cNvSpPr/>
          <p:nvPr/>
        </p:nvSpPr>
        <p:spPr>
          <a:xfrm>
            <a:off x="6172200" y="1600200"/>
            <a:ext cx="544068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1" name="Shape 9"/>
          <p:cNvSpPr/>
          <p:nvPr/>
        </p:nvSpPr>
        <p:spPr>
          <a:xfrm>
            <a:off x="6446520" y="1984248"/>
            <a:ext cx="256032" cy="256032"/>
          </a:xfrm>
          <a:prstGeom prst="ellipse">
            <a:avLst/>
          </a:prstGeom>
          <a:solidFill>
            <a:srgbClr val="1E8449"/>
          </a:solidFill>
          <a:ln w="12700">
            <a:solidFill>
              <a:srgbClr val="333333"/>
            </a:solidFill>
            <a:prstDash val="solid"/>
          </a:ln>
        </p:spPr>
      </p:sp>
      <p:sp>
        <p:nvSpPr>
          <p:cNvPr id="12" name="Text 10"/>
          <p:cNvSpPr txBox="1"/>
          <p:nvPr/>
        </p:nvSpPr>
        <p:spPr>
          <a:xfrm>
            <a:off x="6858000" y="1746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Artificial Intelligence</a:t>
            </a:r>
            <a:endParaRPr lang="en-US" sz="1500" dirty="0"/>
          </a:p>
        </p:txBody>
      </p:sp>
      <p:sp>
        <p:nvSpPr>
          <p:cNvPr id="13" name="Text 11"/>
          <p:cNvSpPr txBox="1"/>
          <p:nvPr/>
        </p:nvSpPr>
        <p:spPr>
          <a:xfrm>
            <a:off x="6858000" y="2057400"/>
            <a:ext cx="4526280" cy="5486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Any technique that makes a machine behave intelligently — including hand-coded rules, search and logic. Chess engines of the 1980s were AI with no learning at all.</a:t>
            </a:r>
            <a:endParaRPr lang="en-US" sz="1150" dirty="0"/>
          </a:p>
        </p:txBody>
      </p:sp>
      <p:sp>
        <p:nvSpPr>
          <p:cNvPr id="14" name="Shape 12"/>
          <p:cNvSpPr/>
          <p:nvPr/>
        </p:nvSpPr>
        <p:spPr>
          <a:xfrm>
            <a:off x="6172200" y="2770632"/>
            <a:ext cx="544068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3"/>
          <p:cNvSpPr/>
          <p:nvPr/>
        </p:nvSpPr>
        <p:spPr>
          <a:xfrm>
            <a:off x="6446520" y="3154680"/>
            <a:ext cx="256032" cy="256032"/>
          </a:xfrm>
          <a:prstGeom prst="ellipse">
            <a:avLst/>
          </a:prstGeom>
          <a:solidFill>
            <a:srgbClr val="0F6B3C"/>
          </a:solidFill>
          <a:ln w="12700">
            <a:solidFill>
              <a:srgbClr val="333333"/>
            </a:solidFill>
            <a:prstDash val="solid"/>
          </a:ln>
        </p:spPr>
      </p:sp>
      <p:sp>
        <p:nvSpPr>
          <p:cNvPr id="16" name="Text 14"/>
          <p:cNvSpPr txBox="1"/>
          <p:nvPr/>
        </p:nvSpPr>
        <p:spPr>
          <a:xfrm>
            <a:off x="6858000" y="2916936"/>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Machine Learning</a:t>
            </a:r>
            <a:endParaRPr lang="en-US" sz="1500" dirty="0"/>
          </a:p>
        </p:txBody>
      </p:sp>
      <p:sp>
        <p:nvSpPr>
          <p:cNvPr id="17" name="Text 15"/>
          <p:cNvSpPr txBox="1"/>
          <p:nvPr/>
        </p:nvSpPr>
        <p:spPr>
          <a:xfrm>
            <a:off x="6858000" y="3227832"/>
            <a:ext cx="4526280" cy="5486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The subset of AI where behaviour is learned from data rather than programmed. Decision trees, SVMs, k-means, naive Bayes.</a:t>
            </a:r>
            <a:endParaRPr lang="en-US" sz="1150" dirty="0"/>
          </a:p>
        </p:txBody>
      </p:sp>
      <p:sp>
        <p:nvSpPr>
          <p:cNvPr id="18" name="Shape 16"/>
          <p:cNvSpPr/>
          <p:nvPr/>
        </p:nvSpPr>
        <p:spPr>
          <a:xfrm>
            <a:off x="6172200" y="3941064"/>
            <a:ext cx="544068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9" name="Shape 17"/>
          <p:cNvSpPr/>
          <p:nvPr/>
        </p:nvSpPr>
        <p:spPr>
          <a:xfrm>
            <a:off x="6446520" y="4325112"/>
            <a:ext cx="256032" cy="256032"/>
          </a:xfrm>
          <a:prstGeom prst="ellipse">
            <a:avLst/>
          </a:prstGeom>
          <a:solidFill>
            <a:srgbClr val="C9A227"/>
          </a:solidFill>
          <a:ln w="12700">
            <a:solidFill>
              <a:srgbClr val="333333"/>
            </a:solidFill>
            <a:prstDash val="solid"/>
          </a:ln>
        </p:spPr>
      </p:sp>
      <p:sp>
        <p:nvSpPr>
          <p:cNvPr id="20" name="Text 18"/>
          <p:cNvSpPr txBox="1"/>
          <p:nvPr/>
        </p:nvSpPr>
        <p:spPr>
          <a:xfrm>
            <a:off x="6858000" y="4087368"/>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Deep Learning</a:t>
            </a:r>
            <a:endParaRPr lang="en-US" sz="1500" dirty="0"/>
          </a:p>
        </p:txBody>
      </p:sp>
      <p:sp>
        <p:nvSpPr>
          <p:cNvPr id="21" name="Text 19"/>
          <p:cNvSpPr txBox="1"/>
          <p:nvPr/>
        </p:nvSpPr>
        <p:spPr>
          <a:xfrm>
            <a:off x="6858000" y="4398264"/>
            <a:ext cx="4526280" cy="5486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The subset of ML using many-layered neural networks. Dominates images, audio and language. Needs a lot of data and compute.</a:t>
            </a:r>
            <a:endParaRPr lang="en-US" sz="1150" dirty="0"/>
          </a:p>
        </p:txBody>
      </p:sp>
      <p:sp>
        <p:nvSpPr>
          <p:cNvPr id="22" name="Shape 20"/>
          <p:cNvSpPr/>
          <p:nvPr/>
        </p:nvSpPr>
        <p:spPr>
          <a:xfrm>
            <a:off x="6172200" y="5111496"/>
            <a:ext cx="544068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3" name="Shape 21"/>
          <p:cNvSpPr/>
          <p:nvPr/>
        </p:nvSpPr>
        <p:spPr>
          <a:xfrm>
            <a:off x="6446520" y="5495544"/>
            <a:ext cx="256032" cy="256032"/>
          </a:xfrm>
          <a:prstGeom prst="ellipse">
            <a:avLst/>
          </a:prstGeom>
          <a:solidFill>
            <a:srgbClr val="0E7C61"/>
          </a:solidFill>
          <a:ln w="12700">
            <a:solidFill>
              <a:srgbClr val="333333"/>
            </a:solidFill>
            <a:prstDash val="solid"/>
          </a:ln>
        </p:spPr>
      </p:sp>
      <p:sp>
        <p:nvSpPr>
          <p:cNvPr id="24" name="Text 22"/>
          <p:cNvSpPr txBox="1"/>
          <p:nvPr/>
        </p:nvSpPr>
        <p:spPr>
          <a:xfrm>
            <a:off x="6858000" y="5257800"/>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Data Science</a:t>
            </a:r>
            <a:endParaRPr lang="en-US" sz="1500" dirty="0"/>
          </a:p>
        </p:txBody>
      </p:sp>
      <p:sp>
        <p:nvSpPr>
          <p:cNvPr id="25" name="Text 23"/>
          <p:cNvSpPr txBox="1"/>
          <p:nvPr/>
        </p:nvSpPr>
        <p:spPr>
          <a:xfrm>
            <a:off x="6858000" y="5568696"/>
            <a:ext cx="4526280" cy="5486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 broader profession: asking the question, finding and cleaning the data, analysing, visualising, communicating. ML is one tool in that toolbox.</a:t>
            </a:r>
            <a:endParaRPr lang="en-US" sz="1150" dirty="0"/>
          </a:p>
        </p:txBody>
      </p:sp>
      <p:sp>
        <p:nvSpPr>
          <p:cNvPr id="27" name="Text 2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8" name="Text 2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12</a:t>
            </a:r>
            <a:endParaRPr lang="en-US" sz="900" dirty="0"/>
          </a:p>
        </p:txBody>
      </p:sp>
      <p:pic>
        <p:nvPicPr>
          <p:cNvPr id="29" name="Picture 2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THREE FORCES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Algorithms Are Old. So Why Now?</a:t>
            </a:r>
            <a:endParaRPr lang="en-US" sz="3000" dirty="0"/>
          </a:p>
        </p:txBody>
      </p:sp>
      <p:sp>
        <p:nvSpPr>
          <p:cNvPr id="4" name="Shape 2"/>
          <p:cNvSpPr/>
          <p:nvPr/>
        </p:nvSpPr>
        <p:spPr>
          <a:xfrm>
            <a:off x="548640" y="1600200"/>
            <a:ext cx="3566160" cy="3017520"/>
          </a:xfrm>
          <a:prstGeom prst="roundRect">
            <a:avLst>
              <a:gd name="adj" fmla="val 363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41248" y="1874520"/>
            <a:ext cx="658368" cy="658368"/>
          </a:xfrm>
          <a:prstGeom prst="ellipse">
            <a:avLst/>
          </a:prstGeom>
          <a:solidFill>
            <a:srgbClr val="0F6B3C"/>
          </a:solidFill>
          <a:ln w="12700">
            <a:solidFill>
              <a:srgbClr val="0F6B3C"/>
            </a:solidFill>
            <a:prstDash val="solid"/>
          </a:ln>
        </p:spPr>
      </p:sp>
      <p:pic>
        <p:nvPicPr>
          <p:cNvPr id="6" name="Image 0" descr="preencoded.png">    </p:cNvPr>
          <p:cNvPicPr>
            <a:picLocks noChangeAspect="1"/>
          </p:cNvPicPr>
          <p:nvPr/>
        </p:nvPicPr>
        <p:blipFill>
          <a:blip r:embed="rId1"/>
          <a:stretch>
            <a:fillRect/>
          </a:stretch>
        </p:blipFill>
        <p:spPr>
          <a:xfrm>
            <a:off x="979505" y="2012777"/>
            <a:ext cx="381853" cy="381853"/>
          </a:xfrm>
          <a:prstGeom prst="rect">
            <a:avLst/>
          </a:prstGeom>
        </p:spPr>
      </p:pic>
      <p:sp>
        <p:nvSpPr>
          <p:cNvPr id="7" name="Text 4"/>
          <p:cNvSpPr txBox="1"/>
          <p:nvPr/>
        </p:nvSpPr>
        <p:spPr>
          <a:xfrm>
            <a:off x="841248" y="2670048"/>
            <a:ext cx="3017520" cy="365760"/>
          </a:xfrm>
          <a:prstGeom prst="rect">
            <a:avLst/>
          </a:prstGeom>
          <a:noFill/>
          <a:ln/>
        </p:spPr>
        <p:txBody>
          <a:bodyPr wrap="square" lIns="0" tIns="0" rIns="0" bIns="0" rtlCol="0" anchor="ctr"/>
          <a:lstStyle/>
          <a:p>
            <a:pPr indent="0" marL="0">
              <a:buNone/>
            </a:pPr>
            <a:r>
              <a:rPr lang="en-US" sz="1300" b="1" spc="150" kern="0" dirty="0">
                <a:solidFill>
                  <a:srgbClr val="0F6B3C"/>
                </a:solidFill>
                <a:latin typeface="Calibri" pitchFamily="34" charset="0"/>
                <a:ea typeface="Calibri" pitchFamily="34" charset="-122"/>
                <a:cs typeface="Calibri" pitchFamily="34" charset="-120"/>
              </a:rPr>
              <a:t>DATA</a:t>
            </a:r>
            <a:endParaRPr lang="en-US" sz="1300" dirty="0"/>
          </a:p>
        </p:txBody>
      </p:sp>
      <p:sp>
        <p:nvSpPr>
          <p:cNvPr id="8" name="Text 5"/>
          <p:cNvSpPr txBox="1"/>
          <p:nvPr/>
        </p:nvSpPr>
        <p:spPr>
          <a:xfrm>
            <a:off x="841248" y="3063240"/>
            <a:ext cx="3017520" cy="14630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Smartphones, mobile money, sensors and social platforms generate labelled data continuously. Kenya alone processes billions of mobile-money transactions a year — each one a training example.</a:t>
            </a:r>
            <a:endParaRPr lang="en-US" sz="1200" dirty="0"/>
          </a:p>
        </p:txBody>
      </p:sp>
      <p:sp>
        <p:nvSpPr>
          <p:cNvPr id="9" name="Shape 6"/>
          <p:cNvSpPr/>
          <p:nvPr/>
        </p:nvSpPr>
        <p:spPr>
          <a:xfrm>
            <a:off x="4297680" y="1600200"/>
            <a:ext cx="3566160" cy="3017520"/>
          </a:xfrm>
          <a:prstGeom prst="roundRect">
            <a:avLst>
              <a:gd name="adj" fmla="val 363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4590288" y="1874520"/>
            <a:ext cx="658368" cy="658368"/>
          </a:xfrm>
          <a:prstGeom prst="ellipse">
            <a:avLst/>
          </a:prstGeom>
          <a:solidFill>
            <a:srgbClr val="C9A227"/>
          </a:solidFill>
          <a:ln w="12700">
            <a:solidFill>
              <a:srgbClr val="C9A227"/>
            </a:solidFill>
            <a:prstDash val="solid"/>
          </a:ln>
        </p:spPr>
      </p:sp>
      <p:pic>
        <p:nvPicPr>
          <p:cNvPr id="11" name="Image 1" descr="preencoded.png">    </p:cNvPr>
          <p:cNvPicPr>
            <a:picLocks noChangeAspect="1"/>
          </p:cNvPicPr>
          <p:nvPr/>
        </p:nvPicPr>
        <p:blipFill>
          <a:blip r:embed="rId2"/>
          <a:stretch>
            <a:fillRect/>
          </a:stretch>
        </p:blipFill>
        <p:spPr>
          <a:xfrm>
            <a:off x="4728545" y="2012777"/>
            <a:ext cx="381853" cy="381853"/>
          </a:xfrm>
          <a:prstGeom prst="rect">
            <a:avLst/>
          </a:prstGeom>
        </p:spPr>
      </p:pic>
      <p:sp>
        <p:nvSpPr>
          <p:cNvPr id="12" name="Text 8"/>
          <p:cNvSpPr txBox="1"/>
          <p:nvPr/>
        </p:nvSpPr>
        <p:spPr>
          <a:xfrm>
            <a:off x="4590288" y="2670048"/>
            <a:ext cx="3017520" cy="365760"/>
          </a:xfrm>
          <a:prstGeom prst="rect">
            <a:avLst/>
          </a:prstGeom>
          <a:noFill/>
          <a:ln/>
        </p:spPr>
        <p:txBody>
          <a:bodyPr wrap="square" lIns="0" tIns="0" rIns="0" bIns="0" rtlCol="0" anchor="ctr"/>
          <a:lstStyle/>
          <a:p>
            <a:pPr indent="0" marL="0">
              <a:buNone/>
            </a:pPr>
            <a:r>
              <a:rPr lang="en-US" sz="1300" b="1" spc="150" kern="0" dirty="0">
                <a:solidFill>
                  <a:srgbClr val="C9A227"/>
                </a:solidFill>
                <a:latin typeface="Calibri" pitchFamily="34" charset="0"/>
                <a:ea typeface="Calibri" pitchFamily="34" charset="-122"/>
                <a:cs typeface="Calibri" pitchFamily="34" charset="-120"/>
              </a:rPr>
              <a:t>COMPUTE</a:t>
            </a:r>
            <a:endParaRPr lang="en-US" sz="1300" dirty="0"/>
          </a:p>
        </p:txBody>
      </p:sp>
      <p:sp>
        <p:nvSpPr>
          <p:cNvPr id="13" name="Text 9"/>
          <p:cNvSpPr txBox="1"/>
          <p:nvPr/>
        </p:nvSpPr>
        <p:spPr>
          <a:xfrm>
            <a:off x="4590288" y="3063240"/>
            <a:ext cx="3017520" cy="14630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GPUs made matrix arithmetic hundreds of times cheaper. A student today can train, in a free Colab notebook, a model that needed a research lab in 2010.</a:t>
            </a:r>
            <a:endParaRPr lang="en-US" sz="1200" dirty="0"/>
          </a:p>
        </p:txBody>
      </p:sp>
      <p:sp>
        <p:nvSpPr>
          <p:cNvPr id="14" name="Shape 10"/>
          <p:cNvSpPr/>
          <p:nvPr/>
        </p:nvSpPr>
        <p:spPr>
          <a:xfrm>
            <a:off x="8046720" y="1600200"/>
            <a:ext cx="3566160" cy="3017520"/>
          </a:xfrm>
          <a:prstGeom prst="roundRect">
            <a:avLst>
              <a:gd name="adj" fmla="val 363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8339328" y="1874520"/>
            <a:ext cx="658368" cy="658368"/>
          </a:xfrm>
          <a:prstGeom prst="ellipse">
            <a:avLst/>
          </a:prstGeom>
          <a:solidFill>
            <a:srgbClr val="0E7C61"/>
          </a:solidFill>
          <a:ln w="12700">
            <a:solidFill>
              <a:srgbClr val="0E7C61"/>
            </a:solidFill>
            <a:prstDash val="solid"/>
          </a:ln>
        </p:spPr>
      </p:sp>
      <p:pic>
        <p:nvPicPr>
          <p:cNvPr id="16" name="Image 2" descr="preencoded.png">    </p:cNvPr>
          <p:cNvPicPr>
            <a:picLocks noChangeAspect="1"/>
          </p:cNvPicPr>
          <p:nvPr/>
        </p:nvPicPr>
        <p:blipFill>
          <a:blip r:embed="rId3"/>
          <a:stretch>
            <a:fillRect/>
          </a:stretch>
        </p:blipFill>
        <p:spPr>
          <a:xfrm>
            <a:off x="8477585" y="2012777"/>
            <a:ext cx="381853" cy="381853"/>
          </a:xfrm>
          <a:prstGeom prst="rect">
            <a:avLst/>
          </a:prstGeom>
        </p:spPr>
      </p:pic>
      <p:sp>
        <p:nvSpPr>
          <p:cNvPr id="17" name="Text 12"/>
          <p:cNvSpPr txBox="1"/>
          <p:nvPr/>
        </p:nvSpPr>
        <p:spPr>
          <a:xfrm>
            <a:off x="8339328" y="2670048"/>
            <a:ext cx="3017520" cy="365760"/>
          </a:xfrm>
          <a:prstGeom prst="rect">
            <a:avLst/>
          </a:prstGeom>
          <a:noFill/>
          <a:ln/>
        </p:spPr>
        <p:txBody>
          <a:bodyPr wrap="square" lIns="0" tIns="0" rIns="0" bIns="0" rtlCol="0" anchor="ctr"/>
          <a:lstStyle/>
          <a:p>
            <a:pPr indent="0" marL="0">
              <a:buNone/>
            </a:pPr>
            <a:r>
              <a:rPr lang="en-US" sz="1300" b="1" spc="150" kern="0" dirty="0">
                <a:solidFill>
                  <a:srgbClr val="0E7C61"/>
                </a:solidFill>
                <a:latin typeface="Calibri" pitchFamily="34" charset="0"/>
                <a:ea typeface="Calibri" pitchFamily="34" charset="-122"/>
                <a:cs typeface="Calibri" pitchFamily="34" charset="-120"/>
              </a:rPr>
              <a:t>ALGORITHMS &amp; TOOLS</a:t>
            </a:r>
            <a:endParaRPr lang="en-US" sz="1300" dirty="0"/>
          </a:p>
        </p:txBody>
      </p:sp>
      <p:sp>
        <p:nvSpPr>
          <p:cNvPr id="18" name="Text 13"/>
          <p:cNvSpPr txBox="1"/>
          <p:nvPr/>
        </p:nvSpPr>
        <p:spPr>
          <a:xfrm>
            <a:off x="8339328" y="3063240"/>
            <a:ext cx="3017520" cy="14630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Backpropagation (1986), SVMs (1995), the transformer (2017) — plus open-source scikit-learn, PyTorch and pretrained models anyone can download.</a:t>
            </a:r>
            <a:endParaRPr lang="en-US" sz="1200" dirty="0"/>
          </a:p>
        </p:txBody>
      </p:sp>
      <p:sp>
        <p:nvSpPr>
          <p:cNvPr id="19" name="Shape 14"/>
          <p:cNvSpPr/>
          <p:nvPr/>
        </p:nvSpPr>
        <p:spPr>
          <a:xfrm>
            <a:off x="548640" y="4846320"/>
            <a:ext cx="11064240" cy="1234440"/>
          </a:xfrm>
          <a:prstGeom prst="roundRect">
            <a:avLst>
              <a:gd name="adj" fmla="val 8889"/>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Text 15"/>
          <p:cNvSpPr txBox="1"/>
          <p:nvPr/>
        </p:nvSpPr>
        <p:spPr>
          <a:xfrm>
            <a:off x="914400" y="5074920"/>
            <a:ext cx="10332720" cy="822960"/>
          </a:xfrm>
          <a:prstGeom prst="rect">
            <a:avLst/>
          </a:prstGeom>
          <a:noFill/>
          <a:ln/>
        </p:spPr>
        <p:txBody>
          <a:bodyPr wrap="square" lIns="0" tIns="0" rIns="0" bIns="0" rtlCol="0" anchor="ctr"/>
          <a:lstStyle/>
          <a:p>
            <a:pPr indent="0" marL="0">
              <a:lnSpc>
                <a:spcPts val="2200"/>
              </a:lnSpc>
              <a:buNone/>
            </a:pPr>
            <a:r>
              <a:rPr lang="en-US" sz="1600" i="1" dirty="0">
                <a:solidFill>
                  <a:srgbClr val="0F6B3C"/>
                </a:solidFill>
                <a:latin typeface="Cambria" pitchFamily="34" charset="0"/>
                <a:ea typeface="Cambria" pitchFamily="34" charset="-122"/>
                <a:cs typeface="Cambria" pitchFamily="34" charset="-120"/>
              </a:rPr>
              <a:t>The idea that a machine could learn from examples was published before Kenya's independence. What changed is that the data and the hardware finally caught up with the mathematics.</a:t>
            </a:r>
            <a:endParaRPr lang="en-US" sz="1600" dirty="0"/>
          </a:p>
        </p:txBody>
      </p:sp>
      <p:sp>
        <p:nvSpPr>
          <p:cNvPr id="22" name="Text 16"/>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3" name="Text 17"/>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13</a:t>
            </a:r>
            <a:endParaRPr lang="en-US" sz="900" dirty="0"/>
          </a:p>
        </p:txBody>
      </p:sp>
      <p:pic>
        <p:nvPicPr>
          <p:cNvPr id="24" name="Picture 23" descr="must_logo.png"/>
          <p:cNvPicPr>
            <a:picLocks noChangeAspect="1"/>
          </p:cNvPicPr>
          <p:nvPr/>
        </p:nvPicPr>
        <p:blipFill>
          <a:blip r:embed="rId6"/>
          <a:stretch>
            <a:fillRect/>
          </a:stretch>
        </p:blipFill>
        <p:spPr>
          <a:xfrm>
            <a:off x="11016642" y="274320"/>
            <a:ext cx="699565" cy="6583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IT IS NOT A FOREIGN TECHNOLOGY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Machine Learning Already Deployed In Kenya</a:t>
            </a:r>
            <a:endParaRPr lang="en-US" sz="3000" dirty="0"/>
          </a:p>
        </p:txBody>
      </p:sp>
      <p:sp>
        <p:nvSpPr>
          <p:cNvPr id="4" name="Shape 2"/>
          <p:cNvSpPr/>
          <p:nvPr/>
        </p:nvSpPr>
        <p:spPr>
          <a:xfrm>
            <a:off x="548640" y="1600200"/>
            <a:ext cx="3566160" cy="2148840"/>
          </a:xfrm>
          <a:prstGeom prst="roundRect">
            <a:avLst>
              <a:gd name="adj" fmla="val 5106"/>
            </a:avLst>
          </a:prstGeom>
          <a:solidFill>
            <a:srgbClr val="FFFFFF"/>
          </a:solidFill>
          <a:ln w="15875">
            <a:solidFill>
              <a:srgbClr val="D9E3DB"/>
            </a:solidFill>
            <a:prstDash val="solid"/>
          </a:ln>
        </p:spPr>
      </p:sp>
      <p:sp>
        <p:nvSpPr>
          <p:cNvPr id="5" name="Shape 3"/>
          <p:cNvSpPr/>
          <p:nvPr/>
        </p:nvSpPr>
        <p:spPr>
          <a:xfrm>
            <a:off x="804672" y="1837944"/>
            <a:ext cx="384048" cy="109728"/>
          </a:xfrm>
          <a:prstGeom prst="roundRect">
            <a:avLst>
              <a:gd name="adj" fmla="val 50000"/>
            </a:avLst>
          </a:prstGeom>
          <a:solidFill>
            <a:srgbClr val="0F6B3C"/>
          </a:solidFill>
          <a:ln w="12700">
            <a:solidFill>
              <a:srgbClr val="333333"/>
            </a:solidFill>
            <a:prstDash val="solid"/>
          </a:ln>
        </p:spPr>
      </p:sp>
      <p:sp>
        <p:nvSpPr>
          <p:cNvPr id="6" name="Text 4"/>
          <p:cNvSpPr txBox="1"/>
          <p:nvPr/>
        </p:nvSpPr>
        <p:spPr>
          <a:xfrm>
            <a:off x="804672" y="2039112"/>
            <a:ext cx="3063240" cy="658368"/>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Mobile-money credit scoring</a:t>
            </a:r>
            <a:endParaRPr lang="en-US" sz="1500" dirty="0"/>
          </a:p>
        </p:txBody>
      </p:sp>
      <p:sp>
        <p:nvSpPr>
          <p:cNvPr id="7" name="Text 5"/>
          <p:cNvSpPr txBox="1"/>
          <p:nvPr/>
        </p:nvSpPr>
        <p:spPr>
          <a:xfrm>
            <a:off x="804672" y="2715768"/>
            <a:ext cx="3081528" cy="9144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Digital lenders and bank products score micro-loans in seconds using transaction history and phone-usage patterns instead of collateral or payslips.</a:t>
            </a:r>
            <a:endParaRPr lang="en-US" sz="1150" dirty="0"/>
          </a:p>
        </p:txBody>
      </p:sp>
      <p:sp>
        <p:nvSpPr>
          <p:cNvPr id="8" name="Shape 6"/>
          <p:cNvSpPr/>
          <p:nvPr/>
        </p:nvSpPr>
        <p:spPr>
          <a:xfrm>
            <a:off x="4297680" y="1600200"/>
            <a:ext cx="3566160" cy="2148840"/>
          </a:xfrm>
          <a:prstGeom prst="roundRect">
            <a:avLst>
              <a:gd name="adj" fmla="val 5106"/>
            </a:avLst>
          </a:prstGeom>
          <a:solidFill>
            <a:srgbClr val="FFFFFF"/>
          </a:solidFill>
          <a:ln w="15875">
            <a:solidFill>
              <a:srgbClr val="D9E3DB"/>
            </a:solidFill>
            <a:prstDash val="solid"/>
          </a:ln>
        </p:spPr>
      </p:sp>
      <p:sp>
        <p:nvSpPr>
          <p:cNvPr id="9" name="Shape 7"/>
          <p:cNvSpPr/>
          <p:nvPr/>
        </p:nvSpPr>
        <p:spPr>
          <a:xfrm>
            <a:off x="4553712" y="1837944"/>
            <a:ext cx="384048" cy="109728"/>
          </a:xfrm>
          <a:prstGeom prst="roundRect">
            <a:avLst>
              <a:gd name="adj" fmla="val 50000"/>
            </a:avLst>
          </a:prstGeom>
          <a:solidFill>
            <a:srgbClr val="0E7C61"/>
          </a:solidFill>
          <a:ln w="12700">
            <a:solidFill>
              <a:srgbClr val="333333"/>
            </a:solidFill>
            <a:prstDash val="solid"/>
          </a:ln>
        </p:spPr>
      </p:sp>
      <p:sp>
        <p:nvSpPr>
          <p:cNvPr id="10" name="Text 8"/>
          <p:cNvSpPr txBox="1"/>
          <p:nvPr/>
        </p:nvSpPr>
        <p:spPr>
          <a:xfrm>
            <a:off x="4553712" y="2039112"/>
            <a:ext cx="3063240" cy="658368"/>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Crop disease diagnosis by phone</a:t>
            </a:r>
            <a:endParaRPr lang="en-US" sz="1500" dirty="0"/>
          </a:p>
        </p:txBody>
      </p:sp>
      <p:sp>
        <p:nvSpPr>
          <p:cNvPr id="11" name="Text 9"/>
          <p:cNvSpPr txBox="1"/>
          <p:nvPr/>
        </p:nvSpPr>
        <p:spPr>
          <a:xfrm>
            <a:off x="4553712" y="2715768"/>
            <a:ext cx="3081528" cy="9144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Smartphone apps built on image classifiers (e.g. PlantVillage Nuru) let a farmer photograph a cassava or maize leaf and get a diagnosis offline in the field.</a:t>
            </a:r>
            <a:endParaRPr lang="en-US" sz="1150" dirty="0"/>
          </a:p>
        </p:txBody>
      </p:sp>
      <p:sp>
        <p:nvSpPr>
          <p:cNvPr id="12" name="Shape 10"/>
          <p:cNvSpPr/>
          <p:nvPr/>
        </p:nvSpPr>
        <p:spPr>
          <a:xfrm>
            <a:off x="8046720" y="1600200"/>
            <a:ext cx="3566160" cy="2148840"/>
          </a:xfrm>
          <a:prstGeom prst="roundRect">
            <a:avLst>
              <a:gd name="adj" fmla="val 5106"/>
            </a:avLst>
          </a:prstGeom>
          <a:solidFill>
            <a:srgbClr val="FFFFFF"/>
          </a:solidFill>
          <a:ln w="15875">
            <a:solidFill>
              <a:srgbClr val="D9E3DB"/>
            </a:solidFill>
            <a:prstDash val="solid"/>
          </a:ln>
        </p:spPr>
      </p:sp>
      <p:sp>
        <p:nvSpPr>
          <p:cNvPr id="13" name="Shape 11"/>
          <p:cNvSpPr/>
          <p:nvPr/>
        </p:nvSpPr>
        <p:spPr>
          <a:xfrm>
            <a:off x="8302752" y="1837944"/>
            <a:ext cx="384048" cy="109728"/>
          </a:xfrm>
          <a:prstGeom prst="roundRect">
            <a:avLst>
              <a:gd name="adj" fmla="val 50000"/>
            </a:avLst>
          </a:prstGeom>
          <a:solidFill>
            <a:srgbClr val="9C3B2E"/>
          </a:solidFill>
          <a:ln w="12700">
            <a:solidFill>
              <a:srgbClr val="333333"/>
            </a:solidFill>
            <a:prstDash val="solid"/>
          </a:ln>
        </p:spPr>
      </p:sp>
      <p:sp>
        <p:nvSpPr>
          <p:cNvPr id="14" name="Text 12"/>
          <p:cNvSpPr txBox="1"/>
          <p:nvPr/>
        </p:nvSpPr>
        <p:spPr>
          <a:xfrm>
            <a:off x="8302752" y="2039112"/>
            <a:ext cx="3063240" cy="658368"/>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Maternal health SMS triage</a:t>
            </a:r>
            <a:endParaRPr lang="en-US" sz="1500" dirty="0"/>
          </a:p>
        </p:txBody>
      </p:sp>
      <p:sp>
        <p:nvSpPr>
          <p:cNvPr id="15" name="Text 13"/>
          <p:cNvSpPr txBox="1"/>
          <p:nvPr/>
        </p:nvSpPr>
        <p:spPr>
          <a:xfrm>
            <a:off x="8302752" y="2715768"/>
            <a:ext cx="3081528" cy="9144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Jacaranda Health's PROMPTS service uses NLP to triage thousands of incoming SMS questions from mothers and escalate the urgent ones to nurses.</a:t>
            </a:r>
            <a:endParaRPr lang="en-US" sz="1150" dirty="0"/>
          </a:p>
        </p:txBody>
      </p:sp>
      <p:sp>
        <p:nvSpPr>
          <p:cNvPr id="16" name="Shape 14"/>
          <p:cNvSpPr/>
          <p:nvPr/>
        </p:nvSpPr>
        <p:spPr>
          <a:xfrm>
            <a:off x="548640" y="3931920"/>
            <a:ext cx="3566160" cy="2148840"/>
          </a:xfrm>
          <a:prstGeom prst="roundRect">
            <a:avLst>
              <a:gd name="adj" fmla="val 5106"/>
            </a:avLst>
          </a:prstGeom>
          <a:solidFill>
            <a:srgbClr val="FFFFFF"/>
          </a:solidFill>
          <a:ln w="15875">
            <a:solidFill>
              <a:srgbClr val="D9E3DB"/>
            </a:solidFill>
            <a:prstDash val="solid"/>
          </a:ln>
        </p:spPr>
      </p:sp>
      <p:sp>
        <p:nvSpPr>
          <p:cNvPr id="17" name="Shape 15"/>
          <p:cNvSpPr/>
          <p:nvPr/>
        </p:nvSpPr>
        <p:spPr>
          <a:xfrm>
            <a:off x="804672" y="4169664"/>
            <a:ext cx="384048" cy="109728"/>
          </a:xfrm>
          <a:prstGeom prst="roundRect">
            <a:avLst>
              <a:gd name="adj" fmla="val 50000"/>
            </a:avLst>
          </a:prstGeom>
          <a:solidFill>
            <a:srgbClr val="C9A227"/>
          </a:solidFill>
          <a:ln w="12700">
            <a:solidFill>
              <a:srgbClr val="333333"/>
            </a:solidFill>
            <a:prstDash val="solid"/>
          </a:ln>
        </p:spPr>
      </p:sp>
      <p:sp>
        <p:nvSpPr>
          <p:cNvPr id="18" name="Text 16"/>
          <p:cNvSpPr txBox="1"/>
          <p:nvPr/>
        </p:nvSpPr>
        <p:spPr>
          <a:xfrm>
            <a:off x="804672" y="4370832"/>
            <a:ext cx="3063240" cy="658368"/>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Wildlife and conservation</a:t>
            </a:r>
            <a:endParaRPr lang="en-US" sz="1500" dirty="0"/>
          </a:p>
        </p:txBody>
      </p:sp>
      <p:sp>
        <p:nvSpPr>
          <p:cNvPr id="19" name="Text 17"/>
          <p:cNvSpPr txBox="1"/>
          <p:nvPr/>
        </p:nvSpPr>
        <p:spPr>
          <a:xfrm>
            <a:off x="804672" y="5047488"/>
            <a:ext cx="3081528" cy="9144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Camera-trap image models and acoustic detectors flag poaching activity in conservancies far faster than human review of footage.</a:t>
            </a:r>
            <a:endParaRPr lang="en-US" sz="1150" dirty="0"/>
          </a:p>
        </p:txBody>
      </p:sp>
      <p:sp>
        <p:nvSpPr>
          <p:cNvPr id="20" name="Shape 18"/>
          <p:cNvSpPr/>
          <p:nvPr/>
        </p:nvSpPr>
        <p:spPr>
          <a:xfrm>
            <a:off x="4297680" y="3931920"/>
            <a:ext cx="3566160" cy="2148840"/>
          </a:xfrm>
          <a:prstGeom prst="roundRect">
            <a:avLst>
              <a:gd name="adj" fmla="val 5106"/>
            </a:avLst>
          </a:prstGeom>
          <a:solidFill>
            <a:srgbClr val="FFFFFF"/>
          </a:solidFill>
          <a:ln w="15875">
            <a:solidFill>
              <a:srgbClr val="D9E3DB"/>
            </a:solidFill>
            <a:prstDash val="solid"/>
          </a:ln>
        </p:spPr>
      </p:sp>
      <p:sp>
        <p:nvSpPr>
          <p:cNvPr id="21" name="Shape 19"/>
          <p:cNvSpPr/>
          <p:nvPr/>
        </p:nvSpPr>
        <p:spPr>
          <a:xfrm>
            <a:off x="4553712" y="4169664"/>
            <a:ext cx="384048" cy="109728"/>
          </a:xfrm>
          <a:prstGeom prst="roundRect">
            <a:avLst>
              <a:gd name="adj" fmla="val 50000"/>
            </a:avLst>
          </a:prstGeom>
          <a:solidFill>
            <a:srgbClr val="1E8449"/>
          </a:solidFill>
          <a:ln w="12700">
            <a:solidFill>
              <a:srgbClr val="333333"/>
            </a:solidFill>
            <a:prstDash val="solid"/>
          </a:ln>
        </p:spPr>
      </p:sp>
      <p:sp>
        <p:nvSpPr>
          <p:cNvPr id="22" name="Text 20"/>
          <p:cNvSpPr txBox="1"/>
          <p:nvPr/>
        </p:nvSpPr>
        <p:spPr>
          <a:xfrm>
            <a:off x="4553712" y="4370832"/>
            <a:ext cx="3063240" cy="658368"/>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Insurance and weather risk</a:t>
            </a:r>
            <a:endParaRPr lang="en-US" sz="1500" dirty="0"/>
          </a:p>
        </p:txBody>
      </p:sp>
      <p:sp>
        <p:nvSpPr>
          <p:cNvPr id="23" name="Text 21"/>
          <p:cNvSpPr txBox="1"/>
          <p:nvPr/>
        </p:nvSpPr>
        <p:spPr>
          <a:xfrm>
            <a:off x="4553712" y="5047488"/>
            <a:ext cx="3081528" cy="9144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Index-based crop insurance uses satellite imagery and rainfall models to trigger payouts without a physical field visit.</a:t>
            </a:r>
            <a:endParaRPr lang="en-US" sz="1150" dirty="0"/>
          </a:p>
        </p:txBody>
      </p:sp>
      <p:sp>
        <p:nvSpPr>
          <p:cNvPr id="24" name="Shape 22"/>
          <p:cNvSpPr/>
          <p:nvPr/>
        </p:nvSpPr>
        <p:spPr>
          <a:xfrm>
            <a:off x="8046720" y="3931920"/>
            <a:ext cx="3566160" cy="2148840"/>
          </a:xfrm>
          <a:prstGeom prst="roundRect">
            <a:avLst>
              <a:gd name="adj" fmla="val 5106"/>
            </a:avLst>
          </a:prstGeom>
          <a:solidFill>
            <a:srgbClr val="FFFFFF"/>
          </a:solidFill>
          <a:ln w="15875">
            <a:solidFill>
              <a:srgbClr val="D9E3DB"/>
            </a:solidFill>
            <a:prstDash val="solid"/>
          </a:ln>
        </p:spPr>
      </p:sp>
      <p:sp>
        <p:nvSpPr>
          <p:cNvPr id="25" name="Shape 23"/>
          <p:cNvSpPr/>
          <p:nvPr/>
        </p:nvSpPr>
        <p:spPr>
          <a:xfrm>
            <a:off x="8302752" y="4169664"/>
            <a:ext cx="384048" cy="109728"/>
          </a:xfrm>
          <a:prstGeom prst="roundRect">
            <a:avLst>
              <a:gd name="adj" fmla="val 50000"/>
            </a:avLst>
          </a:prstGeom>
          <a:solidFill>
            <a:srgbClr val="0E7C61"/>
          </a:solidFill>
          <a:ln w="12700">
            <a:solidFill>
              <a:srgbClr val="333333"/>
            </a:solidFill>
            <a:prstDash val="solid"/>
          </a:ln>
        </p:spPr>
      </p:sp>
      <p:sp>
        <p:nvSpPr>
          <p:cNvPr id="26" name="Text 24"/>
          <p:cNvSpPr txBox="1"/>
          <p:nvPr/>
        </p:nvSpPr>
        <p:spPr>
          <a:xfrm>
            <a:off x="8302752" y="4370832"/>
            <a:ext cx="3063240" cy="658368"/>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A local ML community</a:t>
            </a:r>
            <a:endParaRPr lang="en-US" sz="1500" dirty="0"/>
          </a:p>
        </p:txBody>
      </p:sp>
      <p:sp>
        <p:nvSpPr>
          <p:cNvPr id="27" name="Text 25"/>
          <p:cNvSpPr txBox="1"/>
          <p:nvPr/>
        </p:nvSpPr>
        <p:spPr>
          <a:xfrm>
            <a:off x="8302752" y="5047488"/>
            <a:ext cx="3081528" cy="91440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Zindi hosts African data science competitions; Deep Learning Indaba and Data Science Africa run annually. Kenyan students win these.</a:t>
            </a:r>
            <a:endParaRPr lang="en-US" sz="1150" dirty="0"/>
          </a:p>
        </p:txBody>
      </p:sp>
      <p:sp>
        <p:nvSpPr>
          <p:cNvPr id="29" name="Text 26"/>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0" name="Text 27"/>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14</a:t>
            </a:r>
            <a:endParaRPr lang="en-US" sz="900" dirty="0"/>
          </a:p>
        </p:txBody>
      </p:sp>
      <p:pic>
        <p:nvPicPr>
          <p:cNvPr id="31" name="Picture 30"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WHAT THE SAME IDEAS ARE DOING GLOBALLY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And At The Frontier</a:t>
            </a:r>
            <a:endParaRPr lang="en-US" sz="3000" dirty="0"/>
          </a:p>
        </p:txBody>
      </p:sp>
      <p:sp>
        <p:nvSpPr>
          <p:cNvPr id="4" name="Shape 2"/>
          <p:cNvSpPr/>
          <p:nvPr/>
        </p:nvSpPr>
        <p:spPr>
          <a:xfrm>
            <a:off x="548640" y="1554480"/>
            <a:ext cx="11064240" cy="1024128"/>
          </a:xfrm>
          <a:prstGeom prst="roundRect">
            <a:avLst>
              <a:gd name="adj" fmla="val 10714"/>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68680" y="1792224"/>
            <a:ext cx="548640" cy="548640"/>
          </a:xfrm>
          <a:prstGeom prst="ellipse">
            <a:avLst/>
          </a:prstGeom>
          <a:solidFill>
            <a:srgbClr val="0F6B3C"/>
          </a:solidFill>
          <a:ln w="12700">
            <a:solidFill>
              <a:srgbClr val="0F6B3C"/>
            </a:solidFill>
            <a:prstDash val="solid"/>
          </a:ln>
        </p:spPr>
      </p:sp>
      <p:pic>
        <p:nvPicPr>
          <p:cNvPr id="6" name="Image 0" descr="preencoded.png">    </p:cNvPr>
          <p:cNvPicPr>
            <a:picLocks noChangeAspect="1"/>
          </p:cNvPicPr>
          <p:nvPr/>
        </p:nvPicPr>
        <p:blipFill>
          <a:blip r:embed="rId1"/>
          <a:stretch>
            <a:fillRect/>
          </a:stretch>
        </p:blipFill>
        <p:spPr>
          <a:xfrm>
            <a:off x="983894" y="1907438"/>
            <a:ext cx="318211" cy="318211"/>
          </a:xfrm>
          <a:prstGeom prst="rect">
            <a:avLst/>
          </a:prstGeom>
        </p:spPr>
      </p:pic>
      <p:sp>
        <p:nvSpPr>
          <p:cNvPr id="7" name="Text 4"/>
          <p:cNvSpPr txBox="1"/>
          <p:nvPr/>
        </p:nvSpPr>
        <p:spPr>
          <a:xfrm>
            <a:off x="1600200" y="1691640"/>
            <a:ext cx="960120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Large language models</a:t>
            </a:r>
            <a:endParaRPr lang="en-US" sz="1600" dirty="0"/>
          </a:p>
        </p:txBody>
      </p:sp>
      <p:sp>
        <p:nvSpPr>
          <p:cNvPr id="8" name="Text 5"/>
          <p:cNvSpPr txBox="1"/>
          <p:nvPr/>
        </p:nvSpPr>
        <p:spPr>
          <a:xfrm>
            <a:off x="1600200" y="2020824"/>
            <a:ext cx="9692640" cy="502920"/>
          </a:xfrm>
          <a:prstGeom prst="rect">
            <a:avLst/>
          </a:prstGeom>
          <a:noFill/>
          <a:ln/>
        </p:spPr>
        <p:txBody>
          <a:bodyPr wrap="square" lIns="0" tIns="0" rIns="0" bIns="0" rtlCol="0" anchor="ctr"/>
          <a:lstStyle/>
          <a:p>
            <a:pPr indent="0" marL="0">
              <a:lnSpc>
                <a:spcPts val="1600"/>
              </a:lnSpc>
              <a:buNone/>
            </a:pPr>
            <a:r>
              <a:rPr lang="en-US" sz="1250" dirty="0">
                <a:solidFill>
                  <a:srgbClr val="5C6B60"/>
                </a:solidFill>
                <a:latin typeface="Calibri" pitchFamily="34" charset="0"/>
                <a:ea typeface="Calibri" pitchFamily="34" charset="-122"/>
                <a:cs typeface="Calibri" pitchFamily="34" charset="-120"/>
              </a:rPr>
              <a:t>ChatGPT, Claude and Gemini are next-token predictors trained on enormous text corpora. The learning principle is the one in Lecture 2 — only the scale is different.</a:t>
            </a:r>
            <a:endParaRPr lang="en-US" sz="1250" dirty="0"/>
          </a:p>
        </p:txBody>
      </p:sp>
      <p:sp>
        <p:nvSpPr>
          <p:cNvPr id="9" name="Shape 6"/>
          <p:cNvSpPr/>
          <p:nvPr/>
        </p:nvSpPr>
        <p:spPr>
          <a:xfrm>
            <a:off x="548640" y="2697480"/>
            <a:ext cx="11064240" cy="1024128"/>
          </a:xfrm>
          <a:prstGeom prst="roundRect">
            <a:avLst>
              <a:gd name="adj" fmla="val 10714"/>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868680" y="2935224"/>
            <a:ext cx="548640" cy="548640"/>
          </a:xfrm>
          <a:prstGeom prst="ellipse">
            <a:avLst/>
          </a:prstGeom>
          <a:solidFill>
            <a:srgbClr val="0F6B3C"/>
          </a:solidFill>
          <a:ln w="12700">
            <a:solidFill>
              <a:srgbClr val="0F6B3C"/>
            </a:solidFill>
            <a:prstDash val="solid"/>
          </a:ln>
        </p:spPr>
      </p:sp>
      <p:pic>
        <p:nvPicPr>
          <p:cNvPr id="11" name="Image 1" descr="preencoded.png">    </p:cNvPr>
          <p:cNvPicPr>
            <a:picLocks noChangeAspect="1"/>
          </p:cNvPicPr>
          <p:nvPr/>
        </p:nvPicPr>
        <p:blipFill>
          <a:blip r:embed="rId2"/>
          <a:stretch>
            <a:fillRect/>
          </a:stretch>
        </p:blipFill>
        <p:spPr>
          <a:xfrm>
            <a:off x="983894" y="3050438"/>
            <a:ext cx="318211" cy="318211"/>
          </a:xfrm>
          <a:prstGeom prst="rect">
            <a:avLst/>
          </a:prstGeom>
        </p:spPr>
      </p:pic>
      <p:sp>
        <p:nvSpPr>
          <p:cNvPr id="12" name="Text 8"/>
          <p:cNvSpPr txBox="1"/>
          <p:nvPr/>
        </p:nvSpPr>
        <p:spPr>
          <a:xfrm>
            <a:off x="1600200" y="2834640"/>
            <a:ext cx="960120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Protein structure prediction</a:t>
            </a:r>
            <a:endParaRPr lang="en-US" sz="1600" dirty="0"/>
          </a:p>
        </p:txBody>
      </p:sp>
      <p:sp>
        <p:nvSpPr>
          <p:cNvPr id="13" name="Text 9"/>
          <p:cNvSpPr txBox="1"/>
          <p:nvPr/>
        </p:nvSpPr>
        <p:spPr>
          <a:xfrm>
            <a:off x="1600200" y="3163824"/>
            <a:ext cx="9692640" cy="502920"/>
          </a:xfrm>
          <a:prstGeom prst="rect">
            <a:avLst/>
          </a:prstGeom>
          <a:noFill/>
          <a:ln/>
        </p:spPr>
        <p:txBody>
          <a:bodyPr wrap="square" lIns="0" tIns="0" rIns="0" bIns="0" rtlCol="0" anchor="ctr"/>
          <a:lstStyle/>
          <a:p>
            <a:pPr indent="0" marL="0">
              <a:lnSpc>
                <a:spcPts val="1600"/>
              </a:lnSpc>
              <a:buNone/>
            </a:pPr>
            <a:r>
              <a:rPr lang="en-US" sz="1250" dirty="0">
                <a:solidFill>
                  <a:srgbClr val="5C6B60"/>
                </a:solidFill>
                <a:latin typeface="Calibri" pitchFamily="34" charset="0"/>
                <a:ea typeface="Calibri" pitchFamily="34" charset="-122"/>
                <a:cs typeface="Calibri" pitchFamily="34" charset="-120"/>
              </a:rPr>
              <a:t>AlphaFold predicted structures for essentially every known protein, a problem biologists had worked on for fifty years. It won the 2024 Nobel Prize in Chemistry.</a:t>
            </a:r>
            <a:endParaRPr lang="en-US" sz="1250" dirty="0"/>
          </a:p>
        </p:txBody>
      </p:sp>
      <p:sp>
        <p:nvSpPr>
          <p:cNvPr id="14" name="Shape 10"/>
          <p:cNvSpPr/>
          <p:nvPr/>
        </p:nvSpPr>
        <p:spPr>
          <a:xfrm>
            <a:off x="548640" y="3840480"/>
            <a:ext cx="11064240" cy="1024128"/>
          </a:xfrm>
          <a:prstGeom prst="roundRect">
            <a:avLst>
              <a:gd name="adj" fmla="val 10714"/>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868680" y="4078224"/>
            <a:ext cx="548640" cy="548640"/>
          </a:xfrm>
          <a:prstGeom prst="ellipse">
            <a:avLst/>
          </a:prstGeom>
          <a:solidFill>
            <a:srgbClr val="0F6B3C"/>
          </a:solidFill>
          <a:ln w="12700">
            <a:solidFill>
              <a:srgbClr val="0F6B3C"/>
            </a:solidFill>
            <a:prstDash val="solid"/>
          </a:ln>
        </p:spPr>
      </p:sp>
      <p:pic>
        <p:nvPicPr>
          <p:cNvPr id="16" name="Image 2" descr="preencoded.png">    </p:cNvPr>
          <p:cNvPicPr>
            <a:picLocks noChangeAspect="1"/>
          </p:cNvPicPr>
          <p:nvPr/>
        </p:nvPicPr>
        <p:blipFill>
          <a:blip r:embed="rId3"/>
          <a:stretch>
            <a:fillRect/>
          </a:stretch>
        </p:blipFill>
        <p:spPr>
          <a:xfrm>
            <a:off x="983894" y="4193438"/>
            <a:ext cx="318211" cy="318211"/>
          </a:xfrm>
          <a:prstGeom prst="rect">
            <a:avLst/>
          </a:prstGeom>
        </p:spPr>
      </p:pic>
      <p:sp>
        <p:nvSpPr>
          <p:cNvPr id="17" name="Text 12"/>
          <p:cNvSpPr txBox="1"/>
          <p:nvPr/>
        </p:nvSpPr>
        <p:spPr>
          <a:xfrm>
            <a:off x="1600200" y="3977640"/>
            <a:ext cx="960120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Weather forecasting</a:t>
            </a:r>
            <a:endParaRPr lang="en-US" sz="1600" dirty="0"/>
          </a:p>
        </p:txBody>
      </p:sp>
      <p:sp>
        <p:nvSpPr>
          <p:cNvPr id="18" name="Text 13"/>
          <p:cNvSpPr txBox="1"/>
          <p:nvPr/>
        </p:nvSpPr>
        <p:spPr>
          <a:xfrm>
            <a:off x="1600200" y="4306824"/>
            <a:ext cx="9692640" cy="502920"/>
          </a:xfrm>
          <a:prstGeom prst="rect">
            <a:avLst/>
          </a:prstGeom>
          <a:noFill/>
          <a:ln/>
        </p:spPr>
        <p:txBody>
          <a:bodyPr wrap="square" lIns="0" tIns="0" rIns="0" bIns="0" rtlCol="0" anchor="ctr"/>
          <a:lstStyle/>
          <a:p>
            <a:pPr indent="0" marL="0">
              <a:lnSpc>
                <a:spcPts val="1600"/>
              </a:lnSpc>
              <a:buNone/>
            </a:pPr>
            <a:r>
              <a:rPr lang="en-US" sz="1250" dirty="0">
                <a:solidFill>
                  <a:srgbClr val="5C6B60"/>
                </a:solidFill>
                <a:latin typeface="Calibri" pitchFamily="34" charset="0"/>
                <a:ea typeface="Calibri" pitchFamily="34" charset="-122"/>
                <a:cs typeface="Calibri" pitchFamily="34" charset="-120"/>
              </a:rPr>
              <a:t>ML weather models now match or beat traditional physics simulations on many measures, and run in minutes rather than hours on a supercomputer.</a:t>
            </a:r>
            <a:endParaRPr lang="en-US" sz="1250" dirty="0"/>
          </a:p>
        </p:txBody>
      </p:sp>
      <p:sp>
        <p:nvSpPr>
          <p:cNvPr id="19" name="Shape 14"/>
          <p:cNvSpPr/>
          <p:nvPr/>
        </p:nvSpPr>
        <p:spPr>
          <a:xfrm>
            <a:off x="548640" y="4983480"/>
            <a:ext cx="11064240" cy="1024128"/>
          </a:xfrm>
          <a:prstGeom prst="roundRect">
            <a:avLst>
              <a:gd name="adj" fmla="val 10714"/>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5"/>
          <p:cNvSpPr/>
          <p:nvPr/>
        </p:nvSpPr>
        <p:spPr>
          <a:xfrm>
            <a:off x="868680" y="5221224"/>
            <a:ext cx="548640" cy="548640"/>
          </a:xfrm>
          <a:prstGeom prst="ellipse">
            <a:avLst/>
          </a:prstGeom>
          <a:solidFill>
            <a:srgbClr val="0F6B3C"/>
          </a:solidFill>
          <a:ln w="12700">
            <a:solidFill>
              <a:srgbClr val="0F6B3C"/>
            </a:solidFill>
            <a:prstDash val="solid"/>
          </a:ln>
        </p:spPr>
      </p:sp>
      <p:pic>
        <p:nvPicPr>
          <p:cNvPr id="21" name="Image 3" descr="preencoded.png">    </p:cNvPr>
          <p:cNvPicPr>
            <a:picLocks noChangeAspect="1"/>
          </p:cNvPicPr>
          <p:nvPr/>
        </p:nvPicPr>
        <p:blipFill>
          <a:blip r:embed="rId4"/>
          <a:stretch>
            <a:fillRect/>
          </a:stretch>
        </p:blipFill>
        <p:spPr>
          <a:xfrm>
            <a:off x="983894" y="5336438"/>
            <a:ext cx="318211" cy="318211"/>
          </a:xfrm>
          <a:prstGeom prst="rect">
            <a:avLst/>
          </a:prstGeom>
        </p:spPr>
      </p:pic>
      <p:sp>
        <p:nvSpPr>
          <p:cNvPr id="22" name="Text 16"/>
          <p:cNvSpPr txBox="1"/>
          <p:nvPr/>
        </p:nvSpPr>
        <p:spPr>
          <a:xfrm>
            <a:off x="1600200" y="5120640"/>
            <a:ext cx="960120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Medical imaging</a:t>
            </a:r>
            <a:endParaRPr lang="en-US" sz="1600" dirty="0"/>
          </a:p>
        </p:txBody>
      </p:sp>
      <p:sp>
        <p:nvSpPr>
          <p:cNvPr id="23" name="Text 17"/>
          <p:cNvSpPr txBox="1"/>
          <p:nvPr/>
        </p:nvSpPr>
        <p:spPr>
          <a:xfrm>
            <a:off x="1600200" y="5449824"/>
            <a:ext cx="9692640" cy="502920"/>
          </a:xfrm>
          <a:prstGeom prst="rect">
            <a:avLst/>
          </a:prstGeom>
          <a:noFill/>
          <a:ln/>
        </p:spPr>
        <p:txBody>
          <a:bodyPr wrap="square" lIns="0" tIns="0" rIns="0" bIns="0" rtlCol="0" anchor="ctr"/>
          <a:lstStyle/>
          <a:p>
            <a:pPr indent="0" marL="0">
              <a:lnSpc>
                <a:spcPts val="1600"/>
              </a:lnSpc>
              <a:buNone/>
            </a:pPr>
            <a:r>
              <a:rPr lang="en-US" sz="1250" dirty="0">
                <a:solidFill>
                  <a:srgbClr val="5C6B60"/>
                </a:solidFill>
                <a:latin typeface="Calibri" pitchFamily="34" charset="0"/>
                <a:ea typeface="Calibri" pitchFamily="34" charset="-122"/>
                <a:cs typeface="Calibri" pitchFamily="34" charset="-120"/>
              </a:rPr>
              <a:t>Models detect diabetic retinopathy, TB on chest X-rays and cancers on scans — a real opportunity where specialist radiologists are scarce.</a:t>
            </a:r>
            <a:endParaRPr lang="en-US" sz="1250" dirty="0"/>
          </a:p>
        </p:txBody>
      </p:sp>
      <p:sp>
        <p:nvSpPr>
          <p:cNvPr id="24" name="Text 18"/>
          <p:cNvSpPr txBox="1"/>
          <p:nvPr/>
        </p:nvSpPr>
        <p:spPr>
          <a:xfrm>
            <a:off x="548640" y="6016752"/>
            <a:ext cx="11064240" cy="365760"/>
          </a:xfrm>
          <a:prstGeom prst="rect">
            <a:avLst/>
          </a:prstGeom>
          <a:noFill/>
          <a:ln/>
        </p:spPr>
        <p:txBody>
          <a:bodyPr wrap="square" lIns="0" tIns="0" rIns="0" bIns="0" rtlCol="0" anchor="t"/>
          <a:lstStyle/>
          <a:p>
            <a:pPr indent="0" marL="0">
              <a:lnSpc>
                <a:spcPts val="2000"/>
              </a:lnSpc>
              <a:buNone/>
            </a:pPr>
            <a:r>
              <a:rPr lang="en-US" sz="1250" i="1" dirty="0">
                <a:solidFill>
                  <a:srgbClr val="0E7C61"/>
                </a:solidFill>
                <a:latin typeface="Calibri" pitchFamily="34" charset="0"/>
                <a:ea typeface="Calibri" pitchFamily="34" charset="-122"/>
                <a:cs typeface="Calibri" pitchFamily="34" charset="-120"/>
              </a:rPr>
              <a:t>All of them are trained by the loop you learn today: define a loss, minimise it, then measure on data never seen.</a:t>
            </a:r>
            <a:endParaRPr lang="en-US" sz="1250" dirty="0"/>
          </a:p>
        </p:txBody>
      </p:sp>
      <p:sp>
        <p:nvSpPr>
          <p:cNvPr id="26" name="Text 19"/>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7" name="Text 20"/>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15</a:t>
            </a:r>
            <a:endParaRPr lang="en-US" sz="900" dirty="0"/>
          </a:p>
        </p:txBody>
      </p:sp>
      <p:pic>
        <p:nvPicPr>
          <p:cNvPr id="28" name="Picture 27" descr="must_logo.png"/>
          <p:cNvPicPr>
            <a:picLocks noChangeAspect="1"/>
          </p:cNvPicPr>
          <p:nvPr/>
        </p:nvPicPr>
        <p:blipFill>
          <a:blip r:embed="rId7"/>
          <a:stretch>
            <a:fillRect/>
          </a:stretch>
        </p:blipFill>
        <p:spPr>
          <a:xfrm>
            <a:off x="11016642" y="274320"/>
            <a:ext cx="699565" cy="65836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LEARNING PARADIGMS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Three Ways A Machine Can Learn</a:t>
            </a:r>
            <a:endParaRPr lang="en-US" sz="3000" dirty="0"/>
          </a:p>
        </p:txBody>
      </p:sp>
      <p:sp>
        <p:nvSpPr>
          <p:cNvPr id="4" name="Shape 2"/>
          <p:cNvSpPr/>
          <p:nvPr/>
        </p:nvSpPr>
        <p:spPr>
          <a:xfrm>
            <a:off x="548640" y="1600200"/>
            <a:ext cx="3566160" cy="443484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41248" y="1874520"/>
            <a:ext cx="640080" cy="640080"/>
          </a:xfrm>
          <a:prstGeom prst="ellipse">
            <a:avLst/>
          </a:prstGeom>
          <a:solidFill>
            <a:srgbClr val="0F6B3C"/>
          </a:solidFill>
          <a:ln w="12700">
            <a:solidFill>
              <a:srgbClr val="0F6B3C"/>
            </a:solidFill>
            <a:prstDash val="solid"/>
          </a:ln>
        </p:spPr>
      </p:sp>
      <p:pic>
        <p:nvPicPr>
          <p:cNvPr id="6" name="Image 0" descr="preencoded.png">    </p:cNvPr>
          <p:cNvPicPr>
            <a:picLocks noChangeAspect="1"/>
          </p:cNvPicPr>
          <p:nvPr/>
        </p:nvPicPr>
        <p:blipFill>
          <a:blip r:embed="rId1"/>
          <a:stretch>
            <a:fillRect/>
          </a:stretch>
        </p:blipFill>
        <p:spPr>
          <a:xfrm>
            <a:off x="975665" y="2008937"/>
            <a:ext cx="371246" cy="371246"/>
          </a:xfrm>
          <a:prstGeom prst="rect">
            <a:avLst/>
          </a:prstGeom>
        </p:spPr>
      </p:pic>
      <p:sp>
        <p:nvSpPr>
          <p:cNvPr id="7" name="Text 4"/>
          <p:cNvSpPr txBox="1"/>
          <p:nvPr/>
        </p:nvSpPr>
        <p:spPr>
          <a:xfrm>
            <a:off x="841248" y="2651760"/>
            <a:ext cx="3017520" cy="320040"/>
          </a:xfrm>
          <a:prstGeom prst="rect">
            <a:avLst/>
          </a:prstGeom>
          <a:noFill/>
          <a:ln/>
        </p:spPr>
        <p:txBody>
          <a:bodyPr wrap="square" lIns="0" tIns="0" rIns="0" bIns="0" rtlCol="0" anchor="ctr"/>
          <a:lstStyle/>
          <a:p>
            <a:pPr indent="0" marL="0">
              <a:buNone/>
            </a:pPr>
            <a:r>
              <a:rPr lang="en-US" sz="1350" b="1" spc="150" kern="0" dirty="0">
                <a:solidFill>
                  <a:srgbClr val="0F6B3C"/>
                </a:solidFill>
                <a:latin typeface="Calibri" pitchFamily="34" charset="0"/>
                <a:ea typeface="Calibri" pitchFamily="34" charset="-122"/>
                <a:cs typeface="Calibri" pitchFamily="34" charset="-120"/>
              </a:rPr>
              <a:t>SUPERVISED</a:t>
            </a:r>
            <a:endParaRPr lang="en-US" sz="1350" dirty="0"/>
          </a:p>
        </p:txBody>
      </p:sp>
      <p:sp>
        <p:nvSpPr>
          <p:cNvPr id="8" name="Text 5"/>
          <p:cNvSpPr txBox="1"/>
          <p:nvPr/>
        </p:nvSpPr>
        <p:spPr>
          <a:xfrm>
            <a:off x="841248" y="2971800"/>
            <a:ext cx="3017520" cy="548640"/>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Learning with labelled answers</a:t>
            </a:r>
            <a:endParaRPr lang="en-US" sz="1500" dirty="0"/>
          </a:p>
        </p:txBody>
      </p:sp>
      <p:sp>
        <p:nvSpPr>
          <p:cNvPr id="9" name="Text 6"/>
          <p:cNvSpPr txBox="1"/>
          <p:nvPr/>
        </p:nvSpPr>
        <p:spPr>
          <a:xfrm>
            <a:off x="841248" y="3611880"/>
            <a:ext cx="3035808" cy="137160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The data comes with the right answer attached. The model learns the mapping from input to answer.</a:t>
            </a:r>
            <a:endParaRPr lang="en-US" sz="1200" dirty="0"/>
          </a:p>
        </p:txBody>
      </p:sp>
      <p:sp>
        <p:nvSpPr>
          <p:cNvPr id="10" name="Shape 7"/>
          <p:cNvSpPr/>
          <p:nvPr/>
        </p:nvSpPr>
        <p:spPr>
          <a:xfrm>
            <a:off x="841248" y="5029200"/>
            <a:ext cx="3017520" cy="10973"/>
          </a:xfrm>
          <a:prstGeom prst="rect">
            <a:avLst/>
          </a:prstGeom>
          <a:solidFill>
            <a:srgbClr val="D9E3DB"/>
          </a:solidFill>
          <a:ln w="12700">
            <a:solidFill>
              <a:srgbClr val="333333"/>
            </a:solidFill>
            <a:prstDash val="solid"/>
          </a:ln>
        </p:spPr>
      </p:sp>
      <p:sp>
        <p:nvSpPr>
          <p:cNvPr id="11" name="Text 8"/>
          <p:cNvSpPr txBox="1"/>
          <p:nvPr/>
        </p:nvSpPr>
        <p:spPr>
          <a:xfrm>
            <a:off x="841248" y="5138928"/>
            <a:ext cx="3035808" cy="822960"/>
          </a:xfrm>
          <a:prstGeom prst="rect">
            <a:avLst/>
          </a:prstGeom>
          <a:noFill/>
          <a:ln/>
        </p:spPr>
        <p:txBody>
          <a:bodyPr wrap="square" lIns="0" tIns="0" rIns="0" bIns="0" rtlCol="0" anchor="ctr"/>
          <a:lstStyle/>
          <a:p>
            <a:pPr indent="0" marL="0">
              <a:lnSpc>
                <a:spcPts val="1500"/>
              </a:lnSpc>
              <a:buNone/>
            </a:pPr>
            <a:r>
              <a:rPr lang="en-US" sz="1150" i="1" dirty="0">
                <a:solidFill>
                  <a:srgbClr val="5C6B60"/>
                </a:solidFill>
                <a:latin typeface="Calibri" pitchFamily="34" charset="0"/>
                <a:ea typeface="Calibri" pitchFamily="34" charset="-122"/>
                <a:cs typeface="Calibri" pitchFamily="34" charset="-120"/>
              </a:rPr>
              <a:t>Spam / not spam · Loan default · Maize yield in bags per acre</a:t>
            </a:r>
            <a:endParaRPr lang="en-US" sz="1150" dirty="0"/>
          </a:p>
        </p:txBody>
      </p:sp>
      <p:sp>
        <p:nvSpPr>
          <p:cNvPr id="12" name="Shape 9"/>
          <p:cNvSpPr/>
          <p:nvPr/>
        </p:nvSpPr>
        <p:spPr>
          <a:xfrm>
            <a:off x="4297680" y="1600200"/>
            <a:ext cx="3566160" cy="443484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3" name="Shape 10"/>
          <p:cNvSpPr/>
          <p:nvPr/>
        </p:nvSpPr>
        <p:spPr>
          <a:xfrm>
            <a:off x="4590288" y="1874520"/>
            <a:ext cx="640080" cy="640080"/>
          </a:xfrm>
          <a:prstGeom prst="ellipse">
            <a:avLst/>
          </a:prstGeom>
          <a:solidFill>
            <a:srgbClr val="0E7C61"/>
          </a:solidFill>
          <a:ln w="12700">
            <a:solidFill>
              <a:srgbClr val="0E7C61"/>
            </a:solidFill>
            <a:prstDash val="solid"/>
          </a:ln>
        </p:spPr>
      </p:sp>
      <p:pic>
        <p:nvPicPr>
          <p:cNvPr id="14" name="Image 1" descr="preencoded.png">    </p:cNvPr>
          <p:cNvPicPr>
            <a:picLocks noChangeAspect="1"/>
          </p:cNvPicPr>
          <p:nvPr/>
        </p:nvPicPr>
        <p:blipFill>
          <a:blip r:embed="rId2"/>
          <a:stretch>
            <a:fillRect/>
          </a:stretch>
        </p:blipFill>
        <p:spPr>
          <a:xfrm>
            <a:off x="4724705" y="2008937"/>
            <a:ext cx="371246" cy="371246"/>
          </a:xfrm>
          <a:prstGeom prst="rect">
            <a:avLst/>
          </a:prstGeom>
        </p:spPr>
      </p:pic>
      <p:sp>
        <p:nvSpPr>
          <p:cNvPr id="15" name="Text 11"/>
          <p:cNvSpPr txBox="1"/>
          <p:nvPr/>
        </p:nvSpPr>
        <p:spPr>
          <a:xfrm>
            <a:off x="4590288" y="2651760"/>
            <a:ext cx="3017520" cy="320040"/>
          </a:xfrm>
          <a:prstGeom prst="rect">
            <a:avLst/>
          </a:prstGeom>
          <a:noFill/>
          <a:ln/>
        </p:spPr>
        <p:txBody>
          <a:bodyPr wrap="square" lIns="0" tIns="0" rIns="0" bIns="0" rtlCol="0" anchor="ctr"/>
          <a:lstStyle/>
          <a:p>
            <a:pPr indent="0" marL="0">
              <a:buNone/>
            </a:pPr>
            <a:r>
              <a:rPr lang="en-US" sz="1350" b="1" spc="150" kern="0" dirty="0">
                <a:solidFill>
                  <a:srgbClr val="0E7C61"/>
                </a:solidFill>
                <a:latin typeface="Calibri" pitchFamily="34" charset="0"/>
                <a:ea typeface="Calibri" pitchFamily="34" charset="-122"/>
                <a:cs typeface="Calibri" pitchFamily="34" charset="-120"/>
              </a:rPr>
              <a:t>UNSUPERVISED</a:t>
            </a:r>
            <a:endParaRPr lang="en-US" sz="1350" dirty="0"/>
          </a:p>
        </p:txBody>
      </p:sp>
      <p:sp>
        <p:nvSpPr>
          <p:cNvPr id="16" name="Text 12"/>
          <p:cNvSpPr txBox="1"/>
          <p:nvPr/>
        </p:nvSpPr>
        <p:spPr>
          <a:xfrm>
            <a:off x="4590288" y="2971800"/>
            <a:ext cx="3017520" cy="548640"/>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Learning structure without answers</a:t>
            </a:r>
            <a:endParaRPr lang="en-US" sz="1500" dirty="0"/>
          </a:p>
        </p:txBody>
      </p:sp>
      <p:sp>
        <p:nvSpPr>
          <p:cNvPr id="17" name="Text 13"/>
          <p:cNvSpPr txBox="1"/>
          <p:nvPr/>
        </p:nvSpPr>
        <p:spPr>
          <a:xfrm>
            <a:off x="4590288" y="3611880"/>
            <a:ext cx="3035808" cy="137160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No labels at all. The model finds groups, patterns or a compressed representation on its own.</a:t>
            </a:r>
            <a:endParaRPr lang="en-US" sz="1200" dirty="0"/>
          </a:p>
        </p:txBody>
      </p:sp>
      <p:sp>
        <p:nvSpPr>
          <p:cNvPr id="18" name="Shape 14"/>
          <p:cNvSpPr/>
          <p:nvPr/>
        </p:nvSpPr>
        <p:spPr>
          <a:xfrm>
            <a:off x="4590288" y="5029200"/>
            <a:ext cx="3017520" cy="10973"/>
          </a:xfrm>
          <a:prstGeom prst="rect">
            <a:avLst/>
          </a:prstGeom>
          <a:solidFill>
            <a:srgbClr val="D9E3DB"/>
          </a:solidFill>
          <a:ln w="12700">
            <a:solidFill>
              <a:srgbClr val="333333"/>
            </a:solidFill>
            <a:prstDash val="solid"/>
          </a:ln>
        </p:spPr>
      </p:sp>
      <p:sp>
        <p:nvSpPr>
          <p:cNvPr id="19" name="Text 15"/>
          <p:cNvSpPr txBox="1"/>
          <p:nvPr/>
        </p:nvSpPr>
        <p:spPr>
          <a:xfrm>
            <a:off x="4590288" y="5138928"/>
            <a:ext cx="3035808" cy="822960"/>
          </a:xfrm>
          <a:prstGeom prst="rect">
            <a:avLst/>
          </a:prstGeom>
          <a:noFill/>
          <a:ln/>
        </p:spPr>
        <p:txBody>
          <a:bodyPr wrap="square" lIns="0" tIns="0" rIns="0" bIns="0" rtlCol="0" anchor="ctr"/>
          <a:lstStyle/>
          <a:p>
            <a:pPr indent="0" marL="0">
              <a:lnSpc>
                <a:spcPts val="1500"/>
              </a:lnSpc>
              <a:buNone/>
            </a:pPr>
            <a:r>
              <a:rPr lang="en-US" sz="1150" i="1" dirty="0">
                <a:solidFill>
                  <a:srgbClr val="5C6B60"/>
                </a:solidFill>
                <a:latin typeface="Calibri" pitchFamily="34" charset="0"/>
                <a:ea typeface="Calibri" pitchFamily="34" charset="-122"/>
                <a:cs typeface="Calibri" pitchFamily="34" charset="-120"/>
              </a:rPr>
              <a:t>Customer segments · Topic discovery · Anomaly detection</a:t>
            </a:r>
            <a:endParaRPr lang="en-US" sz="1150" dirty="0"/>
          </a:p>
        </p:txBody>
      </p:sp>
      <p:sp>
        <p:nvSpPr>
          <p:cNvPr id="20" name="Shape 16"/>
          <p:cNvSpPr/>
          <p:nvPr/>
        </p:nvSpPr>
        <p:spPr>
          <a:xfrm>
            <a:off x="8046720" y="1600200"/>
            <a:ext cx="3566160" cy="443484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1" name="Shape 17"/>
          <p:cNvSpPr/>
          <p:nvPr/>
        </p:nvSpPr>
        <p:spPr>
          <a:xfrm>
            <a:off x="8339328" y="1874520"/>
            <a:ext cx="640080" cy="640080"/>
          </a:xfrm>
          <a:prstGeom prst="ellipse">
            <a:avLst/>
          </a:prstGeom>
          <a:solidFill>
            <a:srgbClr val="C9A227"/>
          </a:solidFill>
          <a:ln w="12700">
            <a:solidFill>
              <a:srgbClr val="C9A227"/>
            </a:solidFill>
            <a:prstDash val="solid"/>
          </a:ln>
        </p:spPr>
      </p:sp>
      <p:pic>
        <p:nvPicPr>
          <p:cNvPr id="22" name="Image 2" descr="preencoded.png">    </p:cNvPr>
          <p:cNvPicPr>
            <a:picLocks noChangeAspect="1"/>
          </p:cNvPicPr>
          <p:nvPr/>
        </p:nvPicPr>
        <p:blipFill>
          <a:blip r:embed="rId3"/>
          <a:stretch>
            <a:fillRect/>
          </a:stretch>
        </p:blipFill>
        <p:spPr>
          <a:xfrm>
            <a:off x="8473745" y="2008937"/>
            <a:ext cx="371246" cy="371246"/>
          </a:xfrm>
          <a:prstGeom prst="rect">
            <a:avLst/>
          </a:prstGeom>
        </p:spPr>
      </p:pic>
      <p:sp>
        <p:nvSpPr>
          <p:cNvPr id="23" name="Text 18"/>
          <p:cNvSpPr txBox="1"/>
          <p:nvPr/>
        </p:nvSpPr>
        <p:spPr>
          <a:xfrm>
            <a:off x="8339328" y="2651760"/>
            <a:ext cx="3017520" cy="320040"/>
          </a:xfrm>
          <a:prstGeom prst="rect">
            <a:avLst/>
          </a:prstGeom>
          <a:noFill/>
          <a:ln/>
        </p:spPr>
        <p:txBody>
          <a:bodyPr wrap="square" lIns="0" tIns="0" rIns="0" bIns="0" rtlCol="0" anchor="ctr"/>
          <a:lstStyle/>
          <a:p>
            <a:pPr indent="0" marL="0">
              <a:buNone/>
            </a:pPr>
            <a:r>
              <a:rPr lang="en-US" sz="1350" b="1" spc="150" kern="0" dirty="0">
                <a:solidFill>
                  <a:srgbClr val="C9A227"/>
                </a:solidFill>
                <a:latin typeface="Calibri" pitchFamily="34" charset="0"/>
                <a:ea typeface="Calibri" pitchFamily="34" charset="-122"/>
                <a:cs typeface="Calibri" pitchFamily="34" charset="-120"/>
              </a:rPr>
              <a:t>REINFORCEMENT</a:t>
            </a:r>
            <a:endParaRPr lang="en-US" sz="1350" dirty="0"/>
          </a:p>
        </p:txBody>
      </p:sp>
      <p:sp>
        <p:nvSpPr>
          <p:cNvPr id="24" name="Text 19"/>
          <p:cNvSpPr txBox="1"/>
          <p:nvPr/>
        </p:nvSpPr>
        <p:spPr>
          <a:xfrm>
            <a:off x="8339328" y="2971800"/>
            <a:ext cx="3017520" cy="548640"/>
          </a:xfrm>
          <a:prstGeom prst="rect">
            <a:avLst/>
          </a:prstGeom>
          <a:noFill/>
          <a:ln/>
        </p:spPr>
        <p:txBody>
          <a:bodyPr wrap="square" lIns="0" tIns="0" rIns="0" bIns="0" rtlCol="0" anchor="ctr"/>
          <a:lstStyle/>
          <a:p>
            <a:pPr indent="0" marL="0">
              <a:lnSpc>
                <a:spcPts val="1900"/>
              </a:lnSpc>
              <a:buNone/>
            </a:pPr>
            <a:r>
              <a:rPr lang="en-US" sz="1500" b="1" dirty="0">
                <a:solidFill>
                  <a:srgbClr val="0F6B3C"/>
                </a:solidFill>
                <a:latin typeface="Cambria" pitchFamily="34" charset="0"/>
                <a:ea typeface="Cambria" pitchFamily="34" charset="-122"/>
                <a:cs typeface="Cambria" pitchFamily="34" charset="-120"/>
              </a:rPr>
              <a:t>Learning by trial, error and reward</a:t>
            </a:r>
            <a:endParaRPr lang="en-US" sz="1500" dirty="0"/>
          </a:p>
        </p:txBody>
      </p:sp>
      <p:sp>
        <p:nvSpPr>
          <p:cNvPr id="25" name="Text 20"/>
          <p:cNvSpPr txBox="1"/>
          <p:nvPr/>
        </p:nvSpPr>
        <p:spPr>
          <a:xfrm>
            <a:off x="8339328" y="3611880"/>
            <a:ext cx="3035808" cy="137160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An agent acts in an environment and receives rewards or penalties. It learns a policy that maximises long-run reward.</a:t>
            </a:r>
            <a:endParaRPr lang="en-US" sz="1200" dirty="0"/>
          </a:p>
        </p:txBody>
      </p:sp>
      <p:sp>
        <p:nvSpPr>
          <p:cNvPr id="26" name="Shape 21"/>
          <p:cNvSpPr/>
          <p:nvPr/>
        </p:nvSpPr>
        <p:spPr>
          <a:xfrm>
            <a:off x="8339328" y="5029200"/>
            <a:ext cx="3017520" cy="10973"/>
          </a:xfrm>
          <a:prstGeom prst="rect">
            <a:avLst/>
          </a:prstGeom>
          <a:solidFill>
            <a:srgbClr val="D9E3DB"/>
          </a:solidFill>
          <a:ln w="12700">
            <a:solidFill>
              <a:srgbClr val="333333"/>
            </a:solidFill>
            <a:prstDash val="solid"/>
          </a:ln>
        </p:spPr>
      </p:sp>
      <p:sp>
        <p:nvSpPr>
          <p:cNvPr id="27" name="Text 22"/>
          <p:cNvSpPr txBox="1"/>
          <p:nvPr/>
        </p:nvSpPr>
        <p:spPr>
          <a:xfrm>
            <a:off x="8339328" y="5138928"/>
            <a:ext cx="3035808" cy="822960"/>
          </a:xfrm>
          <a:prstGeom prst="rect">
            <a:avLst/>
          </a:prstGeom>
          <a:noFill/>
          <a:ln/>
        </p:spPr>
        <p:txBody>
          <a:bodyPr wrap="square" lIns="0" tIns="0" rIns="0" bIns="0" rtlCol="0" anchor="ctr"/>
          <a:lstStyle/>
          <a:p>
            <a:pPr indent="0" marL="0">
              <a:lnSpc>
                <a:spcPts val="1500"/>
              </a:lnSpc>
              <a:buNone/>
            </a:pPr>
            <a:r>
              <a:rPr lang="en-US" sz="1150" i="1" dirty="0">
                <a:solidFill>
                  <a:srgbClr val="5C6B60"/>
                </a:solidFill>
                <a:latin typeface="Calibri" pitchFamily="34" charset="0"/>
                <a:ea typeface="Calibri" pitchFamily="34" charset="-122"/>
                <a:cs typeface="Calibri" pitchFamily="34" charset="-120"/>
              </a:rPr>
              <a:t>Game playing · Robotics · Ad bidding · Traffic light control</a:t>
            </a:r>
            <a:endParaRPr lang="en-US" sz="1150" dirty="0"/>
          </a:p>
        </p:txBody>
      </p:sp>
      <p:sp>
        <p:nvSpPr>
          <p:cNvPr id="29" name="Text 23"/>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0" name="Text 24"/>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16</a:t>
            </a:r>
            <a:endParaRPr lang="en-US" sz="900" dirty="0"/>
          </a:p>
        </p:txBody>
      </p:sp>
      <p:pic>
        <p:nvPicPr>
          <p:cNvPr id="31" name="Picture 30" descr="must_logo.png"/>
          <p:cNvPicPr>
            <a:picLocks noChangeAspect="1"/>
          </p:cNvPicPr>
          <p:nvPr/>
        </p:nvPicPr>
        <p:blipFill>
          <a:blip r:embed="rId6"/>
          <a:stretch>
            <a:fillRect/>
          </a:stretch>
        </p:blipFill>
        <p:spPr>
          <a:xfrm>
            <a:off x="11016642" y="274320"/>
            <a:ext cx="699565" cy="6583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CLASSIFICATION VS REGRESSION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Supervised Learning Splits In Two</a:t>
            </a:r>
            <a:endParaRPr lang="en-US" sz="3000" dirty="0"/>
          </a:p>
        </p:txBody>
      </p:sp>
      <p:sp>
        <p:nvSpPr>
          <p:cNvPr id="4" name="Shape 2"/>
          <p:cNvSpPr/>
          <p:nvPr/>
        </p:nvSpPr>
        <p:spPr>
          <a:xfrm>
            <a:off x="548640" y="1600200"/>
            <a:ext cx="5394960" cy="2286000"/>
          </a:xfrm>
          <a:prstGeom prst="roundRect">
            <a:avLst>
              <a:gd name="adj" fmla="val 4800"/>
            </a:avLst>
          </a:prstGeom>
          <a:solidFill>
            <a:srgbClr val="E9F0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68680" y="1828800"/>
            <a:ext cx="4754880" cy="320040"/>
          </a:xfrm>
          <a:prstGeom prst="rect">
            <a:avLst/>
          </a:prstGeom>
          <a:noFill/>
          <a:ln/>
        </p:spPr>
        <p:txBody>
          <a:bodyPr wrap="square" lIns="0" tIns="0" rIns="0" bIns="0" rtlCol="0" anchor="ctr"/>
          <a:lstStyle/>
          <a:p>
            <a:pPr indent="0" marL="0">
              <a:buNone/>
            </a:pPr>
            <a:r>
              <a:rPr lang="en-US" sz="1250" b="1" spc="100" kern="0" dirty="0">
                <a:solidFill>
                  <a:srgbClr val="0F6B3C"/>
                </a:solidFill>
                <a:latin typeface="Calibri" pitchFamily="34" charset="0"/>
                <a:ea typeface="Calibri" pitchFamily="34" charset="-122"/>
                <a:cs typeface="Calibri" pitchFamily="34" charset="-120"/>
              </a:rPr>
              <a:t>CLASSIFICATION — predict a category</a:t>
            </a:r>
            <a:endParaRPr lang="en-US" sz="1250" dirty="0"/>
          </a:p>
        </p:txBody>
      </p:sp>
      <p:sp>
        <p:nvSpPr>
          <p:cNvPr id="6" name="Text 4"/>
          <p:cNvSpPr txBox="1"/>
          <p:nvPr/>
        </p:nvSpPr>
        <p:spPr>
          <a:xfrm>
            <a:off x="868680" y="2240280"/>
            <a:ext cx="4800600" cy="1508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Is this SMS fraudulent?  (yes / no — binary)</a:t>
            </a:r>
            <a:endParaRPr lang="en-US" sz="1250" dirty="0"/>
          </a:p>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Which disease is on this maize leaf?  (4 classes)</a:t>
            </a:r>
            <a:endParaRPr lang="en-US" sz="1250" dirty="0"/>
          </a:p>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Which of 40 Kenyan languages is this audio?</a:t>
            </a:r>
            <a:endParaRPr lang="en-US" sz="1250" dirty="0"/>
          </a:p>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Output: a label, plus a probability for each class</a:t>
            </a:r>
            <a:endParaRPr lang="en-US" sz="1250" dirty="0"/>
          </a:p>
        </p:txBody>
      </p:sp>
      <p:sp>
        <p:nvSpPr>
          <p:cNvPr id="7" name="Shape 5"/>
          <p:cNvSpPr/>
          <p:nvPr/>
        </p:nvSpPr>
        <p:spPr>
          <a:xfrm>
            <a:off x="6217920" y="1600200"/>
            <a:ext cx="5394960" cy="2286000"/>
          </a:xfrm>
          <a:prstGeom prst="roundRect">
            <a:avLst>
              <a:gd name="adj" fmla="val 4800"/>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8" name="Text 6"/>
          <p:cNvSpPr txBox="1"/>
          <p:nvPr/>
        </p:nvSpPr>
        <p:spPr>
          <a:xfrm>
            <a:off x="6537960" y="1828800"/>
            <a:ext cx="4754880" cy="320040"/>
          </a:xfrm>
          <a:prstGeom prst="rect">
            <a:avLst/>
          </a:prstGeom>
          <a:noFill/>
          <a:ln/>
        </p:spPr>
        <p:txBody>
          <a:bodyPr wrap="square" lIns="0" tIns="0" rIns="0" bIns="0" rtlCol="0" anchor="ctr"/>
          <a:lstStyle/>
          <a:p>
            <a:pPr indent="0" marL="0">
              <a:buNone/>
            </a:pPr>
            <a:r>
              <a:rPr lang="en-US" sz="1250" b="1" spc="100" kern="0" dirty="0">
                <a:solidFill>
                  <a:srgbClr val="0E7C61"/>
                </a:solidFill>
                <a:latin typeface="Calibri" pitchFamily="34" charset="0"/>
                <a:ea typeface="Calibri" pitchFamily="34" charset="-122"/>
                <a:cs typeface="Calibri" pitchFamily="34" charset="-120"/>
              </a:rPr>
              <a:t>REGRESSION — predict a number</a:t>
            </a:r>
            <a:endParaRPr lang="en-US" sz="1250" dirty="0"/>
          </a:p>
        </p:txBody>
      </p:sp>
      <p:sp>
        <p:nvSpPr>
          <p:cNvPr id="9" name="Text 7"/>
          <p:cNvSpPr txBox="1"/>
          <p:nvPr/>
        </p:nvSpPr>
        <p:spPr>
          <a:xfrm>
            <a:off x="6537960" y="2240280"/>
            <a:ext cx="4800600" cy="1508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How many bags of maize will this acre yield?</a:t>
            </a:r>
            <a:endParaRPr lang="en-US" sz="1250" dirty="0"/>
          </a:p>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What will a 3-bedroom house in Meru rent for?</a:t>
            </a:r>
            <a:endParaRPr lang="en-US" sz="1250" dirty="0"/>
          </a:p>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How many minutes until this matatu arrives?</a:t>
            </a:r>
            <a:endParaRPr lang="en-US" sz="1250" dirty="0"/>
          </a:p>
          <a:p>
            <a:pPr marL="342900" indent="-342900">
              <a:spcAft>
                <a:spcPts val="700"/>
              </a:spcAft>
              <a:buSzPct val="100000"/>
              <a:buChar char="•"/>
            </a:pPr>
            <a:r>
              <a:rPr lang="en-US" sz="1250" dirty="0">
                <a:solidFill>
                  <a:srgbClr val="1B2A20"/>
                </a:solidFill>
                <a:latin typeface="Calibri" pitchFamily="34" charset="0"/>
                <a:ea typeface="Calibri" pitchFamily="34" charset="-122"/>
                <a:cs typeface="Calibri" pitchFamily="34" charset="-120"/>
              </a:rPr>
              <a:t>Output: a continuous value on a scale</a:t>
            </a:r>
            <a:endParaRPr lang="en-US" sz="1250" dirty="0"/>
          </a:p>
        </p:txBody>
      </p:sp>
      <p:sp>
        <p:nvSpPr>
          <p:cNvPr id="10" name="Text 8"/>
          <p:cNvSpPr txBox="1"/>
          <p:nvPr/>
        </p:nvSpPr>
        <p:spPr>
          <a:xfrm>
            <a:off x="548640" y="4069080"/>
            <a:ext cx="11064240" cy="32004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The same dataset can pose either question</a:t>
            </a:r>
            <a:endParaRPr lang="en-US" sz="1700" dirty="0"/>
          </a:p>
        </p:txBody>
      </p:sp>
      <p:sp>
        <p:nvSpPr>
          <p:cNvPr id="11" name="Shape 9"/>
          <p:cNvSpPr/>
          <p:nvPr/>
        </p:nvSpPr>
        <p:spPr>
          <a:xfrm>
            <a:off x="548640" y="4480560"/>
            <a:ext cx="11064240" cy="1600200"/>
          </a:xfrm>
          <a:prstGeom prst="roundRect">
            <a:avLst>
              <a:gd name="adj" fmla="val 685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2" name="Text 10"/>
          <p:cNvSpPr txBox="1"/>
          <p:nvPr/>
        </p:nvSpPr>
        <p:spPr>
          <a:xfrm>
            <a:off x="914400" y="4709160"/>
            <a:ext cx="10332720" cy="1188720"/>
          </a:xfrm>
          <a:prstGeom prst="rect">
            <a:avLst/>
          </a:prstGeom>
          <a:noFill/>
          <a:ln/>
        </p:spPr>
        <p:txBody>
          <a:bodyPr wrap="square" lIns="0" tIns="0" rIns="0" bIns="0" rtlCol="0" anchor="t"/>
          <a:lstStyle/>
          <a:p>
            <a:pPr indent="0" marL="0">
              <a:lnSpc>
                <a:spcPts val="2000"/>
              </a:lnSpc>
              <a:buNone/>
            </a:pPr>
            <a:r>
              <a:rPr lang="en-US" sz="1350" dirty="0">
                <a:solidFill>
                  <a:srgbClr val="1B2A20"/>
                </a:solidFill>
                <a:latin typeface="Calibri" pitchFamily="34" charset="0"/>
                <a:ea typeface="Calibri" pitchFamily="34" charset="-122"/>
                <a:cs typeface="Calibri" pitchFamily="34" charset="-120"/>
              </a:rPr>
              <a:t>Take a dataset of Meru smallholder farms: rainfall, fertiliser used, soil pH, acreage, previous yield.</a:t>
            </a:r>
            <a:endParaRPr lang="en-US" sz="1350" dirty="0"/>
          </a:p>
          <a:p>
            <a:pPr indent="0" marL="0">
              <a:lnSpc>
                <a:spcPts val="2000"/>
              </a:lnSpc>
              <a:buNone/>
            </a:pPr>
            <a:endParaRPr lang="en-US" sz="1350" dirty="0"/>
          </a:p>
          <a:p>
            <a:pPr indent="0" marL="0">
              <a:lnSpc>
                <a:spcPts val="2000"/>
              </a:lnSpc>
              <a:buNone/>
            </a:pPr>
            <a:r>
              <a:rPr lang="en-US" sz="1350" dirty="0">
                <a:solidFill>
                  <a:srgbClr val="1B2A20"/>
                </a:solidFill>
                <a:latin typeface="Calibri" pitchFamily="34" charset="0"/>
                <a:ea typeface="Calibri" pitchFamily="34" charset="-122"/>
                <a:cs typeface="Calibri" pitchFamily="34" charset="-120"/>
              </a:rPr>
              <a:t>Regression:  "Predict this season's yield in bags."          Classification:  "Predict whether this farm falls below the food-security threshold: at risk / not at risk."</a:t>
            </a:r>
            <a:endParaRPr lang="en-US" sz="1350" dirty="0"/>
          </a:p>
        </p:txBody>
      </p:sp>
      <p:sp>
        <p:nvSpPr>
          <p:cNvPr id="14" name="Text 11"/>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5" name="Text 12"/>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17</a:t>
            </a:r>
            <a:endParaRPr lang="en-US" sz="900" dirty="0"/>
          </a:p>
        </p:txBody>
      </p:sp>
      <p:pic>
        <p:nvPicPr>
          <p:cNvPr id="16" name="Picture 15"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UNSUPERVISED LEARNING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Finding Structure With No Answer Key</a:t>
            </a:r>
            <a:endParaRPr lang="en-US" sz="3000" dirty="0"/>
          </a:p>
        </p:txBody>
      </p:sp>
      <p:sp>
        <p:nvSpPr>
          <p:cNvPr id="4" name="Text 2"/>
          <p:cNvSpPr txBox="1"/>
          <p:nvPr/>
        </p:nvSpPr>
        <p:spPr>
          <a:xfrm>
            <a:off x="548640" y="1536192"/>
            <a:ext cx="5486400" cy="274320"/>
          </a:xfrm>
          <a:prstGeom prst="rect">
            <a:avLst/>
          </a:prstGeom>
          <a:noFill/>
          <a:ln/>
        </p:spPr>
        <p:txBody>
          <a:bodyPr wrap="square" lIns="0" tIns="0" rIns="0" bIns="0" rtlCol="0" anchor="ctr"/>
          <a:lstStyle/>
          <a:p>
            <a:pPr indent="0" marL="0">
              <a:buNone/>
            </a:pPr>
            <a:r>
              <a:rPr lang="en-US" sz="1150" b="1" spc="150" kern="0" dirty="0">
                <a:solidFill>
                  <a:srgbClr val="0E7C61"/>
                </a:solidFill>
                <a:latin typeface="Calibri" pitchFamily="34" charset="0"/>
                <a:ea typeface="Calibri" pitchFamily="34" charset="-122"/>
                <a:cs typeface="Calibri" pitchFamily="34" charset="-120"/>
              </a:rPr>
              <a:t>CLUSTERING</a:t>
            </a:r>
            <a:endParaRPr lang="en-US" sz="1150" dirty="0"/>
          </a:p>
        </p:txBody>
      </p:sp>
      <p:sp>
        <p:nvSpPr>
          <p:cNvPr id="5" name="Shape 3"/>
          <p:cNvSpPr/>
          <p:nvPr/>
        </p:nvSpPr>
        <p:spPr>
          <a:xfrm>
            <a:off x="548640" y="1828800"/>
            <a:ext cx="53949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 name="Text 4"/>
          <p:cNvSpPr txBox="1"/>
          <p:nvPr/>
        </p:nvSpPr>
        <p:spPr>
          <a:xfrm>
            <a:off x="868680" y="2057400"/>
            <a:ext cx="4800600" cy="173736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Group similar items together without being told what the groups are.</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A telco has 30 million subscribers and no labels. k-means clustering on call, data and top-up behaviour reveals natural segments — heavy data youth, low-ARPU rural voice, business bundles — which then drive product design.</a:t>
            </a:r>
            <a:endParaRPr lang="en-US" sz="1250" dirty="0"/>
          </a:p>
        </p:txBody>
      </p:sp>
      <p:sp>
        <p:nvSpPr>
          <p:cNvPr id="7" name="Text 5"/>
          <p:cNvSpPr txBox="1"/>
          <p:nvPr/>
        </p:nvSpPr>
        <p:spPr>
          <a:xfrm>
            <a:off x="6217920" y="1536192"/>
            <a:ext cx="5486400" cy="274320"/>
          </a:xfrm>
          <a:prstGeom prst="rect">
            <a:avLst/>
          </a:prstGeom>
          <a:noFill/>
          <a:ln/>
        </p:spPr>
        <p:txBody>
          <a:bodyPr wrap="square" lIns="0" tIns="0" rIns="0" bIns="0" rtlCol="0" anchor="ctr"/>
          <a:lstStyle/>
          <a:p>
            <a:pPr indent="0" marL="0">
              <a:buNone/>
            </a:pPr>
            <a:r>
              <a:rPr lang="en-US" sz="1150" b="1" spc="150" kern="0" dirty="0">
                <a:solidFill>
                  <a:srgbClr val="0F6B3C"/>
                </a:solidFill>
                <a:latin typeface="Calibri" pitchFamily="34" charset="0"/>
                <a:ea typeface="Calibri" pitchFamily="34" charset="-122"/>
                <a:cs typeface="Calibri" pitchFamily="34" charset="-120"/>
              </a:rPr>
              <a:t>DIMENSIONALITY REDUCTION</a:t>
            </a:r>
            <a:endParaRPr lang="en-US" sz="1150" dirty="0"/>
          </a:p>
        </p:txBody>
      </p:sp>
      <p:sp>
        <p:nvSpPr>
          <p:cNvPr id="8" name="Shape 6"/>
          <p:cNvSpPr/>
          <p:nvPr/>
        </p:nvSpPr>
        <p:spPr>
          <a:xfrm>
            <a:off x="6217920" y="1828800"/>
            <a:ext cx="53949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9" name="Text 7"/>
          <p:cNvSpPr txBox="1"/>
          <p:nvPr/>
        </p:nvSpPr>
        <p:spPr>
          <a:xfrm>
            <a:off x="6537960" y="2057400"/>
            <a:ext cx="4800600" cy="173736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Compress many columns into a few that keep most of the information.</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A health survey with 200 questions per household may really be measuring five underlying factors. PCA finds them, which makes the data easier to visualise, faster to model and less prone to overfitting.</a:t>
            </a:r>
            <a:endParaRPr lang="en-US" sz="1250" dirty="0"/>
          </a:p>
        </p:txBody>
      </p:sp>
      <p:sp>
        <p:nvSpPr>
          <p:cNvPr id="10" name="Shape 8"/>
          <p:cNvSpPr/>
          <p:nvPr/>
        </p:nvSpPr>
        <p:spPr>
          <a:xfrm>
            <a:off x="548640" y="4206240"/>
            <a:ext cx="11064240" cy="1874520"/>
          </a:xfrm>
          <a:prstGeom prst="roundRect">
            <a:avLst>
              <a:gd name="adj" fmla="val 5854"/>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1" name="Text 9"/>
          <p:cNvSpPr txBox="1"/>
          <p:nvPr/>
        </p:nvSpPr>
        <p:spPr>
          <a:xfrm>
            <a:off x="914400" y="4434840"/>
            <a:ext cx="1033272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Also unsupervised: association rules and anomaly detection</a:t>
            </a:r>
            <a:endParaRPr lang="en-US" sz="1600" dirty="0"/>
          </a:p>
        </p:txBody>
      </p:sp>
      <p:sp>
        <p:nvSpPr>
          <p:cNvPr id="12" name="Text 10"/>
          <p:cNvSpPr txBox="1"/>
          <p:nvPr/>
        </p:nvSpPr>
        <p:spPr>
          <a:xfrm>
            <a:off x="914400" y="4828032"/>
            <a:ext cx="10332720" cy="105156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Association rules mine "customers who buy X also buy Y" from supermarket baskets — the classic market-basket analysis in the syllabus. Anomaly detection learns what normal looks like and flags anything far from it, which is how card-fraud systems catch a scam pattern nobody has labelled yet.</a:t>
            </a:r>
            <a:endParaRPr lang="en-US" sz="1250" dirty="0"/>
          </a:p>
        </p:txBody>
      </p:sp>
      <p:sp>
        <p:nvSpPr>
          <p:cNvPr id="14" name="Text 11"/>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5" name="Text 12"/>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18</a:t>
            </a:r>
            <a:endParaRPr lang="en-US" sz="900" dirty="0"/>
          </a:p>
        </p:txBody>
      </p:sp>
      <p:pic>
        <p:nvPicPr>
          <p:cNvPr id="16" name="Picture 15"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REINFORCEMENT LEARNING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Learning By Doing</a:t>
            </a:r>
            <a:endParaRPr lang="en-US" sz="3000" dirty="0"/>
          </a:p>
        </p:txBody>
      </p:sp>
      <p:sp>
        <p:nvSpPr>
          <p:cNvPr id="4" name="Shape 2"/>
          <p:cNvSpPr/>
          <p:nvPr/>
        </p:nvSpPr>
        <p:spPr>
          <a:xfrm>
            <a:off x="1417320" y="2011680"/>
            <a:ext cx="2377440" cy="1051560"/>
          </a:xfrm>
          <a:prstGeom prst="roundRect">
            <a:avLst>
              <a:gd name="adj" fmla="val 10435"/>
            </a:avLst>
          </a:prstGeom>
          <a:solidFill>
            <a:srgbClr val="0F6B3C"/>
          </a:solidFill>
          <a:ln w="12700">
            <a:solidFill>
              <a:srgbClr val="333333"/>
            </a:solidFill>
            <a:prstDash val="solid"/>
          </a:ln>
        </p:spPr>
      </p:sp>
      <p:sp>
        <p:nvSpPr>
          <p:cNvPr id="5" name="Text 3"/>
          <p:cNvSpPr txBox="1"/>
          <p:nvPr/>
        </p:nvSpPr>
        <p:spPr>
          <a:xfrm>
            <a:off x="1417320" y="2011680"/>
            <a:ext cx="2377440" cy="10515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p:txBody>
      </p:sp>
      <p:sp>
        <p:nvSpPr>
          <p:cNvPr id="6" name="Shape 4"/>
          <p:cNvSpPr/>
          <p:nvPr/>
        </p:nvSpPr>
        <p:spPr>
          <a:xfrm>
            <a:off x="1417320" y="4114800"/>
            <a:ext cx="2377440" cy="1051560"/>
          </a:xfrm>
          <a:prstGeom prst="roundRect">
            <a:avLst>
              <a:gd name="adj" fmla="val 10435"/>
            </a:avLst>
          </a:prstGeom>
          <a:solidFill>
            <a:srgbClr val="0E7C61"/>
          </a:solidFill>
          <a:ln w="12700">
            <a:solidFill>
              <a:srgbClr val="333333"/>
            </a:solidFill>
            <a:prstDash val="solid"/>
          </a:ln>
        </p:spPr>
      </p:sp>
      <p:sp>
        <p:nvSpPr>
          <p:cNvPr id="7" name="Text 5"/>
          <p:cNvSpPr txBox="1"/>
          <p:nvPr/>
        </p:nvSpPr>
        <p:spPr>
          <a:xfrm>
            <a:off x="1417320" y="4114800"/>
            <a:ext cx="2377440" cy="10515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ENVIRONMENT</a:t>
            </a:r>
            <a:endParaRPr lang="en-US" sz="1500" dirty="0"/>
          </a:p>
        </p:txBody>
      </p:sp>
      <p:sp>
        <p:nvSpPr>
          <p:cNvPr id="8" name="Shape 6"/>
          <p:cNvSpPr/>
          <p:nvPr/>
        </p:nvSpPr>
        <p:spPr>
          <a:xfrm>
            <a:off x="3977640" y="2542032"/>
            <a:ext cx="0" cy="1572768"/>
          </a:xfrm>
          <a:prstGeom prst="line">
            <a:avLst/>
          </a:prstGeom>
          <a:noFill/>
          <a:ln w="28575">
            <a:solidFill>
              <a:srgbClr val="C9A227"/>
            </a:solidFill>
            <a:prstDash val="solid"/>
            <a:tailEnd type="triangle"/>
          </a:ln>
        </p:spPr>
      </p:sp>
      <p:sp>
        <p:nvSpPr>
          <p:cNvPr id="9" name="Text 7"/>
          <p:cNvSpPr txBox="1"/>
          <p:nvPr/>
        </p:nvSpPr>
        <p:spPr>
          <a:xfrm>
            <a:off x="4069080" y="3108960"/>
            <a:ext cx="1097280" cy="27432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action</a:t>
            </a:r>
            <a:endParaRPr lang="en-US" sz="1200" dirty="0"/>
          </a:p>
        </p:txBody>
      </p:sp>
      <p:sp>
        <p:nvSpPr>
          <p:cNvPr id="10" name="Shape 8"/>
          <p:cNvSpPr/>
          <p:nvPr/>
        </p:nvSpPr>
        <p:spPr>
          <a:xfrm>
            <a:off x="1234440" y="4114800"/>
            <a:ext cx="0" cy="-1572768"/>
          </a:xfrm>
          <a:prstGeom prst="line">
            <a:avLst/>
          </a:prstGeom>
          <a:noFill/>
          <a:ln w="28575">
            <a:solidFill>
              <a:srgbClr val="1E8449"/>
            </a:solidFill>
            <a:prstDash val="solid"/>
            <a:tailEnd type="triangle"/>
          </a:ln>
        </p:spPr>
      </p:sp>
      <p:sp>
        <p:nvSpPr>
          <p:cNvPr id="11" name="Text 9"/>
          <p:cNvSpPr txBox="1"/>
          <p:nvPr/>
        </p:nvSpPr>
        <p:spPr>
          <a:xfrm>
            <a:off x="320040" y="3017520"/>
            <a:ext cx="822960" cy="640080"/>
          </a:xfrm>
          <a:prstGeom prst="rect">
            <a:avLst/>
          </a:prstGeom>
          <a:noFill/>
          <a:ln/>
        </p:spPr>
        <p:txBody>
          <a:bodyPr wrap="square" lIns="0" tIns="0" rIns="0" bIns="0" rtlCol="0" anchor="ctr"/>
          <a:lstStyle/>
          <a:p>
            <a:pPr algn="r" indent="0" marL="0">
              <a:lnSpc>
                <a:spcPts val="1500"/>
              </a:lnSpc>
              <a:buNone/>
            </a:pPr>
            <a:r>
              <a:rPr lang="en-US" sz="1200" b="1" dirty="0">
                <a:solidFill>
                  <a:srgbClr val="1E8449"/>
                </a:solidFill>
                <a:latin typeface="Calibri" pitchFamily="34" charset="0"/>
                <a:ea typeface="Calibri" pitchFamily="34" charset="-122"/>
                <a:cs typeface="Calibri" pitchFamily="34" charset="-120"/>
              </a:rPr>
              <a:t>state,</a:t>
            </a:r>
            <a:endParaRPr lang="en-US" sz="1200" dirty="0"/>
          </a:p>
          <a:p>
            <a:pPr algn="r" indent="0" marL="0">
              <a:lnSpc>
                <a:spcPts val="1500"/>
              </a:lnSpc>
              <a:buNone/>
            </a:pPr>
            <a:r>
              <a:rPr lang="en-US" sz="1200" b="1" dirty="0">
                <a:solidFill>
                  <a:srgbClr val="1E8449"/>
                </a:solidFill>
                <a:latin typeface="Calibri" pitchFamily="34" charset="0"/>
                <a:ea typeface="Calibri" pitchFamily="34" charset="-122"/>
                <a:cs typeface="Calibri" pitchFamily="34" charset="-120"/>
              </a:rPr>
              <a:t>reward</a:t>
            </a:r>
            <a:endParaRPr lang="en-US" sz="1200" dirty="0"/>
          </a:p>
        </p:txBody>
      </p:sp>
      <p:sp>
        <p:nvSpPr>
          <p:cNvPr id="12" name="Shape 10"/>
          <p:cNvSpPr/>
          <p:nvPr/>
        </p:nvSpPr>
        <p:spPr>
          <a:xfrm>
            <a:off x="5120640" y="1600200"/>
            <a:ext cx="6492240" cy="1965960"/>
          </a:xfrm>
          <a:prstGeom prst="roundRect">
            <a:avLst>
              <a:gd name="adj" fmla="val 558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3" name="Text 11"/>
          <p:cNvSpPr txBox="1"/>
          <p:nvPr/>
        </p:nvSpPr>
        <p:spPr>
          <a:xfrm>
            <a:off x="5440680" y="1810512"/>
            <a:ext cx="5852160" cy="32004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The idea</a:t>
            </a:r>
            <a:endParaRPr lang="en-US" sz="1700" dirty="0"/>
          </a:p>
        </p:txBody>
      </p:sp>
      <p:sp>
        <p:nvSpPr>
          <p:cNvPr id="14" name="Text 12"/>
          <p:cNvSpPr txBox="1"/>
          <p:nvPr/>
        </p:nvSpPr>
        <p:spPr>
          <a:xfrm>
            <a:off x="5440680" y="2176272"/>
            <a:ext cx="5897880" cy="1280160"/>
          </a:xfrm>
          <a:prstGeom prst="rect">
            <a:avLst/>
          </a:prstGeom>
          <a:noFill/>
          <a:ln/>
        </p:spPr>
        <p:txBody>
          <a:bodyPr wrap="square" lIns="0" tIns="0" rIns="0" bIns="0" rtlCol="0" anchor="t"/>
          <a:lstStyle/>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No one tells the agent the correct action. It tries something, the world responds with a reward or a penalty, and over thousands of attempts it learns a policy — a rule for choosing actions — that maximises reward over the long run, not just the next step.</a:t>
            </a:r>
            <a:endParaRPr lang="en-US" sz="1300" dirty="0"/>
          </a:p>
        </p:txBody>
      </p:sp>
      <p:sp>
        <p:nvSpPr>
          <p:cNvPr id="15" name="Shape 13"/>
          <p:cNvSpPr/>
          <p:nvPr/>
        </p:nvSpPr>
        <p:spPr>
          <a:xfrm>
            <a:off x="5120640" y="3749040"/>
            <a:ext cx="6492240" cy="2331720"/>
          </a:xfrm>
          <a:prstGeom prst="roundRect">
            <a:avLst>
              <a:gd name="adj" fmla="val 4706"/>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6" name="Text 14"/>
          <p:cNvSpPr txBox="1"/>
          <p:nvPr/>
        </p:nvSpPr>
        <p:spPr>
          <a:xfrm>
            <a:off x="5440680" y="3950208"/>
            <a:ext cx="5852160" cy="32004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Where it shows up</a:t>
            </a:r>
            <a:endParaRPr lang="en-US" sz="1700" dirty="0"/>
          </a:p>
        </p:txBody>
      </p:sp>
      <p:sp>
        <p:nvSpPr>
          <p:cNvPr id="17" name="Text 15"/>
          <p:cNvSpPr txBox="1"/>
          <p:nvPr/>
        </p:nvSpPr>
        <p:spPr>
          <a:xfrm>
            <a:off x="5440680" y="4315968"/>
            <a:ext cx="5897880"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A20"/>
                </a:solidFill>
                <a:latin typeface="Calibri" pitchFamily="34" charset="0"/>
                <a:ea typeface="Calibri" pitchFamily="34" charset="-122"/>
                <a:cs typeface="Calibri" pitchFamily="34" charset="-120"/>
              </a:rPr>
              <a:t>Game agents that beat world champions at Go and chess</a:t>
            </a:r>
            <a:endParaRPr lang="en-US" sz="1250" dirty="0"/>
          </a:p>
          <a:p>
            <a:pPr marL="342900" indent="-342900">
              <a:spcAft>
                <a:spcPts val="600"/>
              </a:spcAft>
              <a:buSzPct val="100000"/>
              <a:buChar char="•"/>
            </a:pPr>
            <a:r>
              <a:rPr lang="en-US" sz="1250" dirty="0">
                <a:solidFill>
                  <a:srgbClr val="1B2A20"/>
                </a:solidFill>
                <a:latin typeface="Calibri" pitchFamily="34" charset="0"/>
                <a:ea typeface="Calibri" pitchFamily="34" charset="-122"/>
                <a:cs typeface="Calibri" pitchFamily="34" charset="-120"/>
              </a:rPr>
              <a:t>Robotic control, drone flight, warehouse picking</a:t>
            </a:r>
            <a:endParaRPr lang="en-US" sz="1250" dirty="0"/>
          </a:p>
          <a:p>
            <a:pPr marL="342900" indent="-342900">
              <a:spcAft>
                <a:spcPts val="600"/>
              </a:spcAft>
              <a:buSzPct val="100000"/>
              <a:buChar char="•"/>
            </a:pPr>
            <a:r>
              <a:rPr lang="en-US" sz="1250" dirty="0">
                <a:solidFill>
                  <a:srgbClr val="1B2A20"/>
                </a:solidFill>
                <a:latin typeface="Calibri" pitchFamily="34" charset="0"/>
                <a:ea typeface="Calibri" pitchFamily="34" charset="-122"/>
                <a:cs typeface="Calibri" pitchFamily="34" charset="-120"/>
              </a:rPr>
              <a:t>Adaptive traffic-light timing to cut junction queues</a:t>
            </a:r>
            <a:endParaRPr lang="en-US" sz="1250" dirty="0"/>
          </a:p>
          <a:p>
            <a:pPr marL="342900" indent="-342900">
              <a:spcAft>
                <a:spcPts val="600"/>
              </a:spcAft>
              <a:buSzPct val="100000"/>
              <a:buChar char="•"/>
            </a:pPr>
            <a:r>
              <a:rPr lang="en-US" sz="1250" dirty="0">
                <a:solidFill>
                  <a:srgbClr val="1B2A20"/>
                </a:solidFill>
                <a:latin typeface="Calibri" pitchFamily="34" charset="0"/>
                <a:ea typeface="Calibri" pitchFamily="34" charset="-122"/>
                <a:cs typeface="Calibri" pitchFamily="34" charset="-120"/>
              </a:rPr>
              <a:t>Data-centre cooling and energy scheduling</a:t>
            </a:r>
            <a:endParaRPr lang="en-US" sz="1250" dirty="0"/>
          </a:p>
          <a:p>
            <a:pPr marL="342900" indent="-342900">
              <a:spcAft>
                <a:spcPts val="600"/>
              </a:spcAft>
              <a:buSzPct val="100000"/>
              <a:buChar char="•"/>
            </a:pPr>
            <a:r>
              <a:rPr lang="en-US" sz="1250" dirty="0">
                <a:solidFill>
                  <a:srgbClr val="1B2A20"/>
                </a:solidFill>
                <a:latin typeface="Calibri" pitchFamily="34" charset="0"/>
                <a:ea typeface="Calibri" pitchFamily="34" charset="-122"/>
                <a:cs typeface="Calibri" pitchFamily="34" charset="-120"/>
              </a:rPr>
              <a:t>Fine-tuning language models from human feedback (RLHF)</a:t>
            </a:r>
            <a:endParaRPr lang="en-US" sz="1250" dirty="0"/>
          </a:p>
        </p:txBody>
      </p:sp>
      <p:sp>
        <p:nvSpPr>
          <p:cNvPr id="19" name="Text 16"/>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0" name="Text 17"/>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19</a:t>
            </a:r>
            <a:endParaRPr lang="en-US" sz="900" dirty="0"/>
          </a:p>
        </p:txBody>
      </p:sp>
      <p:pic>
        <p:nvPicPr>
          <p:cNvPr id="21" name="Picture 20"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BECAUSE LABELS ARE EXPENSIVE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Two Modern Variants Worth Knowing</a:t>
            </a:r>
            <a:endParaRPr lang="en-US" sz="3000" dirty="0"/>
          </a:p>
        </p:txBody>
      </p:sp>
      <p:sp>
        <p:nvSpPr>
          <p:cNvPr id="4" name="Shape 2"/>
          <p:cNvSpPr/>
          <p:nvPr/>
        </p:nvSpPr>
        <p:spPr>
          <a:xfrm>
            <a:off x="548640" y="1645920"/>
            <a:ext cx="5394960" cy="3931920"/>
          </a:xfrm>
          <a:prstGeom prst="roundRect">
            <a:avLst>
              <a:gd name="adj" fmla="val 2791"/>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68680" y="1920240"/>
            <a:ext cx="640080" cy="640080"/>
          </a:xfrm>
          <a:prstGeom prst="ellipse">
            <a:avLst/>
          </a:prstGeom>
          <a:solidFill>
            <a:srgbClr val="0E7C61"/>
          </a:solidFill>
          <a:ln w="12700">
            <a:solidFill>
              <a:srgbClr val="0E7C61"/>
            </a:solidFill>
            <a:prstDash val="solid"/>
          </a:ln>
        </p:spPr>
      </p:sp>
      <p:pic>
        <p:nvPicPr>
          <p:cNvPr id="6" name="Image 0" descr="preencoded.png">    </p:cNvPr>
          <p:cNvPicPr>
            <a:picLocks noChangeAspect="1"/>
          </p:cNvPicPr>
          <p:nvPr/>
        </p:nvPicPr>
        <p:blipFill>
          <a:blip r:embed="rId1"/>
          <a:stretch>
            <a:fillRect/>
          </a:stretch>
        </p:blipFill>
        <p:spPr>
          <a:xfrm>
            <a:off x="1003097" y="2054657"/>
            <a:ext cx="371246" cy="371246"/>
          </a:xfrm>
          <a:prstGeom prst="rect">
            <a:avLst/>
          </a:prstGeom>
        </p:spPr>
      </p:pic>
      <p:sp>
        <p:nvSpPr>
          <p:cNvPr id="7" name="Text 4"/>
          <p:cNvSpPr txBox="1"/>
          <p:nvPr/>
        </p:nvSpPr>
        <p:spPr>
          <a:xfrm>
            <a:off x="868680" y="2697480"/>
            <a:ext cx="4754880" cy="365760"/>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Semi-supervised learning</a:t>
            </a:r>
            <a:endParaRPr lang="en-US" sz="1900" dirty="0"/>
          </a:p>
        </p:txBody>
      </p:sp>
      <p:sp>
        <p:nvSpPr>
          <p:cNvPr id="8" name="Text 5"/>
          <p:cNvSpPr txBox="1"/>
          <p:nvPr/>
        </p:nvSpPr>
        <p:spPr>
          <a:xfrm>
            <a:off x="868680" y="3127248"/>
            <a:ext cx="4800600" cy="228600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A small labelled set plus a large unlabelled set. The model uses the structure of the unlabelled data to make better use of the few labels it has.</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Why it matters here: a clinician can label 500 chest X-rays, not 500,000. A linguist can transcribe ten hours of Kimeru audio, not a thousand. Semi-supervised methods are often the only realistic option for low-resource settings.</a:t>
            </a:r>
            <a:endParaRPr lang="en-US" sz="1250" dirty="0"/>
          </a:p>
        </p:txBody>
      </p:sp>
      <p:sp>
        <p:nvSpPr>
          <p:cNvPr id="9" name="Shape 6"/>
          <p:cNvSpPr/>
          <p:nvPr/>
        </p:nvSpPr>
        <p:spPr>
          <a:xfrm>
            <a:off x="6217920" y="1645920"/>
            <a:ext cx="5394960" cy="3931920"/>
          </a:xfrm>
          <a:prstGeom prst="roundRect">
            <a:avLst>
              <a:gd name="adj" fmla="val 2791"/>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6537960" y="1920240"/>
            <a:ext cx="640080" cy="640080"/>
          </a:xfrm>
          <a:prstGeom prst="ellipse">
            <a:avLst/>
          </a:prstGeom>
          <a:solidFill>
            <a:srgbClr val="C9A227"/>
          </a:solidFill>
          <a:ln w="12700">
            <a:solidFill>
              <a:srgbClr val="C9A227"/>
            </a:solidFill>
            <a:prstDash val="solid"/>
          </a:ln>
        </p:spPr>
      </p:sp>
      <p:pic>
        <p:nvPicPr>
          <p:cNvPr id="11" name="Image 1" descr="preencoded.png">    </p:cNvPr>
          <p:cNvPicPr>
            <a:picLocks noChangeAspect="1"/>
          </p:cNvPicPr>
          <p:nvPr/>
        </p:nvPicPr>
        <p:blipFill>
          <a:blip r:embed="rId2"/>
          <a:stretch>
            <a:fillRect/>
          </a:stretch>
        </p:blipFill>
        <p:spPr>
          <a:xfrm>
            <a:off x="6672377" y="2054657"/>
            <a:ext cx="371246" cy="371246"/>
          </a:xfrm>
          <a:prstGeom prst="rect">
            <a:avLst/>
          </a:prstGeom>
        </p:spPr>
      </p:pic>
      <p:sp>
        <p:nvSpPr>
          <p:cNvPr id="12" name="Text 8"/>
          <p:cNvSpPr txBox="1"/>
          <p:nvPr/>
        </p:nvSpPr>
        <p:spPr>
          <a:xfrm>
            <a:off x="6537960" y="2697480"/>
            <a:ext cx="4754880" cy="365760"/>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Self-supervised learning</a:t>
            </a:r>
            <a:endParaRPr lang="en-US" sz="1900" dirty="0"/>
          </a:p>
        </p:txBody>
      </p:sp>
      <p:sp>
        <p:nvSpPr>
          <p:cNvPr id="13" name="Text 9"/>
          <p:cNvSpPr txBox="1"/>
          <p:nvPr/>
        </p:nvSpPr>
        <p:spPr>
          <a:xfrm>
            <a:off x="6537960" y="3127248"/>
            <a:ext cx="4800600" cy="228600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The labels are manufactured from the data itself. Hide part of the input and train the model to predict it.</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This is how large language models are built: take ordinary text, hide the next word, predict it — billions of times. No human labelling at all. The same trick trains modern image and speech models, and it is why the "hardest" AI systems use the cheapest supervision.</a:t>
            </a:r>
            <a:endParaRPr lang="en-US" sz="1250" dirty="0"/>
          </a:p>
        </p:txBody>
      </p:sp>
      <p:sp>
        <p:nvSpPr>
          <p:cNvPr id="15" name="Text 10"/>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6" name="Text 11"/>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20</a:t>
            </a:r>
            <a:endParaRPr lang="en-US" sz="900" dirty="0"/>
          </a:p>
        </p:txBody>
      </p:sp>
      <p:pic>
        <p:nvPicPr>
          <p:cNvPr id="17" name="Picture 16" descr="must_logo.png"/>
          <p:cNvPicPr>
            <a:picLocks noChangeAspect="1"/>
          </p:cNvPicPr>
          <p:nvPr/>
        </p:nvPicPr>
        <p:blipFill>
          <a:blip r:embed="rId5"/>
          <a:stretch>
            <a:fillRect/>
          </a:stretch>
        </p:blipFill>
        <p:spPr>
          <a:xfrm>
            <a:off x="11016642" y="274320"/>
            <a:ext cx="699565" cy="6583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INSTANCES, FEATURES, LABELS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Vocabulary Of A Dataset</a:t>
            </a:r>
            <a:endParaRPr lang="en-US" sz="3000" dirty="0"/>
          </a:p>
        </p:txBody>
      </p:sp>
      <p:sp>
        <p:nvSpPr>
          <p:cNvPr id="4" name="Shape 2"/>
          <p:cNvSpPr/>
          <p:nvPr/>
        </p:nvSpPr>
        <p:spPr>
          <a:xfrm>
            <a:off x="548640" y="2148840"/>
            <a:ext cx="1371600" cy="457200"/>
          </a:xfrm>
          <a:prstGeom prst="rect">
            <a:avLst/>
          </a:prstGeom>
          <a:solidFill>
            <a:srgbClr val="0F6B3C"/>
          </a:solidFill>
          <a:ln w="12700">
            <a:solidFill>
              <a:srgbClr val="333333"/>
            </a:solidFill>
            <a:prstDash val="solid"/>
          </a:ln>
        </p:spPr>
      </p:sp>
      <p:sp>
        <p:nvSpPr>
          <p:cNvPr id="5" name="Text 3"/>
          <p:cNvSpPr txBox="1"/>
          <p:nvPr/>
        </p:nvSpPr>
        <p:spPr>
          <a:xfrm>
            <a:off x="548640" y="2148840"/>
            <a:ext cx="13716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Farm ID</a:t>
            </a:r>
            <a:endParaRPr lang="en-US" sz="1150" dirty="0"/>
          </a:p>
        </p:txBody>
      </p:sp>
      <p:sp>
        <p:nvSpPr>
          <p:cNvPr id="6" name="Shape 4"/>
          <p:cNvSpPr/>
          <p:nvPr/>
        </p:nvSpPr>
        <p:spPr>
          <a:xfrm>
            <a:off x="1920240" y="2148840"/>
            <a:ext cx="1508760" cy="457200"/>
          </a:xfrm>
          <a:prstGeom prst="rect">
            <a:avLst/>
          </a:prstGeom>
          <a:solidFill>
            <a:srgbClr val="0F6B3C"/>
          </a:solidFill>
          <a:ln w="12700">
            <a:solidFill>
              <a:srgbClr val="333333"/>
            </a:solidFill>
            <a:prstDash val="solid"/>
          </a:ln>
        </p:spPr>
      </p:sp>
      <p:sp>
        <p:nvSpPr>
          <p:cNvPr id="7" name="Text 5"/>
          <p:cNvSpPr txBox="1"/>
          <p:nvPr/>
        </p:nvSpPr>
        <p:spPr>
          <a:xfrm>
            <a:off x="1920240" y="2148840"/>
            <a:ext cx="15087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Rainfall (mm)</a:t>
            </a:r>
            <a:endParaRPr lang="en-US" sz="1150" dirty="0"/>
          </a:p>
        </p:txBody>
      </p:sp>
      <p:sp>
        <p:nvSpPr>
          <p:cNvPr id="8" name="Shape 6"/>
          <p:cNvSpPr/>
          <p:nvPr/>
        </p:nvSpPr>
        <p:spPr>
          <a:xfrm>
            <a:off x="3429000" y="2148840"/>
            <a:ext cx="1508760" cy="457200"/>
          </a:xfrm>
          <a:prstGeom prst="rect">
            <a:avLst/>
          </a:prstGeom>
          <a:solidFill>
            <a:srgbClr val="0F6B3C"/>
          </a:solidFill>
          <a:ln w="12700">
            <a:solidFill>
              <a:srgbClr val="333333"/>
            </a:solidFill>
            <a:prstDash val="solid"/>
          </a:ln>
        </p:spPr>
      </p:sp>
      <p:sp>
        <p:nvSpPr>
          <p:cNvPr id="9" name="Text 7"/>
          <p:cNvSpPr txBox="1"/>
          <p:nvPr/>
        </p:nvSpPr>
        <p:spPr>
          <a:xfrm>
            <a:off x="3429000" y="2148840"/>
            <a:ext cx="150876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Fertiliser (kg)</a:t>
            </a:r>
            <a:endParaRPr lang="en-US" sz="1150" dirty="0"/>
          </a:p>
        </p:txBody>
      </p:sp>
      <p:sp>
        <p:nvSpPr>
          <p:cNvPr id="10" name="Shape 8"/>
          <p:cNvSpPr/>
          <p:nvPr/>
        </p:nvSpPr>
        <p:spPr>
          <a:xfrm>
            <a:off x="4937760" y="2148840"/>
            <a:ext cx="1097280" cy="457200"/>
          </a:xfrm>
          <a:prstGeom prst="rect">
            <a:avLst/>
          </a:prstGeom>
          <a:solidFill>
            <a:srgbClr val="0F6B3C"/>
          </a:solidFill>
          <a:ln w="12700">
            <a:solidFill>
              <a:srgbClr val="333333"/>
            </a:solidFill>
            <a:prstDash val="solid"/>
          </a:ln>
        </p:spPr>
      </p:sp>
      <p:sp>
        <p:nvSpPr>
          <p:cNvPr id="11" name="Text 9"/>
          <p:cNvSpPr txBox="1"/>
          <p:nvPr/>
        </p:nvSpPr>
        <p:spPr>
          <a:xfrm>
            <a:off x="4937760" y="2148840"/>
            <a:ext cx="10972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Soil pH</a:t>
            </a:r>
            <a:endParaRPr lang="en-US" sz="1150" dirty="0"/>
          </a:p>
        </p:txBody>
      </p:sp>
      <p:sp>
        <p:nvSpPr>
          <p:cNvPr id="12" name="Shape 10"/>
          <p:cNvSpPr/>
          <p:nvPr/>
        </p:nvSpPr>
        <p:spPr>
          <a:xfrm>
            <a:off x="6035040" y="2148840"/>
            <a:ext cx="1097280" cy="457200"/>
          </a:xfrm>
          <a:prstGeom prst="rect">
            <a:avLst/>
          </a:prstGeom>
          <a:solidFill>
            <a:srgbClr val="0F6B3C"/>
          </a:solidFill>
          <a:ln w="12700">
            <a:solidFill>
              <a:srgbClr val="333333"/>
            </a:solidFill>
            <a:prstDash val="solid"/>
          </a:ln>
        </p:spPr>
      </p:sp>
      <p:sp>
        <p:nvSpPr>
          <p:cNvPr id="13" name="Text 11"/>
          <p:cNvSpPr txBox="1"/>
          <p:nvPr/>
        </p:nvSpPr>
        <p:spPr>
          <a:xfrm>
            <a:off x="6035040" y="2148840"/>
            <a:ext cx="109728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Acreage</a:t>
            </a:r>
            <a:endParaRPr lang="en-US" sz="1150" dirty="0"/>
          </a:p>
        </p:txBody>
      </p:sp>
      <p:sp>
        <p:nvSpPr>
          <p:cNvPr id="14" name="Shape 12"/>
          <p:cNvSpPr/>
          <p:nvPr/>
        </p:nvSpPr>
        <p:spPr>
          <a:xfrm>
            <a:off x="7132320" y="2148840"/>
            <a:ext cx="1463040" cy="457200"/>
          </a:xfrm>
          <a:prstGeom prst="rect">
            <a:avLst/>
          </a:prstGeom>
          <a:solidFill>
            <a:srgbClr val="C9A227"/>
          </a:solidFill>
          <a:ln w="12700">
            <a:solidFill>
              <a:srgbClr val="333333"/>
            </a:solidFill>
            <a:prstDash val="solid"/>
          </a:ln>
        </p:spPr>
      </p:sp>
      <p:sp>
        <p:nvSpPr>
          <p:cNvPr id="15" name="Text 13"/>
          <p:cNvSpPr txBox="1"/>
          <p:nvPr/>
        </p:nvSpPr>
        <p:spPr>
          <a:xfrm>
            <a:off x="7132320" y="2148840"/>
            <a:ext cx="1463040" cy="457200"/>
          </a:xfrm>
          <a:prstGeom prst="rect">
            <a:avLst/>
          </a:prstGeom>
          <a:noFill/>
          <a:ln/>
        </p:spPr>
        <p:txBody>
          <a:bodyPr wrap="square" lIns="0" tIns="0" rIns="0" bIns="0" rtlCol="0" anchor="ctr"/>
          <a:lstStyle/>
          <a:p>
            <a:pPr algn="ctr" indent="0" marL="0">
              <a:buNone/>
            </a:pPr>
            <a:r>
              <a:rPr lang="en-US" sz="1150" b="1" dirty="0">
                <a:solidFill>
                  <a:srgbClr val="0F6B3C"/>
                </a:solidFill>
                <a:latin typeface="Calibri" pitchFamily="34" charset="0"/>
                <a:ea typeface="Calibri" pitchFamily="34" charset="-122"/>
                <a:cs typeface="Calibri" pitchFamily="34" charset="-120"/>
              </a:rPr>
              <a:t>Yield (bags)</a:t>
            </a:r>
            <a:endParaRPr lang="en-US" sz="1150" dirty="0"/>
          </a:p>
        </p:txBody>
      </p:sp>
      <p:sp>
        <p:nvSpPr>
          <p:cNvPr id="16" name="Shape 14"/>
          <p:cNvSpPr/>
          <p:nvPr/>
        </p:nvSpPr>
        <p:spPr>
          <a:xfrm>
            <a:off x="548640" y="2606040"/>
            <a:ext cx="1371600" cy="438912"/>
          </a:xfrm>
          <a:prstGeom prst="rect">
            <a:avLst/>
          </a:prstGeom>
          <a:solidFill>
            <a:srgbClr val="FFFFFF"/>
          </a:solidFill>
          <a:ln w="9525">
            <a:solidFill>
              <a:srgbClr val="D9E3DB"/>
            </a:solidFill>
            <a:prstDash val="solid"/>
          </a:ln>
        </p:spPr>
      </p:sp>
      <p:sp>
        <p:nvSpPr>
          <p:cNvPr id="17" name="Text 15"/>
          <p:cNvSpPr txBox="1"/>
          <p:nvPr/>
        </p:nvSpPr>
        <p:spPr>
          <a:xfrm>
            <a:off x="548640" y="2606040"/>
            <a:ext cx="137160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MRU-001</a:t>
            </a:r>
            <a:endParaRPr lang="en-US" sz="1200" dirty="0"/>
          </a:p>
        </p:txBody>
      </p:sp>
      <p:sp>
        <p:nvSpPr>
          <p:cNvPr id="18" name="Shape 16"/>
          <p:cNvSpPr/>
          <p:nvPr/>
        </p:nvSpPr>
        <p:spPr>
          <a:xfrm>
            <a:off x="1920240" y="2606040"/>
            <a:ext cx="1508760" cy="438912"/>
          </a:xfrm>
          <a:prstGeom prst="rect">
            <a:avLst/>
          </a:prstGeom>
          <a:solidFill>
            <a:srgbClr val="FFFFFF"/>
          </a:solidFill>
          <a:ln w="9525">
            <a:solidFill>
              <a:srgbClr val="D9E3DB"/>
            </a:solidFill>
            <a:prstDash val="solid"/>
          </a:ln>
        </p:spPr>
      </p:sp>
      <p:sp>
        <p:nvSpPr>
          <p:cNvPr id="19" name="Text 17"/>
          <p:cNvSpPr txBox="1"/>
          <p:nvPr/>
        </p:nvSpPr>
        <p:spPr>
          <a:xfrm>
            <a:off x="1920240" y="2606040"/>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812</a:t>
            </a:r>
            <a:endParaRPr lang="en-US" sz="1200" dirty="0"/>
          </a:p>
        </p:txBody>
      </p:sp>
      <p:sp>
        <p:nvSpPr>
          <p:cNvPr id="20" name="Shape 18"/>
          <p:cNvSpPr/>
          <p:nvPr/>
        </p:nvSpPr>
        <p:spPr>
          <a:xfrm>
            <a:off x="3429000" y="2606040"/>
            <a:ext cx="1508760" cy="438912"/>
          </a:xfrm>
          <a:prstGeom prst="rect">
            <a:avLst/>
          </a:prstGeom>
          <a:solidFill>
            <a:srgbClr val="FFFFFF"/>
          </a:solidFill>
          <a:ln w="9525">
            <a:solidFill>
              <a:srgbClr val="D9E3DB"/>
            </a:solidFill>
            <a:prstDash val="solid"/>
          </a:ln>
        </p:spPr>
      </p:sp>
      <p:sp>
        <p:nvSpPr>
          <p:cNvPr id="21" name="Text 19"/>
          <p:cNvSpPr txBox="1"/>
          <p:nvPr/>
        </p:nvSpPr>
        <p:spPr>
          <a:xfrm>
            <a:off x="3429000" y="2606040"/>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50</a:t>
            </a:r>
            <a:endParaRPr lang="en-US" sz="1200" dirty="0"/>
          </a:p>
        </p:txBody>
      </p:sp>
      <p:sp>
        <p:nvSpPr>
          <p:cNvPr id="22" name="Shape 20"/>
          <p:cNvSpPr/>
          <p:nvPr/>
        </p:nvSpPr>
        <p:spPr>
          <a:xfrm>
            <a:off x="4937760" y="2606040"/>
            <a:ext cx="1097280" cy="438912"/>
          </a:xfrm>
          <a:prstGeom prst="rect">
            <a:avLst/>
          </a:prstGeom>
          <a:solidFill>
            <a:srgbClr val="FFFFFF"/>
          </a:solidFill>
          <a:ln w="9525">
            <a:solidFill>
              <a:srgbClr val="D9E3DB"/>
            </a:solidFill>
            <a:prstDash val="solid"/>
          </a:ln>
        </p:spPr>
      </p:sp>
      <p:sp>
        <p:nvSpPr>
          <p:cNvPr id="23" name="Text 21"/>
          <p:cNvSpPr txBox="1"/>
          <p:nvPr/>
        </p:nvSpPr>
        <p:spPr>
          <a:xfrm>
            <a:off x="4937760" y="2606040"/>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6.1</a:t>
            </a:r>
            <a:endParaRPr lang="en-US" sz="1200" dirty="0"/>
          </a:p>
        </p:txBody>
      </p:sp>
      <p:sp>
        <p:nvSpPr>
          <p:cNvPr id="24" name="Shape 22"/>
          <p:cNvSpPr/>
          <p:nvPr/>
        </p:nvSpPr>
        <p:spPr>
          <a:xfrm>
            <a:off x="6035040" y="2606040"/>
            <a:ext cx="1097280" cy="438912"/>
          </a:xfrm>
          <a:prstGeom prst="rect">
            <a:avLst/>
          </a:prstGeom>
          <a:solidFill>
            <a:srgbClr val="FFFFFF"/>
          </a:solidFill>
          <a:ln w="9525">
            <a:solidFill>
              <a:srgbClr val="D9E3DB"/>
            </a:solidFill>
            <a:prstDash val="solid"/>
          </a:ln>
        </p:spPr>
      </p:sp>
      <p:sp>
        <p:nvSpPr>
          <p:cNvPr id="25" name="Text 23"/>
          <p:cNvSpPr txBox="1"/>
          <p:nvPr/>
        </p:nvSpPr>
        <p:spPr>
          <a:xfrm>
            <a:off x="6035040" y="2606040"/>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2.0</a:t>
            </a:r>
            <a:endParaRPr lang="en-US" sz="1200" dirty="0"/>
          </a:p>
        </p:txBody>
      </p:sp>
      <p:sp>
        <p:nvSpPr>
          <p:cNvPr id="26" name="Shape 24"/>
          <p:cNvSpPr/>
          <p:nvPr/>
        </p:nvSpPr>
        <p:spPr>
          <a:xfrm>
            <a:off x="7132320" y="2606040"/>
            <a:ext cx="1463040" cy="438912"/>
          </a:xfrm>
          <a:prstGeom prst="rect">
            <a:avLst/>
          </a:prstGeom>
          <a:solidFill>
            <a:srgbClr val="FBF3DC"/>
          </a:solidFill>
          <a:ln w="9525">
            <a:solidFill>
              <a:srgbClr val="D9E3DB"/>
            </a:solidFill>
            <a:prstDash val="solid"/>
          </a:ln>
        </p:spPr>
      </p:sp>
      <p:sp>
        <p:nvSpPr>
          <p:cNvPr id="27" name="Text 25"/>
          <p:cNvSpPr txBox="1"/>
          <p:nvPr/>
        </p:nvSpPr>
        <p:spPr>
          <a:xfrm>
            <a:off x="7132320" y="2606040"/>
            <a:ext cx="1463040" cy="438912"/>
          </a:xfrm>
          <a:prstGeom prst="rect">
            <a:avLst/>
          </a:prstGeom>
          <a:noFill/>
          <a:ln/>
        </p:spPr>
        <p:txBody>
          <a:bodyPr wrap="square" lIns="0" tIns="0" rIns="0" bIns="0" rtlCol="0" anchor="ctr"/>
          <a:lstStyle/>
          <a:p>
            <a:pPr algn="ctr" indent="0" marL="0">
              <a:buNone/>
            </a:pPr>
            <a:r>
              <a:rPr lang="en-US" sz="1200" b="1" dirty="0">
                <a:solidFill>
                  <a:srgbClr val="1B2A20"/>
                </a:solidFill>
                <a:latin typeface="Calibri" pitchFamily="34" charset="0"/>
                <a:ea typeface="Calibri" pitchFamily="34" charset="-122"/>
                <a:cs typeface="Calibri" pitchFamily="34" charset="-120"/>
              </a:rPr>
              <a:t>18</a:t>
            </a:r>
            <a:endParaRPr lang="en-US" sz="1200" dirty="0"/>
          </a:p>
        </p:txBody>
      </p:sp>
      <p:sp>
        <p:nvSpPr>
          <p:cNvPr id="28" name="Shape 26"/>
          <p:cNvSpPr/>
          <p:nvPr/>
        </p:nvSpPr>
        <p:spPr>
          <a:xfrm>
            <a:off x="548640" y="3044952"/>
            <a:ext cx="1371600" cy="438912"/>
          </a:xfrm>
          <a:prstGeom prst="rect">
            <a:avLst/>
          </a:prstGeom>
          <a:solidFill>
            <a:srgbClr val="F2F6F2"/>
          </a:solidFill>
          <a:ln w="9525">
            <a:solidFill>
              <a:srgbClr val="D9E3DB"/>
            </a:solidFill>
            <a:prstDash val="solid"/>
          </a:ln>
        </p:spPr>
      </p:sp>
      <p:sp>
        <p:nvSpPr>
          <p:cNvPr id="29" name="Text 27"/>
          <p:cNvSpPr txBox="1"/>
          <p:nvPr/>
        </p:nvSpPr>
        <p:spPr>
          <a:xfrm>
            <a:off x="548640" y="3044952"/>
            <a:ext cx="137160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MRU-002</a:t>
            </a:r>
            <a:endParaRPr lang="en-US" sz="1200" dirty="0"/>
          </a:p>
        </p:txBody>
      </p:sp>
      <p:sp>
        <p:nvSpPr>
          <p:cNvPr id="30" name="Shape 28"/>
          <p:cNvSpPr/>
          <p:nvPr/>
        </p:nvSpPr>
        <p:spPr>
          <a:xfrm>
            <a:off x="1920240" y="3044952"/>
            <a:ext cx="1508760" cy="438912"/>
          </a:xfrm>
          <a:prstGeom prst="rect">
            <a:avLst/>
          </a:prstGeom>
          <a:solidFill>
            <a:srgbClr val="F2F6F2"/>
          </a:solidFill>
          <a:ln w="9525">
            <a:solidFill>
              <a:srgbClr val="D9E3DB"/>
            </a:solidFill>
            <a:prstDash val="solid"/>
          </a:ln>
        </p:spPr>
      </p:sp>
      <p:sp>
        <p:nvSpPr>
          <p:cNvPr id="31" name="Text 29"/>
          <p:cNvSpPr txBox="1"/>
          <p:nvPr/>
        </p:nvSpPr>
        <p:spPr>
          <a:xfrm>
            <a:off x="1920240" y="3044952"/>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640</a:t>
            </a:r>
            <a:endParaRPr lang="en-US" sz="1200" dirty="0"/>
          </a:p>
        </p:txBody>
      </p:sp>
      <p:sp>
        <p:nvSpPr>
          <p:cNvPr id="32" name="Shape 30"/>
          <p:cNvSpPr/>
          <p:nvPr/>
        </p:nvSpPr>
        <p:spPr>
          <a:xfrm>
            <a:off x="3429000" y="3044952"/>
            <a:ext cx="1508760" cy="438912"/>
          </a:xfrm>
          <a:prstGeom prst="rect">
            <a:avLst/>
          </a:prstGeom>
          <a:solidFill>
            <a:srgbClr val="F2F6F2"/>
          </a:solidFill>
          <a:ln w="9525">
            <a:solidFill>
              <a:srgbClr val="D9E3DB"/>
            </a:solidFill>
            <a:prstDash val="solid"/>
          </a:ln>
        </p:spPr>
      </p:sp>
      <p:sp>
        <p:nvSpPr>
          <p:cNvPr id="33" name="Text 31"/>
          <p:cNvSpPr txBox="1"/>
          <p:nvPr/>
        </p:nvSpPr>
        <p:spPr>
          <a:xfrm>
            <a:off x="3429000" y="3044952"/>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25</a:t>
            </a:r>
            <a:endParaRPr lang="en-US" sz="1200" dirty="0"/>
          </a:p>
        </p:txBody>
      </p:sp>
      <p:sp>
        <p:nvSpPr>
          <p:cNvPr id="34" name="Shape 32"/>
          <p:cNvSpPr/>
          <p:nvPr/>
        </p:nvSpPr>
        <p:spPr>
          <a:xfrm>
            <a:off x="4937760" y="3044952"/>
            <a:ext cx="1097280" cy="438912"/>
          </a:xfrm>
          <a:prstGeom prst="rect">
            <a:avLst/>
          </a:prstGeom>
          <a:solidFill>
            <a:srgbClr val="F2F6F2"/>
          </a:solidFill>
          <a:ln w="9525">
            <a:solidFill>
              <a:srgbClr val="D9E3DB"/>
            </a:solidFill>
            <a:prstDash val="solid"/>
          </a:ln>
        </p:spPr>
      </p:sp>
      <p:sp>
        <p:nvSpPr>
          <p:cNvPr id="35" name="Text 33"/>
          <p:cNvSpPr txBox="1"/>
          <p:nvPr/>
        </p:nvSpPr>
        <p:spPr>
          <a:xfrm>
            <a:off x="4937760" y="3044952"/>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5.4</a:t>
            </a:r>
            <a:endParaRPr lang="en-US" sz="1200" dirty="0"/>
          </a:p>
        </p:txBody>
      </p:sp>
      <p:sp>
        <p:nvSpPr>
          <p:cNvPr id="36" name="Shape 34"/>
          <p:cNvSpPr/>
          <p:nvPr/>
        </p:nvSpPr>
        <p:spPr>
          <a:xfrm>
            <a:off x="6035040" y="3044952"/>
            <a:ext cx="1097280" cy="438912"/>
          </a:xfrm>
          <a:prstGeom prst="rect">
            <a:avLst/>
          </a:prstGeom>
          <a:solidFill>
            <a:srgbClr val="F2F6F2"/>
          </a:solidFill>
          <a:ln w="9525">
            <a:solidFill>
              <a:srgbClr val="D9E3DB"/>
            </a:solidFill>
            <a:prstDash val="solid"/>
          </a:ln>
        </p:spPr>
      </p:sp>
      <p:sp>
        <p:nvSpPr>
          <p:cNvPr id="37" name="Text 35"/>
          <p:cNvSpPr txBox="1"/>
          <p:nvPr/>
        </p:nvSpPr>
        <p:spPr>
          <a:xfrm>
            <a:off x="6035040" y="3044952"/>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1.5</a:t>
            </a:r>
            <a:endParaRPr lang="en-US" sz="1200" dirty="0"/>
          </a:p>
        </p:txBody>
      </p:sp>
      <p:sp>
        <p:nvSpPr>
          <p:cNvPr id="38" name="Shape 36"/>
          <p:cNvSpPr/>
          <p:nvPr/>
        </p:nvSpPr>
        <p:spPr>
          <a:xfrm>
            <a:off x="7132320" y="3044952"/>
            <a:ext cx="1463040" cy="438912"/>
          </a:xfrm>
          <a:prstGeom prst="rect">
            <a:avLst/>
          </a:prstGeom>
          <a:solidFill>
            <a:srgbClr val="FBF3DC"/>
          </a:solidFill>
          <a:ln w="9525">
            <a:solidFill>
              <a:srgbClr val="D9E3DB"/>
            </a:solidFill>
            <a:prstDash val="solid"/>
          </a:ln>
        </p:spPr>
      </p:sp>
      <p:sp>
        <p:nvSpPr>
          <p:cNvPr id="39" name="Text 37"/>
          <p:cNvSpPr txBox="1"/>
          <p:nvPr/>
        </p:nvSpPr>
        <p:spPr>
          <a:xfrm>
            <a:off x="7132320" y="3044952"/>
            <a:ext cx="1463040" cy="438912"/>
          </a:xfrm>
          <a:prstGeom prst="rect">
            <a:avLst/>
          </a:prstGeom>
          <a:noFill/>
          <a:ln/>
        </p:spPr>
        <p:txBody>
          <a:bodyPr wrap="square" lIns="0" tIns="0" rIns="0" bIns="0" rtlCol="0" anchor="ctr"/>
          <a:lstStyle/>
          <a:p>
            <a:pPr algn="ctr" indent="0" marL="0">
              <a:buNone/>
            </a:pPr>
            <a:r>
              <a:rPr lang="en-US" sz="1200" b="1" dirty="0">
                <a:solidFill>
                  <a:srgbClr val="1B2A20"/>
                </a:solidFill>
                <a:latin typeface="Calibri" pitchFamily="34" charset="0"/>
                <a:ea typeface="Calibri" pitchFamily="34" charset="-122"/>
                <a:cs typeface="Calibri" pitchFamily="34" charset="-120"/>
              </a:rPr>
              <a:t>9</a:t>
            </a:r>
            <a:endParaRPr lang="en-US" sz="1200" dirty="0"/>
          </a:p>
        </p:txBody>
      </p:sp>
      <p:sp>
        <p:nvSpPr>
          <p:cNvPr id="40" name="Shape 38"/>
          <p:cNvSpPr/>
          <p:nvPr/>
        </p:nvSpPr>
        <p:spPr>
          <a:xfrm>
            <a:off x="548640" y="3483864"/>
            <a:ext cx="1371600" cy="438912"/>
          </a:xfrm>
          <a:prstGeom prst="rect">
            <a:avLst/>
          </a:prstGeom>
          <a:solidFill>
            <a:srgbClr val="FFFFFF"/>
          </a:solidFill>
          <a:ln w="9525">
            <a:solidFill>
              <a:srgbClr val="D9E3DB"/>
            </a:solidFill>
            <a:prstDash val="solid"/>
          </a:ln>
        </p:spPr>
      </p:sp>
      <p:sp>
        <p:nvSpPr>
          <p:cNvPr id="41" name="Text 39"/>
          <p:cNvSpPr txBox="1"/>
          <p:nvPr/>
        </p:nvSpPr>
        <p:spPr>
          <a:xfrm>
            <a:off x="548640" y="3483864"/>
            <a:ext cx="137160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MRU-003</a:t>
            </a:r>
            <a:endParaRPr lang="en-US" sz="1200" dirty="0"/>
          </a:p>
        </p:txBody>
      </p:sp>
      <p:sp>
        <p:nvSpPr>
          <p:cNvPr id="42" name="Shape 40"/>
          <p:cNvSpPr/>
          <p:nvPr/>
        </p:nvSpPr>
        <p:spPr>
          <a:xfrm>
            <a:off x="1920240" y="3483864"/>
            <a:ext cx="1508760" cy="438912"/>
          </a:xfrm>
          <a:prstGeom prst="rect">
            <a:avLst/>
          </a:prstGeom>
          <a:solidFill>
            <a:srgbClr val="FFFFFF"/>
          </a:solidFill>
          <a:ln w="9525">
            <a:solidFill>
              <a:srgbClr val="D9E3DB"/>
            </a:solidFill>
            <a:prstDash val="solid"/>
          </a:ln>
        </p:spPr>
      </p:sp>
      <p:sp>
        <p:nvSpPr>
          <p:cNvPr id="43" name="Text 41"/>
          <p:cNvSpPr txBox="1"/>
          <p:nvPr/>
        </p:nvSpPr>
        <p:spPr>
          <a:xfrm>
            <a:off x="1920240" y="3483864"/>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905</a:t>
            </a:r>
            <a:endParaRPr lang="en-US" sz="1200" dirty="0"/>
          </a:p>
        </p:txBody>
      </p:sp>
      <p:sp>
        <p:nvSpPr>
          <p:cNvPr id="44" name="Shape 42"/>
          <p:cNvSpPr/>
          <p:nvPr/>
        </p:nvSpPr>
        <p:spPr>
          <a:xfrm>
            <a:off x="3429000" y="3483864"/>
            <a:ext cx="1508760" cy="438912"/>
          </a:xfrm>
          <a:prstGeom prst="rect">
            <a:avLst/>
          </a:prstGeom>
          <a:solidFill>
            <a:srgbClr val="FFFFFF"/>
          </a:solidFill>
          <a:ln w="9525">
            <a:solidFill>
              <a:srgbClr val="D9E3DB"/>
            </a:solidFill>
            <a:prstDash val="solid"/>
          </a:ln>
        </p:spPr>
      </p:sp>
      <p:sp>
        <p:nvSpPr>
          <p:cNvPr id="45" name="Text 43"/>
          <p:cNvSpPr txBox="1"/>
          <p:nvPr/>
        </p:nvSpPr>
        <p:spPr>
          <a:xfrm>
            <a:off x="3429000" y="3483864"/>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75</a:t>
            </a:r>
            <a:endParaRPr lang="en-US" sz="1200" dirty="0"/>
          </a:p>
        </p:txBody>
      </p:sp>
      <p:sp>
        <p:nvSpPr>
          <p:cNvPr id="46" name="Shape 44"/>
          <p:cNvSpPr/>
          <p:nvPr/>
        </p:nvSpPr>
        <p:spPr>
          <a:xfrm>
            <a:off x="4937760" y="3483864"/>
            <a:ext cx="1097280" cy="438912"/>
          </a:xfrm>
          <a:prstGeom prst="rect">
            <a:avLst/>
          </a:prstGeom>
          <a:solidFill>
            <a:srgbClr val="FFFFFF"/>
          </a:solidFill>
          <a:ln w="9525">
            <a:solidFill>
              <a:srgbClr val="D9E3DB"/>
            </a:solidFill>
            <a:prstDash val="solid"/>
          </a:ln>
        </p:spPr>
      </p:sp>
      <p:sp>
        <p:nvSpPr>
          <p:cNvPr id="47" name="Text 45"/>
          <p:cNvSpPr txBox="1"/>
          <p:nvPr/>
        </p:nvSpPr>
        <p:spPr>
          <a:xfrm>
            <a:off x="4937760" y="3483864"/>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6.4</a:t>
            </a:r>
            <a:endParaRPr lang="en-US" sz="1200" dirty="0"/>
          </a:p>
        </p:txBody>
      </p:sp>
      <p:sp>
        <p:nvSpPr>
          <p:cNvPr id="48" name="Shape 46"/>
          <p:cNvSpPr/>
          <p:nvPr/>
        </p:nvSpPr>
        <p:spPr>
          <a:xfrm>
            <a:off x="6035040" y="3483864"/>
            <a:ext cx="1097280" cy="438912"/>
          </a:xfrm>
          <a:prstGeom prst="rect">
            <a:avLst/>
          </a:prstGeom>
          <a:solidFill>
            <a:srgbClr val="FFFFFF"/>
          </a:solidFill>
          <a:ln w="9525">
            <a:solidFill>
              <a:srgbClr val="D9E3DB"/>
            </a:solidFill>
            <a:prstDash val="solid"/>
          </a:ln>
        </p:spPr>
      </p:sp>
      <p:sp>
        <p:nvSpPr>
          <p:cNvPr id="49" name="Text 47"/>
          <p:cNvSpPr txBox="1"/>
          <p:nvPr/>
        </p:nvSpPr>
        <p:spPr>
          <a:xfrm>
            <a:off x="6035040" y="3483864"/>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3.0</a:t>
            </a:r>
            <a:endParaRPr lang="en-US" sz="1200" dirty="0"/>
          </a:p>
        </p:txBody>
      </p:sp>
      <p:sp>
        <p:nvSpPr>
          <p:cNvPr id="50" name="Shape 48"/>
          <p:cNvSpPr/>
          <p:nvPr/>
        </p:nvSpPr>
        <p:spPr>
          <a:xfrm>
            <a:off x="7132320" y="3483864"/>
            <a:ext cx="1463040" cy="438912"/>
          </a:xfrm>
          <a:prstGeom prst="rect">
            <a:avLst/>
          </a:prstGeom>
          <a:solidFill>
            <a:srgbClr val="FBF3DC"/>
          </a:solidFill>
          <a:ln w="9525">
            <a:solidFill>
              <a:srgbClr val="D9E3DB"/>
            </a:solidFill>
            <a:prstDash val="solid"/>
          </a:ln>
        </p:spPr>
      </p:sp>
      <p:sp>
        <p:nvSpPr>
          <p:cNvPr id="51" name="Text 49"/>
          <p:cNvSpPr txBox="1"/>
          <p:nvPr/>
        </p:nvSpPr>
        <p:spPr>
          <a:xfrm>
            <a:off x="7132320" y="3483864"/>
            <a:ext cx="1463040" cy="438912"/>
          </a:xfrm>
          <a:prstGeom prst="rect">
            <a:avLst/>
          </a:prstGeom>
          <a:noFill/>
          <a:ln/>
        </p:spPr>
        <p:txBody>
          <a:bodyPr wrap="square" lIns="0" tIns="0" rIns="0" bIns="0" rtlCol="0" anchor="ctr"/>
          <a:lstStyle/>
          <a:p>
            <a:pPr algn="ctr" indent="0" marL="0">
              <a:buNone/>
            </a:pPr>
            <a:r>
              <a:rPr lang="en-US" sz="1200" b="1" dirty="0">
                <a:solidFill>
                  <a:srgbClr val="1B2A20"/>
                </a:solidFill>
                <a:latin typeface="Calibri" pitchFamily="34" charset="0"/>
                <a:ea typeface="Calibri" pitchFamily="34" charset="-122"/>
                <a:cs typeface="Calibri" pitchFamily="34" charset="-120"/>
              </a:rPr>
              <a:t>31</a:t>
            </a:r>
            <a:endParaRPr lang="en-US" sz="1200" dirty="0"/>
          </a:p>
        </p:txBody>
      </p:sp>
      <p:sp>
        <p:nvSpPr>
          <p:cNvPr id="52" name="Shape 50"/>
          <p:cNvSpPr/>
          <p:nvPr/>
        </p:nvSpPr>
        <p:spPr>
          <a:xfrm>
            <a:off x="548640" y="3922776"/>
            <a:ext cx="1371600" cy="438912"/>
          </a:xfrm>
          <a:prstGeom prst="rect">
            <a:avLst/>
          </a:prstGeom>
          <a:solidFill>
            <a:srgbClr val="F2F6F2"/>
          </a:solidFill>
          <a:ln w="9525">
            <a:solidFill>
              <a:srgbClr val="D9E3DB"/>
            </a:solidFill>
            <a:prstDash val="solid"/>
          </a:ln>
        </p:spPr>
      </p:sp>
      <p:sp>
        <p:nvSpPr>
          <p:cNvPr id="53" name="Text 51"/>
          <p:cNvSpPr txBox="1"/>
          <p:nvPr/>
        </p:nvSpPr>
        <p:spPr>
          <a:xfrm>
            <a:off x="548640" y="3922776"/>
            <a:ext cx="137160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MRU-004</a:t>
            </a:r>
            <a:endParaRPr lang="en-US" sz="1200" dirty="0"/>
          </a:p>
        </p:txBody>
      </p:sp>
      <p:sp>
        <p:nvSpPr>
          <p:cNvPr id="54" name="Shape 52"/>
          <p:cNvSpPr/>
          <p:nvPr/>
        </p:nvSpPr>
        <p:spPr>
          <a:xfrm>
            <a:off x="1920240" y="3922776"/>
            <a:ext cx="1508760" cy="438912"/>
          </a:xfrm>
          <a:prstGeom prst="rect">
            <a:avLst/>
          </a:prstGeom>
          <a:solidFill>
            <a:srgbClr val="F2F6F2"/>
          </a:solidFill>
          <a:ln w="9525">
            <a:solidFill>
              <a:srgbClr val="D9E3DB"/>
            </a:solidFill>
            <a:prstDash val="solid"/>
          </a:ln>
        </p:spPr>
      </p:sp>
      <p:sp>
        <p:nvSpPr>
          <p:cNvPr id="55" name="Text 53"/>
          <p:cNvSpPr txBox="1"/>
          <p:nvPr/>
        </p:nvSpPr>
        <p:spPr>
          <a:xfrm>
            <a:off x="1920240" y="3922776"/>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712</a:t>
            </a:r>
            <a:endParaRPr lang="en-US" sz="1200" dirty="0"/>
          </a:p>
        </p:txBody>
      </p:sp>
      <p:sp>
        <p:nvSpPr>
          <p:cNvPr id="56" name="Shape 54"/>
          <p:cNvSpPr/>
          <p:nvPr/>
        </p:nvSpPr>
        <p:spPr>
          <a:xfrm>
            <a:off x="3429000" y="3922776"/>
            <a:ext cx="1508760" cy="438912"/>
          </a:xfrm>
          <a:prstGeom prst="rect">
            <a:avLst/>
          </a:prstGeom>
          <a:solidFill>
            <a:srgbClr val="F2F6F2"/>
          </a:solidFill>
          <a:ln w="9525">
            <a:solidFill>
              <a:srgbClr val="D9E3DB"/>
            </a:solidFill>
            <a:prstDash val="solid"/>
          </a:ln>
        </p:spPr>
      </p:sp>
      <p:sp>
        <p:nvSpPr>
          <p:cNvPr id="57" name="Text 55"/>
          <p:cNvSpPr txBox="1"/>
          <p:nvPr/>
        </p:nvSpPr>
        <p:spPr>
          <a:xfrm>
            <a:off x="3429000" y="3922776"/>
            <a:ext cx="150876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0</a:t>
            </a:r>
            <a:endParaRPr lang="en-US" sz="1200" dirty="0"/>
          </a:p>
        </p:txBody>
      </p:sp>
      <p:sp>
        <p:nvSpPr>
          <p:cNvPr id="58" name="Shape 56"/>
          <p:cNvSpPr/>
          <p:nvPr/>
        </p:nvSpPr>
        <p:spPr>
          <a:xfrm>
            <a:off x="4937760" y="3922776"/>
            <a:ext cx="1097280" cy="438912"/>
          </a:xfrm>
          <a:prstGeom prst="rect">
            <a:avLst/>
          </a:prstGeom>
          <a:solidFill>
            <a:srgbClr val="F2F6F2"/>
          </a:solidFill>
          <a:ln w="9525">
            <a:solidFill>
              <a:srgbClr val="D9E3DB"/>
            </a:solidFill>
            <a:prstDash val="solid"/>
          </a:ln>
        </p:spPr>
      </p:sp>
      <p:sp>
        <p:nvSpPr>
          <p:cNvPr id="59" name="Text 57"/>
          <p:cNvSpPr txBox="1"/>
          <p:nvPr/>
        </p:nvSpPr>
        <p:spPr>
          <a:xfrm>
            <a:off x="4937760" y="3922776"/>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5.9</a:t>
            </a:r>
            <a:endParaRPr lang="en-US" sz="1200" dirty="0"/>
          </a:p>
        </p:txBody>
      </p:sp>
      <p:sp>
        <p:nvSpPr>
          <p:cNvPr id="60" name="Shape 58"/>
          <p:cNvSpPr/>
          <p:nvPr/>
        </p:nvSpPr>
        <p:spPr>
          <a:xfrm>
            <a:off x="6035040" y="3922776"/>
            <a:ext cx="1097280" cy="438912"/>
          </a:xfrm>
          <a:prstGeom prst="rect">
            <a:avLst/>
          </a:prstGeom>
          <a:solidFill>
            <a:srgbClr val="F2F6F2"/>
          </a:solidFill>
          <a:ln w="9525">
            <a:solidFill>
              <a:srgbClr val="D9E3DB"/>
            </a:solidFill>
            <a:prstDash val="solid"/>
          </a:ln>
        </p:spPr>
      </p:sp>
      <p:sp>
        <p:nvSpPr>
          <p:cNvPr id="61" name="Text 59"/>
          <p:cNvSpPr txBox="1"/>
          <p:nvPr/>
        </p:nvSpPr>
        <p:spPr>
          <a:xfrm>
            <a:off x="6035040" y="3922776"/>
            <a:ext cx="1097280" cy="438912"/>
          </a:xfrm>
          <a:prstGeom prst="rect">
            <a:avLst/>
          </a:prstGeom>
          <a:noFill/>
          <a:ln/>
        </p:spPr>
        <p:txBody>
          <a:bodyPr wrap="square" lIns="0" tIns="0" rIns="0" bIns="0" rtlCol="0" anchor="ctr"/>
          <a:lstStyle/>
          <a:p>
            <a:pPr algn="ctr" indent="0" marL="0">
              <a:buNone/>
            </a:pPr>
            <a:r>
              <a:rPr lang="en-US" sz="1200" dirty="0">
                <a:solidFill>
                  <a:srgbClr val="1B2A20"/>
                </a:solidFill>
                <a:latin typeface="Calibri" pitchFamily="34" charset="0"/>
                <a:ea typeface="Calibri" pitchFamily="34" charset="-122"/>
                <a:cs typeface="Calibri" pitchFamily="34" charset="-120"/>
              </a:rPr>
              <a:t>2.5</a:t>
            </a:r>
            <a:endParaRPr lang="en-US" sz="1200" dirty="0"/>
          </a:p>
        </p:txBody>
      </p:sp>
      <p:sp>
        <p:nvSpPr>
          <p:cNvPr id="62" name="Shape 60"/>
          <p:cNvSpPr/>
          <p:nvPr/>
        </p:nvSpPr>
        <p:spPr>
          <a:xfrm>
            <a:off x="7132320" y="3922776"/>
            <a:ext cx="1463040" cy="438912"/>
          </a:xfrm>
          <a:prstGeom prst="rect">
            <a:avLst/>
          </a:prstGeom>
          <a:solidFill>
            <a:srgbClr val="FBF3DC"/>
          </a:solidFill>
          <a:ln w="9525">
            <a:solidFill>
              <a:srgbClr val="D9E3DB"/>
            </a:solidFill>
            <a:prstDash val="solid"/>
          </a:ln>
        </p:spPr>
      </p:sp>
      <p:sp>
        <p:nvSpPr>
          <p:cNvPr id="63" name="Text 61"/>
          <p:cNvSpPr txBox="1"/>
          <p:nvPr/>
        </p:nvSpPr>
        <p:spPr>
          <a:xfrm>
            <a:off x="7132320" y="3922776"/>
            <a:ext cx="1463040" cy="438912"/>
          </a:xfrm>
          <a:prstGeom prst="rect">
            <a:avLst/>
          </a:prstGeom>
          <a:noFill/>
          <a:ln/>
        </p:spPr>
        <p:txBody>
          <a:bodyPr wrap="square" lIns="0" tIns="0" rIns="0" bIns="0" rtlCol="0" anchor="ctr"/>
          <a:lstStyle/>
          <a:p>
            <a:pPr algn="ctr" indent="0" marL="0">
              <a:buNone/>
            </a:pPr>
            <a:r>
              <a:rPr lang="en-US" sz="1200" b="1" dirty="0">
                <a:solidFill>
                  <a:srgbClr val="1B2A20"/>
                </a:solidFill>
                <a:latin typeface="Calibri" pitchFamily="34" charset="0"/>
                <a:ea typeface="Calibri" pitchFamily="34" charset="-122"/>
                <a:cs typeface="Calibri" pitchFamily="34" charset="-120"/>
              </a:rPr>
              <a:t>11</a:t>
            </a:r>
            <a:endParaRPr lang="en-US" sz="1200" dirty="0"/>
          </a:p>
        </p:txBody>
      </p:sp>
      <p:sp>
        <p:nvSpPr>
          <p:cNvPr id="64" name="Text 62"/>
          <p:cNvSpPr txBox="1"/>
          <p:nvPr/>
        </p:nvSpPr>
        <p:spPr>
          <a:xfrm>
            <a:off x="1920240" y="1783080"/>
            <a:ext cx="4937760" cy="274320"/>
          </a:xfrm>
          <a:prstGeom prst="rect">
            <a:avLst/>
          </a:prstGeom>
          <a:noFill/>
          <a:ln/>
        </p:spPr>
        <p:txBody>
          <a:bodyPr wrap="square" lIns="0" tIns="0" rIns="0" bIns="0" rtlCol="0" anchor="ctr"/>
          <a:lstStyle/>
          <a:p>
            <a:pPr algn="ctr" indent="0" marL="0">
              <a:buNone/>
            </a:pPr>
            <a:r>
              <a:rPr lang="en-US" sz="1150" b="1" spc="120" kern="0" dirty="0">
                <a:solidFill>
                  <a:srgbClr val="0F6B3C"/>
                </a:solidFill>
                <a:latin typeface="Calibri" pitchFamily="34" charset="0"/>
                <a:ea typeface="Calibri" pitchFamily="34" charset="-122"/>
                <a:cs typeface="Calibri" pitchFamily="34" charset="-120"/>
              </a:rPr>
              <a:t>FEATURES  (X)  —  the inputs</a:t>
            </a:r>
            <a:endParaRPr lang="en-US" sz="1150" dirty="0"/>
          </a:p>
        </p:txBody>
      </p:sp>
      <p:sp>
        <p:nvSpPr>
          <p:cNvPr id="65" name="Text 63"/>
          <p:cNvSpPr txBox="1"/>
          <p:nvPr/>
        </p:nvSpPr>
        <p:spPr>
          <a:xfrm>
            <a:off x="8595360" y="1783080"/>
            <a:ext cx="1463040" cy="274320"/>
          </a:xfrm>
          <a:prstGeom prst="rect">
            <a:avLst/>
          </a:prstGeom>
          <a:noFill/>
          <a:ln/>
        </p:spPr>
        <p:txBody>
          <a:bodyPr wrap="square" lIns="0" tIns="0" rIns="0" bIns="0" rtlCol="0" anchor="ctr"/>
          <a:lstStyle/>
          <a:p>
            <a:pPr algn="ctr" indent="0" marL="0">
              <a:buNone/>
            </a:pPr>
            <a:r>
              <a:rPr lang="en-US" sz="1150" b="1" spc="120" kern="0" dirty="0">
                <a:solidFill>
                  <a:srgbClr val="C9A227"/>
                </a:solidFill>
                <a:latin typeface="Calibri" pitchFamily="34" charset="0"/>
                <a:ea typeface="Calibri" pitchFamily="34" charset="-122"/>
                <a:cs typeface="Calibri" pitchFamily="34" charset="-120"/>
              </a:rPr>
              <a:t>LABEL  (y)</a:t>
            </a:r>
            <a:endParaRPr lang="en-US" sz="1150" dirty="0"/>
          </a:p>
        </p:txBody>
      </p:sp>
      <p:sp>
        <p:nvSpPr>
          <p:cNvPr id="66" name="Text 64"/>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200" i="1" dirty="0">
                <a:solidFill>
                  <a:srgbClr val="5C6B60"/>
                </a:solidFill>
                <a:latin typeface="Calibri" pitchFamily="34" charset="0"/>
                <a:ea typeface="Calibri" pitchFamily="34" charset="-122"/>
                <a:cs typeface="Calibri" pitchFamily="34" charset="-120"/>
              </a:rPr>
              <a:t>Each row is one instance / example / observation</a:t>
            </a:r>
            <a:endParaRPr lang="en-US" sz="1200" dirty="0"/>
          </a:p>
        </p:txBody>
      </p:sp>
      <p:sp>
        <p:nvSpPr>
          <p:cNvPr id="67" name="Shape 65"/>
          <p:cNvSpPr/>
          <p:nvPr/>
        </p:nvSpPr>
        <p:spPr>
          <a:xfrm>
            <a:off x="548640" y="4892040"/>
            <a:ext cx="5532120" cy="621792"/>
          </a:xfrm>
          <a:prstGeom prst="roundRect">
            <a:avLst>
              <a:gd name="adj" fmla="val 1764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8" name="Text 66"/>
          <p:cNvSpPr txBox="1"/>
          <p:nvPr/>
        </p:nvSpPr>
        <p:spPr>
          <a:xfrm>
            <a:off x="749808" y="4965192"/>
            <a:ext cx="1600200" cy="475488"/>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Instance</a:t>
            </a:r>
            <a:endParaRPr lang="en-US" sz="1250" dirty="0"/>
          </a:p>
        </p:txBody>
      </p:sp>
      <p:sp>
        <p:nvSpPr>
          <p:cNvPr id="69" name="Text 67"/>
          <p:cNvSpPr txBox="1"/>
          <p:nvPr/>
        </p:nvSpPr>
        <p:spPr>
          <a:xfrm>
            <a:off x="2331720" y="4946904"/>
            <a:ext cx="3611880" cy="512064"/>
          </a:xfrm>
          <a:prstGeom prst="rect">
            <a:avLst/>
          </a:prstGeom>
          <a:noFill/>
          <a:ln/>
        </p:spPr>
        <p:txBody>
          <a:bodyPr wrap="square" lIns="0" tIns="0" rIns="0" bIns="0" rtlCol="0" anchor="ctr"/>
          <a:lstStyle/>
          <a:p>
            <a:pPr indent="0" marL="0">
              <a:lnSpc>
                <a:spcPts val="1300"/>
              </a:lnSpc>
              <a:buNone/>
            </a:pPr>
            <a:r>
              <a:rPr lang="en-US" sz="1100" dirty="0">
                <a:solidFill>
                  <a:srgbClr val="5C6B60"/>
                </a:solidFill>
                <a:latin typeface="Calibri" pitchFamily="34" charset="0"/>
                <a:ea typeface="Calibri" pitchFamily="34" charset="-122"/>
                <a:cs typeface="Calibri" pitchFamily="34" charset="-120"/>
              </a:rPr>
              <a:t>One row. One farm. Written x⁽ⁱ⁾.</a:t>
            </a:r>
            <a:endParaRPr lang="en-US" sz="1100" dirty="0"/>
          </a:p>
        </p:txBody>
      </p:sp>
      <p:sp>
        <p:nvSpPr>
          <p:cNvPr id="70" name="Shape 68"/>
          <p:cNvSpPr/>
          <p:nvPr/>
        </p:nvSpPr>
        <p:spPr>
          <a:xfrm>
            <a:off x="6080760" y="4892040"/>
            <a:ext cx="5532120" cy="621792"/>
          </a:xfrm>
          <a:prstGeom prst="roundRect">
            <a:avLst>
              <a:gd name="adj" fmla="val 1764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1" name="Text 69"/>
          <p:cNvSpPr txBox="1"/>
          <p:nvPr/>
        </p:nvSpPr>
        <p:spPr>
          <a:xfrm>
            <a:off x="6281928" y="4965192"/>
            <a:ext cx="1600200" cy="475488"/>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Feature</a:t>
            </a:r>
            <a:endParaRPr lang="en-US" sz="1250" dirty="0"/>
          </a:p>
        </p:txBody>
      </p:sp>
      <p:sp>
        <p:nvSpPr>
          <p:cNvPr id="72" name="Text 70"/>
          <p:cNvSpPr txBox="1"/>
          <p:nvPr/>
        </p:nvSpPr>
        <p:spPr>
          <a:xfrm>
            <a:off x="7863840" y="4946904"/>
            <a:ext cx="3611880" cy="512064"/>
          </a:xfrm>
          <a:prstGeom prst="rect">
            <a:avLst/>
          </a:prstGeom>
          <a:noFill/>
          <a:ln/>
        </p:spPr>
        <p:txBody>
          <a:bodyPr wrap="square" lIns="0" tIns="0" rIns="0" bIns="0" rtlCol="0" anchor="ctr"/>
          <a:lstStyle/>
          <a:p>
            <a:pPr indent="0" marL="0">
              <a:lnSpc>
                <a:spcPts val="1300"/>
              </a:lnSpc>
              <a:buNone/>
            </a:pPr>
            <a:r>
              <a:rPr lang="en-US" sz="1100" dirty="0">
                <a:solidFill>
                  <a:srgbClr val="5C6B60"/>
                </a:solidFill>
                <a:latin typeface="Calibri" pitchFamily="34" charset="0"/>
                <a:ea typeface="Calibri" pitchFamily="34" charset="-122"/>
                <a:cs typeface="Calibri" pitchFamily="34" charset="-120"/>
              </a:rPr>
              <a:t>One input column. Also called an attribute, predictor or variable.</a:t>
            </a:r>
            <a:endParaRPr lang="en-US" sz="1100" dirty="0"/>
          </a:p>
        </p:txBody>
      </p:sp>
      <p:sp>
        <p:nvSpPr>
          <p:cNvPr id="73" name="Shape 71"/>
          <p:cNvSpPr/>
          <p:nvPr/>
        </p:nvSpPr>
        <p:spPr>
          <a:xfrm>
            <a:off x="548640" y="5605272"/>
            <a:ext cx="5532120" cy="621792"/>
          </a:xfrm>
          <a:prstGeom prst="roundRect">
            <a:avLst>
              <a:gd name="adj" fmla="val 1764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4" name="Text 72"/>
          <p:cNvSpPr txBox="1"/>
          <p:nvPr/>
        </p:nvSpPr>
        <p:spPr>
          <a:xfrm>
            <a:off x="749808" y="5678424"/>
            <a:ext cx="1600200" cy="475488"/>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Label / target</a:t>
            </a:r>
            <a:endParaRPr lang="en-US" sz="1250" dirty="0"/>
          </a:p>
        </p:txBody>
      </p:sp>
      <p:sp>
        <p:nvSpPr>
          <p:cNvPr id="75" name="Text 73"/>
          <p:cNvSpPr txBox="1"/>
          <p:nvPr/>
        </p:nvSpPr>
        <p:spPr>
          <a:xfrm>
            <a:off x="2331720" y="5660136"/>
            <a:ext cx="3611880" cy="512064"/>
          </a:xfrm>
          <a:prstGeom prst="rect">
            <a:avLst/>
          </a:prstGeom>
          <a:noFill/>
          <a:ln/>
        </p:spPr>
        <p:txBody>
          <a:bodyPr wrap="square" lIns="0" tIns="0" rIns="0" bIns="0" rtlCol="0" anchor="ctr"/>
          <a:lstStyle/>
          <a:p>
            <a:pPr indent="0" marL="0">
              <a:lnSpc>
                <a:spcPts val="1300"/>
              </a:lnSpc>
              <a:buNone/>
            </a:pPr>
            <a:r>
              <a:rPr lang="en-US" sz="1100" dirty="0">
                <a:solidFill>
                  <a:srgbClr val="5C6B60"/>
                </a:solidFill>
                <a:latin typeface="Calibri" pitchFamily="34" charset="0"/>
                <a:ea typeface="Calibri" pitchFamily="34" charset="-122"/>
                <a:cs typeface="Calibri" pitchFamily="34" charset="-120"/>
              </a:rPr>
              <a:t>The column we want to predict. Written y. Present in supervised data only.</a:t>
            </a:r>
            <a:endParaRPr lang="en-US" sz="1100" dirty="0"/>
          </a:p>
        </p:txBody>
      </p:sp>
      <p:sp>
        <p:nvSpPr>
          <p:cNvPr id="76" name="Shape 74"/>
          <p:cNvSpPr/>
          <p:nvPr/>
        </p:nvSpPr>
        <p:spPr>
          <a:xfrm>
            <a:off x="6080760" y="5605272"/>
            <a:ext cx="5532120" cy="621792"/>
          </a:xfrm>
          <a:prstGeom prst="roundRect">
            <a:avLst>
              <a:gd name="adj" fmla="val 1764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7" name="Text 75"/>
          <p:cNvSpPr txBox="1"/>
          <p:nvPr/>
        </p:nvSpPr>
        <p:spPr>
          <a:xfrm>
            <a:off x="6281928" y="5678424"/>
            <a:ext cx="1600200" cy="475488"/>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Feature vector</a:t>
            </a:r>
            <a:endParaRPr lang="en-US" sz="1250" dirty="0"/>
          </a:p>
        </p:txBody>
      </p:sp>
      <p:sp>
        <p:nvSpPr>
          <p:cNvPr id="78" name="Text 76"/>
          <p:cNvSpPr txBox="1"/>
          <p:nvPr/>
        </p:nvSpPr>
        <p:spPr>
          <a:xfrm>
            <a:off x="7863840" y="5660136"/>
            <a:ext cx="3611880" cy="512064"/>
          </a:xfrm>
          <a:prstGeom prst="rect">
            <a:avLst/>
          </a:prstGeom>
          <a:noFill/>
          <a:ln/>
        </p:spPr>
        <p:txBody>
          <a:bodyPr wrap="square" lIns="0" tIns="0" rIns="0" bIns="0" rtlCol="0" anchor="ctr"/>
          <a:lstStyle/>
          <a:p>
            <a:pPr indent="0" marL="0">
              <a:lnSpc>
                <a:spcPts val="1300"/>
              </a:lnSpc>
              <a:buNone/>
            </a:pPr>
            <a:r>
              <a:rPr lang="en-US" sz="1100" dirty="0">
                <a:solidFill>
                  <a:srgbClr val="5C6B60"/>
                </a:solidFill>
                <a:latin typeface="Calibri" pitchFamily="34" charset="0"/>
                <a:ea typeface="Calibri" pitchFamily="34" charset="-122"/>
                <a:cs typeface="Calibri" pitchFamily="34" charset="-120"/>
              </a:rPr>
              <a:t>The row written as numbers: x = [812, 50, 6.1, 2.0]. This is what the algorithm actually sees.</a:t>
            </a:r>
            <a:endParaRPr lang="en-US" sz="1100" dirty="0"/>
          </a:p>
        </p:txBody>
      </p:sp>
      <p:sp>
        <p:nvSpPr>
          <p:cNvPr id="80" name="Text 77"/>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81" name="Text 78"/>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21</a:t>
            </a:r>
            <a:endParaRPr lang="en-US" sz="900" dirty="0"/>
          </a:p>
        </p:txBody>
      </p:sp>
      <p:pic>
        <p:nvPicPr>
          <p:cNvPr id="82" name="Picture 81"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HOW A REAL PROJECT ACTUALLY RUNS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Machine Learning Pipeline</a:t>
            </a:r>
            <a:endParaRPr lang="en-US" sz="3000" dirty="0"/>
          </a:p>
        </p:txBody>
      </p:sp>
      <p:sp>
        <p:nvSpPr>
          <p:cNvPr id="4" name="Shape 2"/>
          <p:cNvSpPr/>
          <p:nvPr/>
        </p:nvSpPr>
        <p:spPr>
          <a:xfrm>
            <a:off x="548640"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1115568" y="2176272"/>
            <a:ext cx="438912" cy="438912"/>
          </a:xfrm>
          <a:prstGeom prst="ellipse">
            <a:avLst/>
          </a:prstGeom>
          <a:solidFill>
            <a:srgbClr val="C9A227"/>
          </a:solidFill>
          <a:ln w="12700">
            <a:solidFill>
              <a:srgbClr val="C9A227"/>
            </a:solidFill>
            <a:prstDash val="solid"/>
          </a:ln>
        </p:spPr>
      </p:sp>
      <p:sp>
        <p:nvSpPr>
          <p:cNvPr id="6" name="Text 4"/>
          <p:cNvSpPr txBox="1"/>
          <p:nvPr/>
        </p:nvSpPr>
        <p:spPr>
          <a:xfrm>
            <a:off x="1115568"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76656"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Frame the problem</a:t>
            </a:r>
            <a:endParaRPr lang="en-US" sz="1350" dirty="0"/>
          </a:p>
        </p:txBody>
      </p:sp>
      <p:sp>
        <p:nvSpPr>
          <p:cNvPr id="8" name="Text 6"/>
          <p:cNvSpPr txBox="1"/>
          <p:nvPr/>
        </p:nvSpPr>
        <p:spPr>
          <a:xfrm>
            <a:off x="676656"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State E, T and P. Decide what a useful prediction would change.</a:t>
            </a:r>
            <a:endParaRPr lang="en-US" sz="1050" dirty="0"/>
          </a:p>
        </p:txBody>
      </p:sp>
      <p:sp>
        <p:nvSpPr>
          <p:cNvPr id="9" name="Shape 7"/>
          <p:cNvSpPr/>
          <p:nvPr/>
        </p:nvSpPr>
        <p:spPr>
          <a:xfrm>
            <a:off x="2221992"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10" name="Shape 8"/>
          <p:cNvSpPr/>
          <p:nvPr/>
        </p:nvSpPr>
        <p:spPr>
          <a:xfrm>
            <a:off x="2788920" y="2176272"/>
            <a:ext cx="438912" cy="438912"/>
          </a:xfrm>
          <a:prstGeom prst="ellipse">
            <a:avLst/>
          </a:prstGeom>
          <a:solidFill>
            <a:srgbClr val="C9A227"/>
          </a:solidFill>
          <a:ln w="12700">
            <a:solidFill>
              <a:srgbClr val="C9A227"/>
            </a:solidFill>
            <a:prstDash val="solid"/>
          </a:ln>
        </p:spPr>
      </p:sp>
      <p:sp>
        <p:nvSpPr>
          <p:cNvPr id="11" name="Text 9"/>
          <p:cNvSpPr txBox="1"/>
          <p:nvPr/>
        </p:nvSpPr>
        <p:spPr>
          <a:xfrm>
            <a:off x="2788920"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350008"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Collect data</a:t>
            </a:r>
            <a:endParaRPr lang="en-US" sz="1350" dirty="0"/>
          </a:p>
        </p:txBody>
      </p:sp>
      <p:sp>
        <p:nvSpPr>
          <p:cNvPr id="13" name="Text 11"/>
          <p:cNvSpPr txBox="1"/>
          <p:nvPr/>
        </p:nvSpPr>
        <p:spPr>
          <a:xfrm>
            <a:off x="2350008"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Surveys, sensors, logs, open data, scraping — with consent and a legal basis.</a:t>
            </a:r>
            <a:endParaRPr lang="en-US" sz="1050" dirty="0"/>
          </a:p>
        </p:txBody>
      </p:sp>
      <p:sp>
        <p:nvSpPr>
          <p:cNvPr id="14" name="Shape 12"/>
          <p:cNvSpPr/>
          <p:nvPr/>
        </p:nvSpPr>
        <p:spPr>
          <a:xfrm>
            <a:off x="3895344"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15" name="Shape 13"/>
          <p:cNvSpPr/>
          <p:nvPr/>
        </p:nvSpPr>
        <p:spPr>
          <a:xfrm>
            <a:off x="4462272" y="2176272"/>
            <a:ext cx="438912" cy="438912"/>
          </a:xfrm>
          <a:prstGeom prst="ellipse">
            <a:avLst/>
          </a:prstGeom>
          <a:solidFill>
            <a:srgbClr val="C9A227"/>
          </a:solidFill>
          <a:ln w="12700">
            <a:solidFill>
              <a:srgbClr val="C9A227"/>
            </a:solidFill>
            <a:prstDash val="solid"/>
          </a:ln>
        </p:spPr>
      </p:sp>
      <p:sp>
        <p:nvSpPr>
          <p:cNvPr id="16" name="Text 14"/>
          <p:cNvSpPr txBox="1"/>
          <p:nvPr/>
        </p:nvSpPr>
        <p:spPr>
          <a:xfrm>
            <a:off x="4462272"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4023360"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Prepare &amp; explore</a:t>
            </a:r>
            <a:endParaRPr lang="en-US" sz="1350" dirty="0"/>
          </a:p>
        </p:txBody>
      </p:sp>
      <p:sp>
        <p:nvSpPr>
          <p:cNvPr id="18" name="Text 16"/>
          <p:cNvSpPr txBox="1"/>
          <p:nvPr/>
        </p:nvSpPr>
        <p:spPr>
          <a:xfrm>
            <a:off x="4023360"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Clean, handle missing values, encode categories, scale, engineer features, visualise.</a:t>
            </a:r>
            <a:endParaRPr lang="en-US" sz="1050" dirty="0"/>
          </a:p>
        </p:txBody>
      </p:sp>
      <p:sp>
        <p:nvSpPr>
          <p:cNvPr id="19" name="Shape 17"/>
          <p:cNvSpPr/>
          <p:nvPr/>
        </p:nvSpPr>
        <p:spPr>
          <a:xfrm>
            <a:off x="5568696"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20" name="Shape 18"/>
          <p:cNvSpPr/>
          <p:nvPr/>
        </p:nvSpPr>
        <p:spPr>
          <a:xfrm>
            <a:off x="6135624" y="2176272"/>
            <a:ext cx="438912" cy="438912"/>
          </a:xfrm>
          <a:prstGeom prst="ellipse">
            <a:avLst/>
          </a:prstGeom>
          <a:solidFill>
            <a:srgbClr val="C9A227"/>
          </a:solidFill>
          <a:ln w="12700">
            <a:solidFill>
              <a:srgbClr val="C9A227"/>
            </a:solidFill>
            <a:prstDash val="solid"/>
          </a:ln>
        </p:spPr>
      </p:sp>
      <p:sp>
        <p:nvSpPr>
          <p:cNvPr id="21" name="Text 19"/>
          <p:cNvSpPr txBox="1"/>
          <p:nvPr/>
        </p:nvSpPr>
        <p:spPr>
          <a:xfrm>
            <a:off x="6135624"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696712"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Choose &amp; train a model</a:t>
            </a:r>
            <a:endParaRPr lang="en-US" sz="1350" dirty="0"/>
          </a:p>
        </p:txBody>
      </p:sp>
      <p:sp>
        <p:nvSpPr>
          <p:cNvPr id="23" name="Text 21"/>
          <p:cNvSpPr txBox="1"/>
          <p:nvPr/>
        </p:nvSpPr>
        <p:spPr>
          <a:xfrm>
            <a:off x="5696712"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Pick a hypothesis space, define a loss, optimise the parameters on training data.</a:t>
            </a:r>
            <a:endParaRPr lang="en-US" sz="1050" dirty="0"/>
          </a:p>
        </p:txBody>
      </p:sp>
      <p:sp>
        <p:nvSpPr>
          <p:cNvPr id="24" name="Shape 22"/>
          <p:cNvSpPr/>
          <p:nvPr/>
        </p:nvSpPr>
        <p:spPr>
          <a:xfrm>
            <a:off x="7242048"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25" name="Shape 23"/>
          <p:cNvSpPr/>
          <p:nvPr/>
        </p:nvSpPr>
        <p:spPr>
          <a:xfrm>
            <a:off x="7808976" y="2176272"/>
            <a:ext cx="438912" cy="438912"/>
          </a:xfrm>
          <a:prstGeom prst="ellipse">
            <a:avLst/>
          </a:prstGeom>
          <a:solidFill>
            <a:srgbClr val="C9A227"/>
          </a:solidFill>
          <a:ln w="12700">
            <a:solidFill>
              <a:srgbClr val="C9A227"/>
            </a:solidFill>
            <a:prstDash val="solid"/>
          </a:ln>
        </p:spPr>
      </p:sp>
      <p:sp>
        <p:nvSpPr>
          <p:cNvPr id="26" name="Text 24"/>
          <p:cNvSpPr txBox="1"/>
          <p:nvPr/>
        </p:nvSpPr>
        <p:spPr>
          <a:xfrm>
            <a:off x="7808976"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7370064"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Evaluate</a:t>
            </a:r>
            <a:endParaRPr lang="en-US" sz="1350" dirty="0"/>
          </a:p>
        </p:txBody>
      </p:sp>
      <p:sp>
        <p:nvSpPr>
          <p:cNvPr id="28" name="Text 26"/>
          <p:cNvSpPr txBox="1"/>
          <p:nvPr/>
        </p:nvSpPr>
        <p:spPr>
          <a:xfrm>
            <a:off x="7370064"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Score on held-out data with the right metric. Compare against a simple baseline.</a:t>
            </a:r>
            <a:endParaRPr lang="en-US" sz="1050" dirty="0"/>
          </a:p>
        </p:txBody>
      </p:sp>
      <p:sp>
        <p:nvSpPr>
          <p:cNvPr id="29" name="Shape 27"/>
          <p:cNvSpPr/>
          <p:nvPr/>
        </p:nvSpPr>
        <p:spPr>
          <a:xfrm>
            <a:off x="8915400"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30" name="Shape 28"/>
          <p:cNvSpPr/>
          <p:nvPr/>
        </p:nvSpPr>
        <p:spPr>
          <a:xfrm>
            <a:off x="9482328" y="2176272"/>
            <a:ext cx="438912" cy="438912"/>
          </a:xfrm>
          <a:prstGeom prst="ellipse">
            <a:avLst/>
          </a:prstGeom>
          <a:solidFill>
            <a:srgbClr val="C9A227"/>
          </a:solidFill>
          <a:ln w="12700">
            <a:solidFill>
              <a:srgbClr val="C9A227"/>
            </a:solidFill>
            <a:prstDash val="solid"/>
          </a:ln>
        </p:spPr>
      </p:sp>
      <p:sp>
        <p:nvSpPr>
          <p:cNvPr id="31" name="Text 29"/>
          <p:cNvSpPr txBox="1"/>
          <p:nvPr/>
        </p:nvSpPr>
        <p:spPr>
          <a:xfrm>
            <a:off x="9482328"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9043416"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Deploy</a:t>
            </a:r>
            <a:endParaRPr lang="en-US" sz="1350" dirty="0"/>
          </a:p>
        </p:txBody>
      </p:sp>
      <p:sp>
        <p:nvSpPr>
          <p:cNvPr id="33" name="Text 31"/>
          <p:cNvSpPr txBox="1"/>
          <p:nvPr/>
        </p:nvSpPr>
        <p:spPr>
          <a:xfrm>
            <a:off x="9043416"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Ship it into an app, USSD service or dashboard where someone makes a decision with it.</a:t>
            </a:r>
            <a:endParaRPr lang="en-US" sz="1050" dirty="0"/>
          </a:p>
        </p:txBody>
      </p:sp>
      <p:sp>
        <p:nvSpPr>
          <p:cNvPr id="34" name="Shape 32"/>
          <p:cNvSpPr/>
          <p:nvPr/>
        </p:nvSpPr>
        <p:spPr>
          <a:xfrm>
            <a:off x="10588752" y="1965960"/>
            <a:ext cx="1572768" cy="3200400"/>
          </a:xfrm>
          <a:prstGeom prst="roundRect">
            <a:avLst>
              <a:gd name="adj" fmla="val 5814"/>
            </a:avLst>
          </a:prstGeom>
          <a:solidFill>
            <a:srgbClr val="F2F6F2"/>
          </a:solidFill>
          <a:ln w="12700">
            <a:solidFill>
              <a:srgbClr val="D9E3DB"/>
            </a:solidFill>
            <a:prstDash val="solid"/>
          </a:ln>
          <a:effectLst>
            <a:outerShdw sx="100000" sy="100000" kx="0" ky="0" algn="bl" rotWithShape="0" blurRad="127000" dist="25400" dir="5400000">
              <a:srgbClr val="B6C4BA">
                <a:alpha val="35000"/>
              </a:srgbClr>
            </a:outerShdw>
          </a:effectLst>
        </p:spPr>
      </p:sp>
      <p:sp>
        <p:nvSpPr>
          <p:cNvPr id="35" name="Shape 33"/>
          <p:cNvSpPr/>
          <p:nvPr/>
        </p:nvSpPr>
        <p:spPr>
          <a:xfrm>
            <a:off x="11155680" y="2176272"/>
            <a:ext cx="438912" cy="438912"/>
          </a:xfrm>
          <a:prstGeom prst="ellipse">
            <a:avLst/>
          </a:prstGeom>
          <a:solidFill>
            <a:srgbClr val="C9A227"/>
          </a:solidFill>
          <a:ln w="12700">
            <a:solidFill>
              <a:srgbClr val="C9A227"/>
            </a:solidFill>
            <a:prstDash val="solid"/>
          </a:ln>
        </p:spPr>
      </p:sp>
      <p:sp>
        <p:nvSpPr>
          <p:cNvPr id="36" name="Text 34"/>
          <p:cNvSpPr txBox="1"/>
          <p:nvPr/>
        </p:nvSpPr>
        <p:spPr>
          <a:xfrm>
            <a:off x="11155680" y="2176272"/>
            <a:ext cx="438912" cy="438912"/>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0716768" y="2743200"/>
            <a:ext cx="1316736" cy="731520"/>
          </a:xfrm>
          <a:prstGeom prst="rect">
            <a:avLst/>
          </a:prstGeom>
          <a:noFill/>
          <a:ln/>
        </p:spPr>
        <p:txBody>
          <a:bodyPr wrap="square" lIns="0" tIns="0" rIns="0" bIns="0" rtlCol="0" anchor="ctr"/>
          <a:lstStyle/>
          <a:p>
            <a:pPr algn="ctr" indent="0" marL="0">
              <a:lnSpc>
                <a:spcPts val="1700"/>
              </a:lnSpc>
              <a:buNone/>
            </a:pPr>
            <a:r>
              <a:rPr lang="en-US" sz="1350" b="1" dirty="0">
                <a:solidFill>
                  <a:srgbClr val="0F6B3C"/>
                </a:solidFill>
                <a:latin typeface="Cambria" pitchFamily="34" charset="0"/>
                <a:ea typeface="Cambria" pitchFamily="34" charset="-122"/>
                <a:cs typeface="Cambria" pitchFamily="34" charset="-120"/>
              </a:rPr>
              <a:t>Monitor &amp; retrain</a:t>
            </a:r>
            <a:endParaRPr lang="en-US" sz="1350" dirty="0"/>
          </a:p>
        </p:txBody>
      </p:sp>
      <p:sp>
        <p:nvSpPr>
          <p:cNvPr id="38" name="Text 36"/>
          <p:cNvSpPr txBox="1"/>
          <p:nvPr/>
        </p:nvSpPr>
        <p:spPr>
          <a:xfrm>
            <a:off x="10716768" y="3520440"/>
            <a:ext cx="1316736" cy="1508760"/>
          </a:xfrm>
          <a:prstGeom prst="rect">
            <a:avLst/>
          </a:prstGeom>
          <a:noFill/>
          <a:ln/>
        </p:spPr>
        <p:txBody>
          <a:bodyPr wrap="square" lIns="0" tIns="0" rIns="0" bIns="0" rtlCol="0" anchor="ctr"/>
          <a:lstStyle/>
          <a:p>
            <a:pPr algn="ctr" indent="0" marL="0">
              <a:lnSpc>
                <a:spcPts val="1400"/>
              </a:lnSpc>
              <a:buNone/>
            </a:pPr>
            <a:r>
              <a:rPr lang="en-US" sz="1050" dirty="0">
                <a:solidFill>
                  <a:srgbClr val="5C6B60"/>
                </a:solidFill>
                <a:latin typeface="Calibri" pitchFamily="34" charset="0"/>
                <a:ea typeface="Calibri" pitchFamily="34" charset="-122"/>
                <a:cs typeface="Calibri" pitchFamily="34" charset="-120"/>
              </a:rPr>
              <a:t>Performance decays as the world changes. Watch for drift and feed data back.</a:t>
            </a:r>
            <a:endParaRPr lang="en-US" sz="1050" dirty="0"/>
          </a:p>
        </p:txBody>
      </p:sp>
      <p:sp>
        <p:nvSpPr>
          <p:cNvPr id="39" name="Shape 37"/>
          <p:cNvSpPr/>
          <p:nvPr/>
        </p:nvSpPr>
        <p:spPr>
          <a:xfrm>
            <a:off x="11475720" y="5440680"/>
            <a:ext cx="-10515600" cy="0"/>
          </a:xfrm>
          <a:prstGeom prst="line">
            <a:avLst/>
          </a:prstGeom>
          <a:noFill/>
          <a:ln w="22225">
            <a:solidFill>
              <a:srgbClr val="0E7C61"/>
            </a:solidFill>
            <a:prstDash val="dash"/>
            <a:tailEnd type="triangle"/>
          </a:ln>
        </p:spPr>
      </p:sp>
      <p:sp>
        <p:nvSpPr>
          <p:cNvPr id="40" name="Text 38"/>
          <p:cNvSpPr txBox="1"/>
          <p:nvPr/>
        </p:nvSpPr>
        <p:spPr>
          <a:xfrm>
            <a:off x="548640" y="5532120"/>
            <a:ext cx="11064240" cy="320040"/>
          </a:xfrm>
          <a:prstGeom prst="rect">
            <a:avLst/>
          </a:prstGeom>
          <a:noFill/>
          <a:ln/>
        </p:spPr>
        <p:txBody>
          <a:bodyPr wrap="square" lIns="0" tIns="0" rIns="0" bIns="0" rtlCol="0" anchor="ctr"/>
          <a:lstStyle/>
          <a:p>
            <a:pPr algn="ctr" indent="0" marL="0">
              <a:buNone/>
            </a:pPr>
            <a:r>
              <a:rPr lang="en-US" sz="1250" b="1" i="1" dirty="0">
                <a:solidFill>
                  <a:srgbClr val="0E7C61"/>
                </a:solidFill>
                <a:latin typeface="Calibri" pitchFamily="34" charset="0"/>
                <a:ea typeface="Calibri" pitchFamily="34" charset="-122"/>
                <a:cs typeface="Calibri" pitchFamily="34" charset="-120"/>
              </a:rPr>
              <a:t>It is a loop, not a line — evaluation almost always sends you back to steps 2 and 3</a:t>
            </a:r>
            <a:endParaRPr lang="en-US" sz="1250" dirty="0"/>
          </a:p>
        </p:txBody>
      </p:sp>
      <p:sp>
        <p:nvSpPr>
          <p:cNvPr id="42" name="Text 39"/>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43" name="Text 40"/>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22</a:t>
            </a:r>
            <a:endParaRPr lang="en-US" sz="900" dirty="0"/>
          </a:p>
        </p:txBody>
      </p:sp>
      <p:pic>
        <p:nvPicPr>
          <p:cNvPr id="44" name="Picture 43"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 WARNING BEFORE YOUR PROJECT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Where The Time Actually Goes</a:t>
            </a:r>
            <a:endParaRPr lang="en-US" sz="3000" dirty="0"/>
          </a:p>
        </p:txBody>
      </p:sp>
      <p:graphicFrame>
        <p:nvGraphicFramePr>
          <p:cNvPr id="4" name="Chart 0" descr=""/>
          <p:cNvGraphicFramePr/>
          <p:nvPr/>
        </p:nvGraphicFramePr>
        <p:xfrm>
          <a:off x="457200" y="15544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00200"/>
            <a:ext cx="4114800" cy="2148840"/>
          </a:xfrm>
          <a:prstGeom prst="roundRect">
            <a:avLst>
              <a:gd name="adj" fmla="val 5106"/>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 name="Text 3"/>
          <p:cNvSpPr txBox="1"/>
          <p:nvPr/>
        </p:nvSpPr>
        <p:spPr>
          <a:xfrm>
            <a:off x="7818120" y="1828800"/>
            <a:ext cx="3566160" cy="685800"/>
          </a:xfrm>
          <a:prstGeom prst="rect">
            <a:avLst/>
          </a:prstGeom>
          <a:noFill/>
          <a:ln/>
        </p:spPr>
        <p:txBody>
          <a:bodyPr wrap="square" lIns="0" tIns="0" rIns="0" bIns="0" rtlCol="0" anchor="ctr"/>
          <a:lstStyle/>
          <a:p>
            <a:pPr indent="0" marL="0">
              <a:buNone/>
            </a:pPr>
            <a:r>
              <a:rPr lang="en-US" sz="3400" b="1" dirty="0">
                <a:solidFill>
                  <a:srgbClr val="0F6B3C"/>
                </a:solidFill>
                <a:latin typeface="Cambria" pitchFamily="34" charset="0"/>
                <a:ea typeface="Cambria" pitchFamily="34" charset="-122"/>
                <a:cs typeface="Cambria" pitchFamily="34" charset="-120"/>
              </a:rPr>
              <a:t>Roughly 60%</a:t>
            </a:r>
            <a:endParaRPr lang="en-US" sz="3400" dirty="0"/>
          </a:p>
        </p:txBody>
      </p:sp>
      <p:sp>
        <p:nvSpPr>
          <p:cNvPr id="7" name="Text 4"/>
          <p:cNvSpPr txBox="1"/>
          <p:nvPr/>
        </p:nvSpPr>
        <p:spPr>
          <a:xfrm>
            <a:off x="7818120" y="2560320"/>
            <a:ext cx="3566160" cy="1005840"/>
          </a:xfrm>
          <a:prstGeom prst="rect">
            <a:avLst/>
          </a:prstGeom>
          <a:noFill/>
          <a:ln/>
        </p:spPr>
        <p:txBody>
          <a:bodyPr wrap="square" lIns="0" tIns="0" rIns="0" bIns="0" rtlCol="0" anchor="t"/>
          <a:lstStyle/>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of a realistic ML project is spent getting data and making it usable — long before any model is trained.</a:t>
            </a:r>
            <a:endParaRPr lang="en-US" sz="1300" dirty="0"/>
          </a:p>
        </p:txBody>
      </p:sp>
      <p:sp>
        <p:nvSpPr>
          <p:cNvPr id="8" name="Shape 5"/>
          <p:cNvSpPr/>
          <p:nvPr/>
        </p:nvSpPr>
        <p:spPr>
          <a:xfrm>
            <a:off x="7498080" y="3931920"/>
            <a:ext cx="4114800" cy="2103120"/>
          </a:xfrm>
          <a:prstGeom prst="roundRect">
            <a:avLst>
              <a:gd name="adj" fmla="val 521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9" name="Text 6"/>
          <p:cNvSpPr txBox="1"/>
          <p:nvPr/>
        </p:nvSpPr>
        <p:spPr>
          <a:xfrm>
            <a:off x="7818120" y="4133088"/>
            <a:ext cx="35661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What "cleaning" means</a:t>
            </a:r>
            <a:endParaRPr lang="en-US" sz="1500" dirty="0"/>
          </a:p>
        </p:txBody>
      </p:sp>
      <p:sp>
        <p:nvSpPr>
          <p:cNvPr id="10" name="Text 7"/>
          <p:cNvSpPr txBox="1"/>
          <p:nvPr/>
        </p:nvSpPr>
        <p:spPr>
          <a:xfrm>
            <a:off x="7818120" y="4498848"/>
            <a:ext cx="3611880" cy="14630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B2A20"/>
                </a:solidFill>
                <a:latin typeface="Calibri" pitchFamily="34" charset="0"/>
                <a:ea typeface="Calibri" pitchFamily="34" charset="-122"/>
                <a:cs typeface="Calibri" pitchFamily="34" charset="-120"/>
              </a:rPr>
              <a:t>Missing values and blank fields</a:t>
            </a:r>
            <a:endParaRPr lang="en-US" sz="1150" dirty="0"/>
          </a:p>
          <a:p>
            <a:pPr marL="342900" indent="-342900">
              <a:spcAft>
                <a:spcPts val="500"/>
              </a:spcAft>
              <a:buSzPct val="100000"/>
              <a:buChar char="•"/>
            </a:pPr>
            <a:r>
              <a:rPr lang="en-US" sz="1150" dirty="0">
                <a:solidFill>
                  <a:srgbClr val="1B2A20"/>
                </a:solidFill>
                <a:latin typeface="Calibri" pitchFamily="34" charset="0"/>
                <a:ea typeface="Calibri" pitchFamily="34" charset="-122"/>
                <a:cs typeface="Calibri" pitchFamily="34" charset="-120"/>
              </a:rPr>
              <a:t>Duplicated or mis-keyed records</a:t>
            </a:r>
            <a:endParaRPr lang="en-US" sz="1150" dirty="0"/>
          </a:p>
          <a:p>
            <a:pPr marL="342900" indent="-342900">
              <a:spcAft>
                <a:spcPts val="500"/>
              </a:spcAft>
              <a:buSzPct val="100000"/>
              <a:buChar char="•"/>
            </a:pPr>
            <a:r>
              <a:rPr lang="en-US" sz="1150" dirty="0">
                <a:solidFill>
                  <a:srgbClr val="1B2A20"/>
                </a:solidFill>
                <a:latin typeface="Calibri" pitchFamily="34" charset="0"/>
                <a:ea typeface="Calibri" pitchFamily="34" charset="-122"/>
                <a:cs typeface="Calibri" pitchFamily="34" charset="-120"/>
              </a:rPr>
              <a:t>Inconsistent units and spellings</a:t>
            </a:r>
            <a:endParaRPr lang="en-US" sz="1150" dirty="0"/>
          </a:p>
          <a:p>
            <a:pPr marL="342900" indent="-342900">
              <a:spcAft>
                <a:spcPts val="500"/>
              </a:spcAft>
              <a:buSzPct val="100000"/>
              <a:buChar char="•"/>
            </a:pPr>
            <a:r>
              <a:rPr lang="en-US" sz="1150" dirty="0">
                <a:solidFill>
                  <a:srgbClr val="1B2A20"/>
                </a:solidFill>
                <a:latin typeface="Calibri" pitchFamily="34" charset="0"/>
                <a:ea typeface="Calibri" pitchFamily="34" charset="-122"/>
                <a:cs typeface="Calibri" pitchFamily="34" charset="-120"/>
              </a:rPr>
              <a:t>Text categories → numbers</a:t>
            </a:r>
            <a:endParaRPr lang="en-US" sz="1150" dirty="0"/>
          </a:p>
          <a:p>
            <a:pPr marL="342900" indent="-342900">
              <a:spcAft>
                <a:spcPts val="500"/>
              </a:spcAft>
              <a:buSzPct val="100000"/>
              <a:buChar char="•"/>
            </a:pPr>
            <a:r>
              <a:rPr lang="en-US" sz="1150" dirty="0">
                <a:solidFill>
                  <a:srgbClr val="1B2A20"/>
                </a:solidFill>
                <a:latin typeface="Calibri" pitchFamily="34" charset="0"/>
                <a:ea typeface="Calibri" pitchFamily="34" charset="-122"/>
                <a:cs typeface="Calibri" pitchFamily="34" charset="-120"/>
              </a:rPr>
              <a:t>Outliers that are real vs errors</a:t>
            </a:r>
            <a:endParaRPr lang="en-US" sz="1150" dirty="0"/>
          </a:p>
        </p:txBody>
      </p:sp>
      <p:sp>
        <p:nvSpPr>
          <p:cNvPr id="12" name="Text 8"/>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3" name="Text 9"/>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23</a:t>
            </a:r>
            <a:endParaRPr lang="en-US" sz="900" dirty="0"/>
          </a:p>
        </p:txBody>
      </p:sp>
      <p:pic>
        <p:nvPicPr>
          <p:cNvPr id="14" name="Picture 13" descr="must_logo.png"/>
          <p:cNvPicPr>
            <a:picLocks noChangeAspect="1"/>
          </p:cNvPicPr>
          <p:nvPr/>
        </p:nvPicPr>
        <p:blipFill>
          <a:blip r:embed="rId4"/>
          <a:stretch>
            <a:fillRect/>
          </a:stretch>
        </p:blipFill>
        <p:spPr>
          <a:xfrm>
            <a:off x="11016642" y="274320"/>
            <a:ext cx="699565" cy="6583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PROFESSIONAL JUDGEMENT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When You Should NOT Use Machine Learning</a:t>
            </a:r>
            <a:endParaRPr lang="en-US" sz="3000" dirty="0"/>
          </a:p>
        </p:txBody>
      </p:sp>
      <p:sp>
        <p:nvSpPr>
          <p:cNvPr id="4" name="Shape 2"/>
          <p:cNvSpPr/>
          <p:nvPr/>
        </p:nvSpPr>
        <p:spPr>
          <a:xfrm>
            <a:off x="548640" y="160020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41248" y="1856232"/>
            <a:ext cx="548640" cy="548640"/>
          </a:xfrm>
          <a:prstGeom prst="ellipse">
            <a:avLst/>
          </a:prstGeom>
          <a:solidFill>
            <a:srgbClr val="9C3B2E"/>
          </a:solidFill>
          <a:ln w="12700">
            <a:solidFill>
              <a:srgbClr val="9C3B2E"/>
            </a:solidFill>
            <a:prstDash val="solid"/>
          </a:ln>
        </p:spPr>
      </p:sp>
      <p:pic>
        <p:nvPicPr>
          <p:cNvPr id="6" name="Image 0" descr="preencoded.png">    </p:cNvPr>
          <p:cNvPicPr>
            <a:picLocks noChangeAspect="1"/>
          </p:cNvPicPr>
          <p:nvPr/>
        </p:nvPicPr>
        <p:blipFill>
          <a:blip r:embed="rId1"/>
          <a:stretch>
            <a:fillRect/>
          </a:stretch>
        </p:blipFill>
        <p:spPr>
          <a:xfrm>
            <a:off x="956462" y="1971446"/>
            <a:ext cx="318211" cy="318211"/>
          </a:xfrm>
          <a:prstGeom prst="rect">
            <a:avLst/>
          </a:prstGeom>
        </p:spPr>
      </p:pic>
      <p:sp>
        <p:nvSpPr>
          <p:cNvPr id="7" name="Text 4"/>
          <p:cNvSpPr txBox="1"/>
          <p:nvPr/>
        </p:nvSpPr>
        <p:spPr>
          <a:xfrm>
            <a:off x="841248" y="2496312"/>
            <a:ext cx="3017520" cy="566928"/>
          </a:xfrm>
          <a:prstGeom prst="rect">
            <a:avLst/>
          </a:prstGeom>
          <a:noFill/>
          <a:ln/>
        </p:spPr>
        <p:txBody>
          <a:bodyPr wrap="square" lIns="0" tIns="0" rIns="0" bIns="0" rtlCol="0" anchor="ctr"/>
          <a:lstStyle/>
          <a:p>
            <a:pPr indent="0" marL="0">
              <a:lnSpc>
                <a:spcPts val="1800"/>
              </a:lnSpc>
              <a:buNone/>
            </a:pPr>
            <a:r>
              <a:rPr lang="en-US" sz="1450" b="1" dirty="0">
                <a:solidFill>
                  <a:srgbClr val="0F6B3C"/>
                </a:solidFill>
                <a:latin typeface="Cambria" pitchFamily="34" charset="0"/>
                <a:ea typeface="Cambria" pitchFamily="34" charset="-122"/>
                <a:cs typeface="Cambria" pitchFamily="34" charset="-120"/>
              </a:rPr>
              <a:t>A simple rule already works</a:t>
            </a:r>
            <a:endParaRPr lang="en-US" sz="1450" dirty="0"/>
          </a:p>
        </p:txBody>
      </p:sp>
      <p:sp>
        <p:nvSpPr>
          <p:cNvPr id="8" name="Text 5"/>
          <p:cNvSpPr txBox="1"/>
          <p:nvPr/>
        </p:nvSpPr>
        <p:spPr>
          <a:xfrm>
            <a:off x="841248" y="3063240"/>
            <a:ext cx="3063240" cy="621792"/>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If VAT is 16%, compute it. Do not train a model to learn 16%. Rules beat ML whenever the logic is known, stable and short.</a:t>
            </a:r>
            <a:endParaRPr lang="en-US" sz="1150" dirty="0"/>
          </a:p>
        </p:txBody>
      </p:sp>
      <p:sp>
        <p:nvSpPr>
          <p:cNvPr id="9" name="Shape 6"/>
          <p:cNvSpPr/>
          <p:nvPr/>
        </p:nvSpPr>
        <p:spPr>
          <a:xfrm>
            <a:off x="4297680" y="160020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4590288" y="1856232"/>
            <a:ext cx="548640" cy="548640"/>
          </a:xfrm>
          <a:prstGeom prst="ellipse">
            <a:avLst/>
          </a:prstGeom>
          <a:solidFill>
            <a:srgbClr val="9C3B2E"/>
          </a:solidFill>
          <a:ln w="12700">
            <a:solidFill>
              <a:srgbClr val="9C3B2E"/>
            </a:solidFill>
            <a:prstDash val="solid"/>
          </a:ln>
        </p:spPr>
      </p:sp>
      <p:pic>
        <p:nvPicPr>
          <p:cNvPr id="11" name="Image 1" descr="preencoded.png">    </p:cNvPr>
          <p:cNvPicPr>
            <a:picLocks noChangeAspect="1"/>
          </p:cNvPicPr>
          <p:nvPr/>
        </p:nvPicPr>
        <p:blipFill>
          <a:blip r:embed="rId2"/>
          <a:stretch>
            <a:fillRect/>
          </a:stretch>
        </p:blipFill>
        <p:spPr>
          <a:xfrm>
            <a:off x="4705502" y="1971446"/>
            <a:ext cx="318211" cy="318211"/>
          </a:xfrm>
          <a:prstGeom prst="rect">
            <a:avLst/>
          </a:prstGeom>
        </p:spPr>
      </p:pic>
      <p:sp>
        <p:nvSpPr>
          <p:cNvPr id="12" name="Text 8"/>
          <p:cNvSpPr txBox="1"/>
          <p:nvPr/>
        </p:nvSpPr>
        <p:spPr>
          <a:xfrm>
            <a:off x="4590288" y="2496312"/>
            <a:ext cx="3017520" cy="566928"/>
          </a:xfrm>
          <a:prstGeom prst="rect">
            <a:avLst/>
          </a:prstGeom>
          <a:noFill/>
          <a:ln/>
        </p:spPr>
        <p:txBody>
          <a:bodyPr wrap="square" lIns="0" tIns="0" rIns="0" bIns="0" rtlCol="0" anchor="ctr"/>
          <a:lstStyle/>
          <a:p>
            <a:pPr indent="0" marL="0">
              <a:lnSpc>
                <a:spcPts val="1800"/>
              </a:lnSpc>
              <a:buNone/>
            </a:pPr>
            <a:r>
              <a:rPr lang="en-US" sz="1450" b="1" dirty="0">
                <a:solidFill>
                  <a:srgbClr val="0F6B3C"/>
                </a:solidFill>
                <a:latin typeface="Cambria" pitchFamily="34" charset="0"/>
                <a:ea typeface="Cambria" pitchFamily="34" charset="-122"/>
                <a:cs typeface="Cambria" pitchFamily="34" charset="-120"/>
              </a:rPr>
              <a:t>You have no relevant data</a:t>
            </a:r>
            <a:endParaRPr lang="en-US" sz="1450" dirty="0"/>
          </a:p>
        </p:txBody>
      </p:sp>
      <p:sp>
        <p:nvSpPr>
          <p:cNvPr id="13" name="Text 9"/>
          <p:cNvSpPr txBox="1"/>
          <p:nvPr/>
        </p:nvSpPr>
        <p:spPr>
          <a:xfrm>
            <a:off x="4590288" y="3063240"/>
            <a:ext cx="3063240" cy="621792"/>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No amount of algorithm choice compensates for absent, tiny or unrepresentative data. Collect first.</a:t>
            </a:r>
            <a:endParaRPr lang="en-US" sz="1150" dirty="0"/>
          </a:p>
        </p:txBody>
      </p:sp>
      <p:sp>
        <p:nvSpPr>
          <p:cNvPr id="14" name="Shape 10"/>
          <p:cNvSpPr/>
          <p:nvPr/>
        </p:nvSpPr>
        <p:spPr>
          <a:xfrm>
            <a:off x="8046720" y="160020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8339328" y="1856232"/>
            <a:ext cx="548640" cy="548640"/>
          </a:xfrm>
          <a:prstGeom prst="ellipse">
            <a:avLst/>
          </a:prstGeom>
          <a:solidFill>
            <a:srgbClr val="9C3B2E"/>
          </a:solidFill>
          <a:ln w="12700">
            <a:solidFill>
              <a:srgbClr val="9C3B2E"/>
            </a:solidFill>
            <a:prstDash val="solid"/>
          </a:ln>
        </p:spPr>
      </p:sp>
      <p:pic>
        <p:nvPicPr>
          <p:cNvPr id="16" name="Image 2" descr="preencoded.png">    </p:cNvPr>
          <p:cNvPicPr>
            <a:picLocks noChangeAspect="1"/>
          </p:cNvPicPr>
          <p:nvPr/>
        </p:nvPicPr>
        <p:blipFill>
          <a:blip r:embed="rId3"/>
          <a:stretch>
            <a:fillRect/>
          </a:stretch>
        </p:blipFill>
        <p:spPr>
          <a:xfrm>
            <a:off x="8454542" y="1971446"/>
            <a:ext cx="318211" cy="318211"/>
          </a:xfrm>
          <a:prstGeom prst="rect">
            <a:avLst/>
          </a:prstGeom>
        </p:spPr>
      </p:pic>
      <p:sp>
        <p:nvSpPr>
          <p:cNvPr id="17" name="Text 12"/>
          <p:cNvSpPr txBox="1"/>
          <p:nvPr/>
        </p:nvSpPr>
        <p:spPr>
          <a:xfrm>
            <a:off x="8339328" y="2496312"/>
            <a:ext cx="3017520" cy="566928"/>
          </a:xfrm>
          <a:prstGeom prst="rect">
            <a:avLst/>
          </a:prstGeom>
          <a:noFill/>
          <a:ln/>
        </p:spPr>
        <p:txBody>
          <a:bodyPr wrap="square" lIns="0" tIns="0" rIns="0" bIns="0" rtlCol="0" anchor="ctr"/>
          <a:lstStyle/>
          <a:p>
            <a:pPr indent="0" marL="0">
              <a:lnSpc>
                <a:spcPts val="1800"/>
              </a:lnSpc>
              <a:buNone/>
            </a:pPr>
            <a:r>
              <a:rPr lang="en-US" sz="1450" b="1" dirty="0">
                <a:solidFill>
                  <a:srgbClr val="0F6B3C"/>
                </a:solidFill>
                <a:latin typeface="Cambria" pitchFamily="34" charset="0"/>
                <a:ea typeface="Cambria" pitchFamily="34" charset="-122"/>
                <a:cs typeface="Cambria" pitchFamily="34" charset="-120"/>
              </a:rPr>
              <a:t>Errors are unacceptable or must be justified</a:t>
            </a:r>
            <a:endParaRPr lang="en-US" sz="1450" dirty="0"/>
          </a:p>
        </p:txBody>
      </p:sp>
      <p:sp>
        <p:nvSpPr>
          <p:cNvPr id="18" name="Text 13"/>
          <p:cNvSpPr txBox="1"/>
          <p:nvPr/>
        </p:nvSpPr>
        <p:spPr>
          <a:xfrm>
            <a:off x="8339328" y="3063240"/>
            <a:ext cx="3063240" cy="621792"/>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Where a wrong answer costs a life or a liberty, and the reasoning must be defensible in court, an opaque model is a liability.</a:t>
            </a:r>
            <a:endParaRPr lang="en-US" sz="1150" dirty="0"/>
          </a:p>
        </p:txBody>
      </p:sp>
      <p:sp>
        <p:nvSpPr>
          <p:cNvPr id="19" name="Shape 14"/>
          <p:cNvSpPr/>
          <p:nvPr/>
        </p:nvSpPr>
        <p:spPr>
          <a:xfrm>
            <a:off x="548640" y="393192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5"/>
          <p:cNvSpPr/>
          <p:nvPr/>
        </p:nvSpPr>
        <p:spPr>
          <a:xfrm>
            <a:off x="841248" y="4187952"/>
            <a:ext cx="548640" cy="548640"/>
          </a:xfrm>
          <a:prstGeom prst="ellipse">
            <a:avLst/>
          </a:prstGeom>
          <a:solidFill>
            <a:srgbClr val="9C3B2E"/>
          </a:solidFill>
          <a:ln w="12700">
            <a:solidFill>
              <a:srgbClr val="9C3B2E"/>
            </a:solidFill>
            <a:prstDash val="solid"/>
          </a:ln>
        </p:spPr>
      </p:sp>
      <p:pic>
        <p:nvPicPr>
          <p:cNvPr id="21" name="Image 3" descr="preencoded.png">    </p:cNvPr>
          <p:cNvPicPr>
            <a:picLocks noChangeAspect="1"/>
          </p:cNvPicPr>
          <p:nvPr/>
        </p:nvPicPr>
        <p:blipFill>
          <a:blip r:embed="rId4"/>
          <a:stretch>
            <a:fillRect/>
          </a:stretch>
        </p:blipFill>
        <p:spPr>
          <a:xfrm>
            <a:off x="956462" y="4303166"/>
            <a:ext cx="318211" cy="318211"/>
          </a:xfrm>
          <a:prstGeom prst="rect">
            <a:avLst/>
          </a:prstGeom>
        </p:spPr>
      </p:pic>
      <p:sp>
        <p:nvSpPr>
          <p:cNvPr id="22" name="Text 16"/>
          <p:cNvSpPr txBox="1"/>
          <p:nvPr/>
        </p:nvSpPr>
        <p:spPr>
          <a:xfrm>
            <a:off x="841248" y="4828032"/>
            <a:ext cx="3017520" cy="566928"/>
          </a:xfrm>
          <a:prstGeom prst="rect">
            <a:avLst/>
          </a:prstGeom>
          <a:noFill/>
          <a:ln/>
        </p:spPr>
        <p:txBody>
          <a:bodyPr wrap="square" lIns="0" tIns="0" rIns="0" bIns="0" rtlCol="0" anchor="ctr"/>
          <a:lstStyle/>
          <a:p>
            <a:pPr indent="0" marL="0">
              <a:lnSpc>
                <a:spcPts val="1800"/>
              </a:lnSpc>
              <a:buNone/>
            </a:pPr>
            <a:r>
              <a:rPr lang="en-US" sz="1450" b="1" dirty="0">
                <a:solidFill>
                  <a:srgbClr val="0F6B3C"/>
                </a:solidFill>
                <a:latin typeface="Cambria" pitchFamily="34" charset="0"/>
                <a:ea typeface="Cambria" pitchFamily="34" charset="-122"/>
                <a:cs typeface="Cambria" pitchFamily="34" charset="-120"/>
              </a:rPr>
              <a:t>The pattern genuinely does not exist</a:t>
            </a:r>
            <a:endParaRPr lang="en-US" sz="1450" dirty="0"/>
          </a:p>
        </p:txBody>
      </p:sp>
      <p:sp>
        <p:nvSpPr>
          <p:cNvPr id="23" name="Text 17"/>
          <p:cNvSpPr txBox="1"/>
          <p:nvPr/>
        </p:nvSpPr>
        <p:spPr>
          <a:xfrm>
            <a:off x="841248" y="5394960"/>
            <a:ext cx="3063240" cy="621792"/>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Predicting a fair coin toss or tomorrow's lottery number will produce a confident model that is worthless.</a:t>
            </a:r>
            <a:endParaRPr lang="en-US" sz="1150" dirty="0"/>
          </a:p>
        </p:txBody>
      </p:sp>
      <p:sp>
        <p:nvSpPr>
          <p:cNvPr id="24" name="Shape 18"/>
          <p:cNvSpPr/>
          <p:nvPr/>
        </p:nvSpPr>
        <p:spPr>
          <a:xfrm>
            <a:off x="4297680" y="393192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19"/>
          <p:cNvSpPr/>
          <p:nvPr/>
        </p:nvSpPr>
        <p:spPr>
          <a:xfrm>
            <a:off x="4590288" y="4187952"/>
            <a:ext cx="548640" cy="548640"/>
          </a:xfrm>
          <a:prstGeom prst="ellipse">
            <a:avLst/>
          </a:prstGeom>
          <a:solidFill>
            <a:srgbClr val="9C3B2E"/>
          </a:solidFill>
          <a:ln w="12700">
            <a:solidFill>
              <a:srgbClr val="9C3B2E"/>
            </a:solidFill>
            <a:prstDash val="solid"/>
          </a:ln>
        </p:spPr>
      </p:sp>
      <p:pic>
        <p:nvPicPr>
          <p:cNvPr id="26" name="Image 4" descr="preencoded.png">    </p:cNvPr>
          <p:cNvPicPr>
            <a:picLocks noChangeAspect="1"/>
          </p:cNvPicPr>
          <p:nvPr/>
        </p:nvPicPr>
        <p:blipFill>
          <a:blip r:embed="rId5"/>
          <a:stretch>
            <a:fillRect/>
          </a:stretch>
        </p:blipFill>
        <p:spPr>
          <a:xfrm>
            <a:off x="4705502" y="4303166"/>
            <a:ext cx="318211" cy="318211"/>
          </a:xfrm>
          <a:prstGeom prst="rect">
            <a:avLst/>
          </a:prstGeom>
        </p:spPr>
      </p:pic>
      <p:sp>
        <p:nvSpPr>
          <p:cNvPr id="27" name="Text 20"/>
          <p:cNvSpPr txBox="1"/>
          <p:nvPr/>
        </p:nvSpPr>
        <p:spPr>
          <a:xfrm>
            <a:off x="4590288" y="4828032"/>
            <a:ext cx="3017520" cy="566928"/>
          </a:xfrm>
          <a:prstGeom prst="rect">
            <a:avLst/>
          </a:prstGeom>
          <a:noFill/>
          <a:ln/>
        </p:spPr>
        <p:txBody>
          <a:bodyPr wrap="square" lIns="0" tIns="0" rIns="0" bIns="0" rtlCol="0" anchor="ctr"/>
          <a:lstStyle/>
          <a:p>
            <a:pPr indent="0" marL="0">
              <a:lnSpc>
                <a:spcPts val="1800"/>
              </a:lnSpc>
              <a:buNone/>
            </a:pPr>
            <a:r>
              <a:rPr lang="en-US" sz="1450" b="1" dirty="0">
                <a:solidFill>
                  <a:srgbClr val="0F6B3C"/>
                </a:solidFill>
                <a:latin typeface="Cambria" pitchFamily="34" charset="0"/>
                <a:ea typeface="Cambria" pitchFamily="34" charset="-122"/>
                <a:cs typeface="Cambria" pitchFamily="34" charset="-120"/>
              </a:rPr>
              <a:t>The world changes faster than you can retrain</a:t>
            </a:r>
            <a:endParaRPr lang="en-US" sz="1450" dirty="0"/>
          </a:p>
        </p:txBody>
      </p:sp>
      <p:sp>
        <p:nvSpPr>
          <p:cNvPr id="28" name="Text 21"/>
          <p:cNvSpPr txBox="1"/>
          <p:nvPr/>
        </p:nvSpPr>
        <p:spPr>
          <a:xfrm>
            <a:off x="4590288" y="5394960"/>
            <a:ext cx="3063240" cy="621792"/>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If the relationship you learned is obsolete by deployment day, the model is decoration.</a:t>
            </a:r>
            <a:endParaRPr lang="en-US" sz="1150" dirty="0"/>
          </a:p>
        </p:txBody>
      </p:sp>
      <p:sp>
        <p:nvSpPr>
          <p:cNvPr id="29" name="Shape 22"/>
          <p:cNvSpPr/>
          <p:nvPr/>
        </p:nvSpPr>
        <p:spPr>
          <a:xfrm>
            <a:off x="8046720" y="3931920"/>
            <a:ext cx="356616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0" name="Shape 23"/>
          <p:cNvSpPr/>
          <p:nvPr/>
        </p:nvSpPr>
        <p:spPr>
          <a:xfrm>
            <a:off x="8339328" y="4187952"/>
            <a:ext cx="548640" cy="548640"/>
          </a:xfrm>
          <a:prstGeom prst="ellipse">
            <a:avLst/>
          </a:prstGeom>
          <a:solidFill>
            <a:srgbClr val="9C3B2E"/>
          </a:solidFill>
          <a:ln w="12700">
            <a:solidFill>
              <a:srgbClr val="9C3B2E"/>
            </a:solidFill>
            <a:prstDash val="solid"/>
          </a:ln>
        </p:spPr>
      </p:sp>
      <p:pic>
        <p:nvPicPr>
          <p:cNvPr id="31" name="Image 5" descr="preencoded.png">    </p:cNvPr>
          <p:cNvPicPr>
            <a:picLocks noChangeAspect="1"/>
          </p:cNvPicPr>
          <p:nvPr/>
        </p:nvPicPr>
        <p:blipFill>
          <a:blip r:embed="rId6"/>
          <a:stretch>
            <a:fillRect/>
          </a:stretch>
        </p:blipFill>
        <p:spPr>
          <a:xfrm>
            <a:off x="8454542" y="4303166"/>
            <a:ext cx="318211" cy="318211"/>
          </a:xfrm>
          <a:prstGeom prst="rect">
            <a:avLst/>
          </a:prstGeom>
        </p:spPr>
      </p:pic>
      <p:sp>
        <p:nvSpPr>
          <p:cNvPr id="32" name="Text 24"/>
          <p:cNvSpPr txBox="1"/>
          <p:nvPr/>
        </p:nvSpPr>
        <p:spPr>
          <a:xfrm>
            <a:off x="8339328" y="4828032"/>
            <a:ext cx="3017520" cy="566928"/>
          </a:xfrm>
          <a:prstGeom prst="rect">
            <a:avLst/>
          </a:prstGeom>
          <a:noFill/>
          <a:ln/>
        </p:spPr>
        <p:txBody>
          <a:bodyPr wrap="square" lIns="0" tIns="0" rIns="0" bIns="0" rtlCol="0" anchor="ctr"/>
          <a:lstStyle/>
          <a:p>
            <a:pPr indent="0" marL="0">
              <a:lnSpc>
                <a:spcPts val="1800"/>
              </a:lnSpc>
              <a:buNone/>
            </a:pPr>
            <a:r>
              <a:rPr lang="en-US" sz="1450" b="1" dirty="0">
                <a:solidFill>
                  <a:srgbClr val="0F6B3C"/>
                </a:solidFill>
                <a:latin typeface="Cambria" pitchFamily="34" charset="0"/>
                <a:ea typeface="Cambria" pitchFamily="34" charset="-122"/>
                <a:cs typeface="Cambria" pitchFamily="34" charset="-120"/>
              </a:rPr>
              <a:t>The cost outweighs the benefit</a:t>
            </a:r>
            <a:endParaRPr lang="en-US" sz="1450" dirty="0"/>
          </a:p>
        </p:txBody>
      </p:sp>
      <p:sp>
        <p:nvSpPr>
          <p:cNvPr id="33" name="Text 25"/>
          <p:cNvSpPr txBox="1"/>
          <p:nvPr/>
        </p:nvSpPr>
        <p:spPr>
          <a:xfrm>
            <a:off x="8339328" y="5394960"/>
            <a:ext cx="3063240" cy="621792"/>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Data collection, labelling, compute, monitoring and staff are recurring costs. Sometimes a clerk with a checklist is the correct engineering answer.</a:t>
            </a:r>
            <a:endParaRPr lang="en-US" sz="1150" dirty="0"/>
          </a:p>
        </p:txBody>
      </p:sp>
      <p:sp>
        <p:nvSpPr>
          <p:cNvPr id="35" name="Text 26"/>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6" name="Text 27"/>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24</a:t>
            </a:r>
            <a:endParaRPr lang="en-US" sz="900" dirty="0"/>
          </a:p>
        </p:txBody>
      </p:sp>
      <p:pic>
        <p:nvPicPr>
          <p:cNvPr id="37" name="Picture 36" descr="must_logo.png"/>
          <p:cNvPicPr>
            <a:picLocks noChangeAspect="1"/>
          </p:cNvPicPr>
          <p:nvPr/>
        </p:nvPicPr>
        <p:blipFill>
          <a:blip r:embed="rId9"/>
          <a:stretch>
            <a:fillRect/>
          </a:stretch>
        </p:blipFill>
        <p:spPr>
          <a:xfrm>
            <a:off x="11016642" y="274320"/>
            <a:ext cx="699565" cy="6583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6B3C"/>
        </a:solidFill>
      </p:bgPr>
    </p:bg>
    <p:spTree>
      <p:nvGrpSpPr>
        <p:cNvPr id="1" name=""/>
        <p:cNvGrpSpPr/>
        <p:nvPr/>
      </p:nvGrpSpPr>
      <p:grpSpPr>
        <a:xfrm>
          <a:off x="0" y="0"/>
          <a:ext cx="0" cy="0"/>
          <a:chOff x="0" y="0"/>
          <a:chExt cx="0" cy="0"/>
        </a:xfrm>
      </p:grpSpPr>
      <p:sp>
        <p:nvSpPr>
          <p:cNvPr id="2" name="Shape 0"/>
          <p:cNvSpPr/>
          <p:nvPr/>
        </p:nvSpPr>
        <p:spPr>
          <a:xfrm>
            <a:off x="9052560" y="822960"/>
            <a:ext cx="4937760" cy="4937760"/>
          </a:xfrm>
          <a:prstGeom prst="ellipse">
            <a:avLst/>
          </a:prstGeom>
          <a:solidFill>
            <a:srgbClr val="1E8449"/>
          </a:solidFill>
          <a:ln w="12700">
            <a:solidFill>
              <a:srgbClr val="333333"/>
            </a:solidFill>
            <a:prstDash val="solid"/>
          </a:ln>
        </p:spPr>
      </p:sp>
      <p:sp>
        <p:nvSpPr>
          <p:cNvPr id="3" name="Text 1"/>
          <p:cNvSpPr txBox="1"/>
          <p:nvPr/>
        </p:nvSpPr>
        <p:spPr>
          <a:xfrm>
            <a:off x="822960" y="1965960"/>
            <a:ext cx="7315200" cy="365760"/>
          </a:xfrm>
          <a:prstGeom prst="rect">
            <a:avLst/>
          </a:prstGeom>
          <a:noFill/>
          <a:ln/>
        </p:spPr>
        <p:txBody>
          <a:bodyPr wrap="square" lIns="0" tIns="0" rIns="0" bIns="0" rtlCol="0" anchor="ctr"/>
          <a:lstStyle/>
          <a:p>
            <a:pPr indent="0" marL="0">
              <a:buNone/>
            </a:pPr>
            <a:r>
              <a:rPr lang="en-US" sz="1400" b="1" spc="400" kern="0" dirty="0">
                <a:solidFill>
                  <a:srgbClr val="C9A227"/>
                </a:solidFill>
                <a:latin typeface="Calibri" pitchFamily="34" charset="0"/>
                <a:ea typeface="Calibri" pitchFamily="34" charset="-122"/>
                <a:cs typeface="Calibri" pitchFamily="34" charset="-120"/>
              </a:rPr>
              <a:t>LECTURE TWO</a:t>
            </a:r>
            <a:endParaRPr lang="en-US" sz="1400" dirty="0"/>
          </a:p>
        </p:txBody>
      </p:sp>
      <p:sp>
        <p:nvSpPr>
          <p:cNvPr id="4" name="Text 2"/>
          <p:cNvSpPr txBox="1"/>
          <p:nvPr/>
        </p:nvSpPr>
        <p:spPr>
          <a:xfrm>
            <a:off x="822960" y="2423160"/>
            <a:ext cx="7863840" cy="155448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How A Machine</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Actually Learns</a:t>
            </a:r>
            <a:endParaRPr lang="en-US" sz="4200" dirty="0"/>
          </a:p>
        </p:txBody>
      </p:sp>
      <p:sp>
        <p:nvSpPr>
          <p:cNvPr id="5" name="Text 3"/>
          <p:cNvSpPr txBox="1"/>
          <p:nvPr/>
        </p:nvSpPr>
        <p:spPr>
          <a:xfrm>
            <a:off x="822960" y="4206240"/>
            <a:ext cx="7680960" cy="1188720"/>
          </a:xfrm>
          <a:prstGeom prst="rect">
            <a:avLst/>
          </a:prstGeom>
          <a:noFill/>
          <a:ln/>
        </p:spPr>
        <p:txBody>
          <a:bodyPr wrap="square" lIns="0" tIns="0" rIns="0" bIns="0" rtlCol="0" anchor="t"/>
          <a:lstStyle/>
          <a:p>
            <a:pPr indent="0" marL="0">
              <a:lnSpc>
                <a:spcPts val="2200"/>
              </a:lnSpc>
              <a:buNone/>
            </a:pPr>
            <a:r>
              <a:rPr lang="en-US" sz="1400" dirty="0">
                <a:solidFill>
                  <a:srgbClr val="CFE3D5"/>
                </a:solidFill>
                <a:latin typeface="Calibri" pitchFamily="34" charset="0"/>
                <a:ea typeface="Calibri" pitchFamily="34" charset="-122"/>
                <a:cs typeface="Calibri" pitchFamily="34" charset="-120"/>
              </a:rPr>
              <a:t>Hypotheses and loss · Optimisation · Generalisation, overfitting and the bias–variance trade-off · Your first algorithm, k-NN · Measuring a model honestly · Responsible practice</a:t>
            </a:r>
            <a:endParaRPr lang="en-US" sz="1400" dirty="0"/>
          </a:p>
        </p:txBody>
      </p:sp>
      <p:sp>
        <p:nvSpPr>
          <p:cNvPr id="7" name="Text 4"/>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8FAE99"/>
                </a:solidFill>
                <a:latin typeface="Calibri" pitchFamily="34" charset="0"/>
                <a:ea typeface="Calibri" pitchFamily="34" charset="-122"/>
                <a:cs typeface="Calibri" pitchFamily="34" charset="-120"/>
              </a:rPr>
              <a:t>25</a:t>
            </a:r>
            <a:endParaRPr lang="en-US" sz="900" dirty="0"/>
          </a:p>
        </p:txBody>
      </p:sp>
      <p:pic>
        <p:nvPicPr>
          <p:cNvPr id="8" name="Picture 7"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RECAP OF LECTURE 1</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Where We Left Off</a:t>
            </a:r>
            <a:endParaRPr lang="en-US" sz="3000" dirty="0"/>
          </a:p>
        </p:txBody>
      </p:sp>
      <p:sp>
        <p:nvSpPr>
          <p:cNvPr id="4" name="Shape 2"/>
          <p:cNvSpPr/>
          <p:nvPr/>
        </p:nvSpPr>
        <p:spPr>
          <a:xfrm>
            <a:off x="548640" y="1554480"/>
            <a:ext cx="7315200" cy="868680"/>
          </a:xfrm>
          <a:prstGeom prst="roundRect">
            <a:avLst>
              <a:gd name="adj" fmla="val 1263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22960" y="1755648"/>
            <a:ext cx="457200" cy="457200"/>
          </a:xfrm>
          <a:prstGeom prst="ellipse">
            <a:avLst/>
          </a:prstGeom>
          <a:solidFill>
            <a:srgbClr val="C9A227"/>
          </a:solidFill>
          <a:ln w="12700">
            <a:solidFill>
              <a:srgbClr val="C9A227"/>
            </a:solidFill>
            <a:prstDash val="solid"/>
          </a:ln>
        </p:spPr>
      </p:sp>
      <p:sp>
        <p:nvSpPr>
          <p:cNvPr id="6" name="Text 4"/>
          <p:cNvSpPr txBox="1"/>
          <p:nvPr/>
        </p:nvSpPr>
        <p:spPr>
          <a:xfrm>
            <a:off x="822960" y="1755648"/>
            <a:ext cx="457200" cy="457200"/>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664208"/>
            <a:ext cx="2651760" cy="640080"/>
          </a:xfrm>
          <a:prstGeom prst="rect">
            <a:avLst/>
          </a:prstGeom>
          <a:noFill/>
          <a:ln/>
        </p:spPr>
        <p:txBody>
          <a:bodyPr wrap="square" lIns="0" tIns="0" rIns="0" bIns="0" rtlCol="0" anchor="ctr"/>
          <a:lstStyle/>
          <a:p>
            <a:pPr indent="0" marL="0">
              <a:buNone/>
            </a:pPr>
            <a:r>
              <a:rPr lang="en-US" sz="1300" b="1" dirty="0">
                <a:solidFill>
                  <a:srgbClr val="0F6B3C"/>
                </a:solidFill>
                <a:latin typeface="Calibri" pitchFamily="34" charset="0"/>
                <a:ea typeface="Calibri" pitchFamily="34" charset="-122"/>
                <a:cs typeface="Calibri" pitchFamily="34" charset="-120"/>
              </a:rPr>
              <a:t>ML inverts programming</a:t>
            </a:r>
            <a:endParaRPr lang="en-US" sz="1300" dirty="0"/>
          </a:p>
        </p:txBody>
      </p:sp>
      <p:sp>
        <p:nvSpPr>
          <p:cNvPr id="8" name="Text 6"/>
          <p:cNvSpPr txBox="1"/>
          <p:nvPr/>
        </p:nvSpPr>
        <p:spPr>
          <a:xfrm>
            <a:off x="4069080" y="1645920"/>
            <a:ext cx="3657600" cy="685800"/>
          </a:xfrm>
          <a:prstGeom prst="rect">
            <a:avLst/>
          </a:prstGeom>
          <a:noFill/>
          <a:ln/>
        </p:spPr>
        <p:txBody>
          <a:bodyPr wrap="square" lIns="0" tIns="0" rIns="0" bIns="0" rtlCol="0" anchor="ctr"/>
          <a:lstStyle/>
          <a:p>
            <a:pPr indent="0" marL="0">
              <a:lnSpc>
                <a:spcPts val="1400"/>
              </a:lnSpc>
              <a:buNone/>
            </a:pPr>
            <a:r>
              <a:rPr lang="en-US" sz="1150" dirty="0">
                <a:solidFill>
                  <a:srgbClr val="5C6B60"/>
                </a:solidFill>
                <a:latin typeface="Calibri" pitchFamily="34" charset="0"/>
                <a:ea typeface="Calibri" pitchFamily="34" charset="-122"/>
                <a:cs typeface="Calibri" pitchFamily="34" charset="-120"/>
              </a:rPr>
              <a:t>We supply data and answers; the computer produces the rules, which we call a model.</a:t>
            </a:r>
            <a:endParaRPr lang="en-US" sz="1150" dirty="0"/>
          </a:p>
        </p:txBody>
      </p:sp>
      <p:sp>
        <p:nvSpPr>
          <p:cNvPr id="9" name="Shape 7"/>
          <p:cNvSpPr/>
          <p:nvPr/>
        </p:nvSpPr>
        <p:spPr>
          <a:xfrm>
            <a:off x="548640" y="2514600"/>
            <a:ext cx="7315200" cy="868680"/>
          </a:xfrm>
          <a:prstGeom prst="roundRect">
            <a:avLst>
              <a:gd name="adj" fmla="val 1263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8"/>
          <p:cNvSpPr/>
          <p:nvPr/>
        </p:nvSpPr>
        <p:spPr>
          <a:xfrm>
            <a:off x="822960" y="2715768"/>
            <a:ext cx="457200" cy="457200"/>
          </a:xfrm>
          <a:prstGeom prst="ellipse">
            <a:avLst/>
          </a:prstGeom>
          <a:solidFill>
            <a:srgbClr val="C9A227"/>
          </a:solidFill>
          <a:ln w="12700">
            <a:solidFill>
              <a:srgbClr val="C9A227"/>
            </a:solidFill>
            <a:prstDash val="solid"/>
          </a:ln>
        </p:spPr>
      </p:sp>
      <p:sp>
        <p:nvSpPr>
          <p:cNvPr id="11" name="Text 9"/>
          <p:cNvSpPr txBox="1"/>
          <p:nvPr/>
        </p:nvSpPr>
        <p:spPr>
          <a:xfrm>
            <a:off x="822960" y="2715768"/>
            <a:ext cx="457200" cy="457200"/>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17320" y="2624328"/>
            <a:ext cx="2651760" cy="640080"/>
          </a:xfrm>
          <a:prstGeom prst="rect">
            <a:avLst/>
          </a:prstGeom>
          <a:noFill/>
          <a:ln/>
        </p:spPr>
        <p:txBody>
          <a:bodyPr wrap="square" lIns="0" tIns="0" rIns="0" bIns="0" rtlCol="0" anchor="ctr"/>
          <a:lstStyle/>
          <a:p>
            <a:pPr indent="0" marL="0">
              <a:buNone/>
            </a:pPr>
            <a:r>
              <a:rPr lang="en-US" sz="1300" b="1" dirty="0">
                <a:solidFill>
                  <a:srgbClr val="0F6B3C"/>
                </a:solidFill>
                <a:latin typeface="Calibri" pitchFamily="34" charset="0"/>
                <a:ea typeface="Calibri" pitchFamily="34" charset="-122"/>
                <a:cs typeface="Calibri" pitchFamily="34" charset="-120"/>
              </a:rPr>
              <a:t>Mitchell's definition</a:t>
            </a:r>
            <a:endParaRPr lang="en-US" sz="1300" dirty="0"/>
          </a:p>
        </p:txBody>
      </p:sp>
      <p:sp>
        <p:nvSpPr>
          <p:cNvPr id="13" name="Text 11"/>
          <p:cNvSpPr txBox="1"/>
          <p:nvPr/>
        </p:nvSpPr>
        <p:spPr>
          <a:xfrm>
            <a:off x="4069080" y="2606040"/>
            <a:ext cx="3657600" cy="685800"/>
          </a:xfrm>
          <a:prstGeom prst="rect">
            <a:avLst/>
          </a:prstGeom>
          <a:noFill/>
          <a:ln/>
        </p:spPr>
        <p:txBody>
          <a:bodyPr wrap="square" lIns="0" tIns="0" rIns="0" bIns="0" rtlCol="0" anchor="ctr"/>
          <a:lstStyle/>
          <a:p>
            <a:pPr indent="0" marL="0">
              <a:lnSpc>
                <a:spcPts val="1400"/>
              </a:lnSpc>
              <a:buNone/>
            </a:pPr>
            <a:r>
              <a:rPr lang="en-US" sz="1150" dirty="0">
                <a:solidFill>
                  <a:srgbClr val="5C6B60"/>
                </a:solidFill>
                <a:latin typeface="Calibri" pitchFamily="34" charset="0"/>
                <a:ea typeface="Calibri" pitchFamily="34" charset="-122"/>
                <a:cs typeface="Calibri" pitchFamily="34" charset="-120"/>
              </a:rPr>
              <a:t>A program learns from experience E at task T measured by performance P.</a:t>
            </a:r>
            <a:endParaRPr lang="en-US" sz="1150" dirty="0"/>
          </a:p>
        </p:txBody>
      </p:sp>
      <p:sp>
        <p:nvSpPr>
          <p:cNvPr id="14" name="Shape 12"/>
          <p:cNvSpPr/>
          <p:nvPr/>
        </p:nvSpPr>
        <p:spPr>
          <a:xfrm>
            <a:off x="548640" y="3474720"/>
            <a:ext cx="7315200" cy="868680"/>
          </a:xfrm>
          <a:prstGeom prst="roundRect">
            <a:avLst>
              <a:gd name="adj" fmla="val 1263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3"/>
          <p:cNvSpPr/>
          <p:nvPr/>
        </p:nvSpPr>
        <p:spPr>
          <a:xfrm>
            <a:off x="822960" y="3675888"/>
            <a:ext cx="457200" cy="457200"/>
          </a:xfrm>
          <a:prstGeom prst="ellipse">
            <a:avLst/>
          </a:prstGeom>
          <a:solidFill>
            <a:srgbClr val="C9A227"/>
          </a:solidFill>
          <a:ln w="12700">
            <a:solidFill>
              <a:srgbClr val="C9A227"/>
            </a:solidFill>
            <a:prstDash val="solid"/>
          </a:ln>
        </p:spPr>
      </p:sp>
      <p:sp>
        <p:nvSpPr>
          <p:cNvPr id="16" name="Text 14"/>
          <p:cNvSpPr txBox="1"/>
          <p:nvPr/>
        </p:nvSpPr>
        <p:spPr>
          <a:xfrm>
            <a:off x="822960" y="3675888"/>
            <a:ext cx="457200" cy="457200"/>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584448"/>
            <a:ext cx="2651760" cy="640080"/>
          </a:xfrm>
          <a:prstGeom prst="rect">
            <a:avLst/>
          </a:prstGeom>
          <a:noFill/>
          <a:ln/>
        </p:spPr>
        <p:txBody>
          <a:bodyPr wrap="square" lIns="0" tIns="0" rIns="0" bIns="0" rtlCol="0" anchor="ctr"/>
          <a:lstStyle/>
          <a:p>
            <a:pPr indent="0" marL="0">
              <a:buNone/>
            </a:pPr>
            <a:r>
              <a:rPr lang="en-US" sz="1300" b="1" dirty="0">
                <a:solidFill>
                  <a:srgbClr val="0F6B3C"/>
                </a:solidFill>
                <a:latin typeface="Calibri" pitchFamily="34" charset="0"/>
                <a:ea typeface="Calibri" pitchFamily="34" charset="-122"/>
                <a:cs typeface="Calibri" pitchFamily="34" charset="-120"/>
              </a:rPr>
              <a:t>Three paradigms</a:t>
            </a:r>
            <a:endParaRPr lang="en-US" sz="1300" dirty="0"/>
          </a:p>
        </p:txBody>
      </p:sp>
      <p:sp>
        <p:nvSpPr>
          <p:cNvPr id="18" name="Text 16"/>
          <p:cNvSpPr txBox="1"/>
          <p:nvPr/>
        </p:nvSpPr>
        <p:spPr>
          <a:xfrm>
            <a:off x="4069080" y="3566160"/>
            <a:ext cx="3657600" cy="685800"/>
          </a:xfrm>
          <a:prstGeom prst="rect">
            <a:avLst/>
          </a:prstGeom>
          <a:noFill/>
          <a:ln/>
        </p:spPr>
        <p:txBody>
          <a:bodyPr wrap="square" lIns="0" tIns="0" rIns="0" bIns="0" rtlCol="0" anchor="ctr"/>
          <a:lstStyle/>
          <a:p>
            <a:pPr indent="0" marL="0">
              <a:lnSpc>
                <a:spcPts val="1400"/>
              </a:lnSpc>
              <a:buNone/>
            </a:pPr>
            <a:r>
              <a:rPr lang="en-US" sz="1150" dirty="0">
                <a:solidFill>
                  <a:srgbClr val="5C6B60"/>
                </a:solidFill>
                <a:latin typeface="Calibri" pitchFamily="34" charset="0"/>
                <a:ea typeface="Calibri" pitchFamily="34" charset="-122"/>
                <a:cs typeface="Calibri" pitchFamily="34" charset="-120"/>
              </a:rPr>
              <a:t>Supervised (labels), unsupervised (structure), reinforcement (reward).</a:t>
            </a:r>
            <a:endParaRPr lang="en-US" sz="1150" dirty="0"/>
          </a:p>
        </p:txBody>
      </p:sp>
      <p:sp>
        <p:nvSpPr>
          <p:cNvPr id="19" name="Shape 17"/>
          <p:cNvSpPr/>
          <p:nvPr/>
        </p:nvSpPr>
        <p:spPr>
          <a:xfrm>
            <a:off x="548640" y="4434840"/>
            <a:ext cx="7315200" cy="868680"/>
          </a:xfrm>
          <a:prstGeom prst="roundRect">
            <a:avLst>
              <a:gd name="adj" fmla="val 1263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8"/>
          <p:cNvSpPr/>
          <p:nvPr/>
        </p:nvSpPr>
        <p:spPr>
          <a:xfrm>
            <a:off x="822960" y="4636008"/>
            <a:ext cx="457200" cy="457200"/>
          </a:xfrm>
          <a:prstGeom prst="ellipse">
            <a:avLst/>
          </a:prstGeom>
          <a:solidFill>
            <a:srgbClr val="C9A227"/>
          </a:solidFill>
          <a:ln w="12700">
            <a:solidFill>
              <a:srgbClr val="C9A227"/>
            </a:solidFill>
            <a:prstDash val="solid"/>
          </a:ln>
        </p:spPr>
      </p:sp>
      <p:sp>
        <p:nvSpPr>
          <p:cNvPr id="21" name="Text 19"/>
          <p:cNvSpPr txBox="1"/>
          <p:nvPr/>
        </p:nvSpPr>
        <p:spPr>
          <a:xfrm>
            <a:off x="822960" y="4636008"/>
            <a:ext cx="457200" cy="457200"/>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17320" y="4544568"/>
            <a:ext cx="2651760" cy="640080"/>
          </a:xfrm>
          <a:prstGeom prst="rect">
            <a:avLst/>
          </a:prstGeom>
          <a:noFill/>
          <a:ln/>
        </p:spPr>
        <p:txBody>
          <a:bodyPr wrap="square" lIns="0" tIns="0" rIns="0" bIns="0" rtlCol="0" anchor="ctr"/>
          <a:lstStyle/>
          <a:p>
            <a:pPr indent="0" marL="0">
              <a:buNone/>
            </a:pPr>
            <a:r>
              <a:rPr lang="en-US" sz="1300" b="1" dirty="0">
                <a:solidFill>
                  <a:srgbClr val="0F6B3C"/>
                </a:solidFill>
                <a:latin typeface="Calibri" pitchFamily="34" charset="0"/>
                <a:ea typeface="Calibri" pitchFamily="34" charset="-122"/>
                <a:cs typeface="Calibri" pitchFamily="34" charset="-120"/>
              </a:rPr>
              <a:t>The pipeline is a loop</a:t>
            </a:r>
            <a:endParaRPr lang="en-US" sz="1300" dirty="0"/>
          </a:p>
        </p:txBody>
      </p:sp>
      <p:sp>
        <p:nvSpPr>
          <p:cNvPr id="23" name="Text 21"/>
          <p:cNvSpPr txBox="1"/>
          <p:nvPr/>
        </p:nvSpPr>
        <p:spPr>
          <a:xfrm>
            <a:off x="4069080" y="4526280"/>
            <a:ext cx="3657600" cy="685800"/>
          </a:xfrm>
          <a:prstGeom prst="rect">
            <a:avLst/>
          </a:prstGeom>
          <a:noFill/>
          <a:ln/>
        </p:spPr>
        <p:txBody>
          <a:bodyPr wrap="square" lIns="0" tIns="0" rIns="0" bIns="0" rtlCol="0" anchor="ctr"/>
          <a:lstStyle/>
          <a:p>
            <a:pPr indent="0" marL="0">
              <a:lnSpc>
                <a:spcPts val="1400"/>
              </a:lnSpc>
              <a:buNone/>
            </a:pPr>
            <a:r>
              <a:rPr lang="en-US" sz="1150" dirty="0">
                <a:solidFill>
                  <a:srgbClr val="5C6B60"/>
                </a:solidFill>
                <a:latin typeface="Calibri" pitchFamily="34" charset="0"/>
                <a:ea typeface="Calibri" pitchFamily="34" charset="-122"/>
                <a:cs typeface="Calibri" pitchFamily="34" charset="-120"/>
              </a:rPr>
              <a:t>Frame → collect → prepare → train → evaluate → deploy → monitor → back to the start.</a:t>
            </a:r>
            <a:endParaRPr lang="en-US" sz="1150" dirty="0"/>
          </a:p>
        </p:txBody>
      </p:sp>
      <p:sp>
        <p:nvSpPr>
          <p:cNvPr id="24" name="Shape 22"/>
          <p:cNvSpPr/>
          <p:nvPr/>
        </p:nvSpPr>
        <p:spPr>
          <a:xfrm>
            <a:off x="548640" y="5394960"/>
            <a:ext cx="7315200" cy="868680"/>
          </a:xfrm>
          <a:prstGeom prst="roundRect">
            <a:avLst>
              <a:gd name="adj" fmla="val 1263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23"/>
          <p:cNvSpPr/>
          <p:nvPr/>
        </p:nvSpPr>
        <p:spPr>
          <a:xfrm>
            <a:off x="822960" y="5596128"/>
            <a:ext cx="457200" cy="457200"/>
          </a:xfrm>
          <a:prstGeom prst="ellipse">
            <a:avLst/>
          </a:prstGeom>
          <a:solidFill>
            <a:srgbClr val="C9A227"/>
          </a:solidFill>
          <a:ln w="12700">
            <a:solidFill>
              <a:srgbClr val="C9A227"/>
            </a:solidFill>
            <a:prstDash val="solid"/>
          </a:ln>
        </p:spPr>
      </p:sp>
      <p:sp>
        <p:nvSpPr>
          <p:cNvPr id="26" name="Text 24"/>
          <p:cNvSpPr txBox="1"/>
          <p:nvPr/>
        </p:nvSpPr>
        <p:spPr>
          <a:xfrm>
            <a:off x="822960" y="5596128"/>
            <a:ext cx="457200" cy="457200"/>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417320" y="5504688"/>
            <a:ext cx="2651760" cy="640080"/>
          </a:xfrm>
          <a:prstGeom prst="rect">
            <a:avLst/>
          </a:prstGeom>
          <a:noFill/>
          <a:ln/>
        </p:spPr>
        <p:txBody>
          <a:bodyPr wrap="square" lIns="0" tIns="0" rIns="0" bIns="0" rtlCol="0" anchor="ctr"/>
          <a:lstStyle/>
          <a:p>
            <a:pPr indent="0" marL="0">
              <a:buNone/>
            </a:pPr>
            <a:r>
              <a:rPr lang="en-US" sz="1300" b="1" dirty="0">
                <a:solidFill>
                  <a:srgbClr val="0F6B3C"/>
                </a:solidFill>
                <a:latin typeface="Calibri" pitchFamily="34" charset="0"/>
                <a:ea typeface="Calibri" pitchFamily="34" charset="-122"/>
                <a:cs typeface="Calibri" pitchFamily="34" charset="-120"/>
              </a:rPr>
              <a:t>Judgement matters</a:t>
            </a:r>
            <a:endParaRPr lang="en-US" sz="1300" dirty="0"/>
          </a:p>
        </p:txBody>
      </p:sp>
      <p:sp>
        <p:nvSpPr>
          <p:cNvPr id="28" name="Text 26"/>
          <p:cNvSpPr txBox="1"/>
          <p:nvPr/>
        </p:nvSpPr>
        <p:spPr>
          <a:xfrm>
            <a:off x="4069080" y="5486400"/>
            <a:ext cx="3657600" cy="685800"/>
          </a:xfrm>
          <a:prstGeom prst="rect">
            <a:avLst/>
          </a:prstGeom>
          <a:noFill/>
          <a:ln/>
        </p:spPr>
        <p:txBody>
          <a:bodyPr wrap="square" lIns="0" tIns="0" rIns="0" bIns="0" rtlCol="0" anchor="ctr"/>
          <a:lstStyle/>
          <a:p>
            <a:pPr indent="0" marL="0">
              <a:lnSpc>
                <a:spcPts val="1400"/>
              </a:lnSpc>
              <a:buNone/>
            </a:pPr>
            <a:r>
              <a:rPr lang="en-US" sz="1150" dirty="0">
                <a:solidFill>
                  <a:srgbClr val="5C6B60"/>
                </a:solidFill>
                <a:latin typeface="Calibri" pitchFamily="34" charset="0"/>
                <a:ea typeface="Calibri" pitchFamily="34" charset="-122"/>
                <a:cs typeface="Calibri" pitchFamily="34" charset="-120"/>
              </a:rPr>
              <a:t>Sometimes the right engineering answer is a rule, not a model.</a:t>
            </a:r>
            <a:endParaRPr lang="en-US" sz="1150" dirty="0"/>
          </a:p>
        </p:txBody>
      </p:sp>
      <p:sp>
        <p:nvSpPr>
          <p:cNvPr id="29" name="Shape 27"/>
          <p:cNvSpPr/>
          <p:nvPr/>
        </p:nvSpPr>
        <p:spPr>
          <a:xfrm>
            <a:off x="8138160" y="1554480"/>
            <a:ext cx="3474720" cy="4160520"/>
          </a:xfrm>
          <a:prstGeom prst="roundRect">
            <a:avLst>
              <a:gd name="adj" fmla="val 3158"/>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0" name="Text 28"/>
          <p:cNvSpPr txBox="1"/>
          <p:nvPr/>
        </p:nvSpPr>
        <p:spPr>
          <a:xfrm>
            <a:off x="8458200" y="1810512"/>
            <a:ext cx="2926080" cy="365760"/>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Today's question</a:t>
            </a:r>
            <a:endParaRPr lang="en-US" sz="1900" dirty="0"/>
          </a:p>
        </p:txBody>
      </p:sp>
      <p:sp>
        <p:nvSpPr>
          <p:cNvPr id="31" name="Text 29"/>
          <p:cNvSpPr txBox="1"/>
          <p:nvPr/>
        </p:nvSpPr>
        <p:spPr>
          <a:xfrm>
            <a:off x="8458200" y="2240280"/>
            <a:ext cx="2926080" cy="182880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We said the computer "produces the rules".</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But how, mechanically, does a machine move from a table of numbers to a rule that works on data it has never seen?</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Three ingredients answer it:</a:t>
            </a:r>
            <a:endParaRPr lang="en-US" sz="1250" dirty="0"/>
          </a:p>
        </p:txBody>
      </p:sp>
      <p:sp>
        <p:nvSpPr>
          <p:cNvPr id="32" name="Text 30"/>
          <p:cNvSpPr txBox="1"/>
          <p:nvPr/>
        </p:nvSpPr>
        <p:spPr>
          <a:xfrm>
            <a:off x="8458200" y="4343400"/>
            <a:ext cx="2971800" cy="1280160"/>
          </a:xfrm>
          <a:prstGeom prst="rect">
            <a:avLst/>
          </a:prstGeom>
          <a:noFill/>
          <a:ln/>
        </p:spPr>
        <p:txBody>
          <a:bodyPr wrap="square" lIns="0" tIns="0" rIns="0" bIns="0" rtlCol="0" anchor="t"/>
          <a:lstStyle/>
          <a:p>
            <a:pPr marL="342900" indent="-342900">
              <a:spcAft>
                <a:spcPts val="800"/>
              </a:spcAft>
              <a:buSzPct val="100000"/>
              <a:buChar char="•"/>
            </a:pPr>
            <a:r>
              <a:rPr lang="en-US" sz="1250" b="1" dirty="0">
                <a:solidFill>
                  <a:srgbClr val="0F6B3C"/>
                </a:solidFill>
                <a:latin typeface="Calibri" pitchFamily="34" charset="0"/>
                <a:ea typeface="Calibri" pitchFamily="34" charset="-122"/>
                <a:cs typeface="Calibri" pitchFamily="34" charset="-120"/>
              </a:rPr>
              <a:t>A space of candidate rules</a:t>
            </a:r>
            <a:endParaRPr lang="en-US" sz="1250" dirty="0"/>
          </a:p>
          <a:p>
            <a:pPr marL="342900" indent="-342900">
              <a:spcAft>
                <a:spcPts val="800"/>
              </a:spcAft>
              <a:buSzPct val="100000"/>
              <a:buChar char="•"/>
            </a:pPr>
            <a:r>
              <a:rPr lang="en-US" sz="1250" b="1" dirty="0">
                <a:solidFill>
                  <a:srgbClr val="0F6B3C"/>
                </a:solidFill>
                <a:latin typeface="Calibri" pitchFamily="34" charset="0"/>
                <a:ea typeface="Calibri" pitchFamily="34" charset="-122"/>
                <a:cs typeface="Calibri" pitchFamily="34" charset="-120"/>
              </a:rPr>
              <a:t>A way to score a rule</a:t>
            </a:r>
            <a:endParaRPr lang="en-US" sz="1250" dirty="0"/>
          </a:p>
          <a:p>
            <a:pPr marL="342900" indent="-342900">
              <a:spcAft>
                <a:spcPts val="800"/>
              </a:spcAft>
              <a:buSzPct val="100000"/>
              <a:buChar char="•"/>
            </a:pPr>
            <a:r>
              <a:rPr lang="en-US" sz="1250" b="1" dirty="0">
                <a:solidFill>
                  <a:srgbClr val="0F6B3C"/>
                </a:solidFill>
                <a:latin typeface="Calibri" pitchFamily="34" charset="0"/>
                <a:ea typeface="Calibri" pitchFamily="34" charset="-122"/>
                <a:cs typeface="Calibri" pitchFamily="34" charset="-120"/>
              </a:rPr>
              <a:t>A way to search for a good one</a:t>
            </a:r>
            <a:endParaRPr lang="en-US" sz="1250" dirty="0"/>
          </a:p>
        </p:txBody>
      </p:sp>
      <p:sp>
        <p:nvSpPr>
          <p:cNvPr id="34" name="Text 31"/>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5" name="Text 32"/>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26</a:t>
            </a:r>
            <a:endParaRPr lang="en-US" sz="900" dirty="0"/>
          </a:p>
        </p:txBody>
      </p:sp>
      <p:pic>
        <p:nvPicPr>
          <p:cNvPr id="36" name="Picture 35"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FORMAL SET-UP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Learning, Written Precisely</a:t>
            </a:r>
            <a:endParaRPr lang="en-US" sz="3000" dirty="0"/>
          </a:p>
        </p:txBody>
      </p:sp>
      <p:sp>
        <p:nvSpPr>
          <p:cNvPr id="4" name="Shape 2"/>
          <p:cNvSpPr/>
          <p:nvPr/>
        </p:nvSpPr>
        <p:spPr>
          <a:xfrm>
            <a:off x="548640" y="1554480"/>
            <a:ext cx="11064240" cy="1371600"/>
          </a:xfrm>
          <a:prstGeom prst="roundRect">
            <a:avLst>
              <a:gd name="adj" fmla="val 8000"/>
            </a:avLst>
          </a:prstGeom>
          <a:solidFill>
            <a:srgbClr val="E9F0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914400" y="1828800"/>
            <a:ext cx="10332720" cy="868680"/>
          </a:xfrm>
          <a:prstGeom prst="rect">
            <a:avLst/>
          </a:prstGeom>
          <a:noFill/>
          <a:ln/>
        </p:spPr>
        <p:txBody>
          <a:bodyPr wrap="square" lIns="0" tIns="0" rIns="0" bIns="0" rtlCol="0" anchor="ctr"/>
          <a:lstStyle/>
          <a:p>
            <a:pPr indent="0" marL="0">
              <a:lnSpc>
                <a:spcPts val="2400"/>
              </a:lnSpc>
              <a:buNone/>
            </a:pPr>
            <a:r>
              <a:rPr lang="en-US" sz="1500" dirty="0">
                <a:solidFill>
                  <a:srgbClr val="0F6B3C"/>
                </a:solidFill>
                <a:latin typeface="Calibri" pitchFamily="34" charset="0"/>
                <a:ea typeface="Calibri" pitchFamily="34" charset="-122"/>
                <a:cs typeface="Calibri" pitchFamily="34" charset="-120"/>
              </a:rPr>
              <a:t>We assume there is some unknown true function  f : X → Y   that maps inputs to outputs.</a:t>
            </a:r>
            <a:endParaRPr lang="en-US" sz="1500" dirty="0"/>
          </a:p>
          <a:p>
            <a:pPr indent="0" marL="0">
              <a:lnSpc>
                <a:spcPts val="2400"/>
              </a:lnSpc>
              <a:buNone/>
            </a:pPr>
            <a:r>
              <a:rPr lang="en-US" sz="1500" dirty="0">
                <a:solidFill>
                  <a:srgbClr val="0F6B3C"/>
                </a:solidFill>
                <a:latin typeface="Calibri" pitchFamily="34" charset="0"/>
                <a:ea typeface="Calibri" pitchFamily="34" charset="-122"/>
                <a:cs typeface="Calibri" pitchFamily="34" charset="-120"/>
              </a:rPr>
              <a:t>We never see f. We only see a sample of its behaviour:   D = { (x⁽¹⁾, y⁽¹⁾), (x⁽²⁾, y⁽²⁾), …, (x⁽ᵐ⁾, y⁽ᵐ⁾) }</a:t>
            </a:r>
            <a:endParaRPr lang="en-US" sz="1500" dirty="0"/>
          </a:p>
        </p:txBody>
      </p:sp>
      <p:sp>
        <p:nvSpPr>
          <p:cNvPr id="6" name="Shape 4"/>
          <p:cNvSpPr/>
          <p:nvPr/>
        </p:nvSpPr>
        <p:spPr>
          <a:xfrm>
            <a:off x="548640" y="3108960"/>
            <a:ext cx="2697480" cy="274320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 name="Shape 5"/>
          <p:cNvSpPr/>
          <p:nvPr/>
        </p:nvSpPr>
        <p:spPr>
          <a:xfrm>
            <a:off x="822960" y="3383280"/>
            <a:ext cx="548640" cy="548640"/>
          </a:xfrm>
          <a:prstGeom prst="ellipse">
            <a:avLst/>
          </a:prstGeom>
          <a:solidFill>
            <a:srgbClr val="0F6B3C"/>
          </a:solidFill>
          <a:ln w="12700">
            <a:solidFill>
              <a:srgbClr val="0F6B3C"/>
            </a:solidFill>
            <a:prstDash val="solid"/>
          </a:ln>
        </p:spPr>
      </p:sp>
      <p:sp>
        <p:nvSpPr>
          <p:cNvPr id="8" name="Text 6"/>
          <p:cNvSpPr txBox="1"/>
          <p:nvPr/>
        </p:nvSpPr>
        <p:spPr>
          <a:xfrm>
            <a:off x="822960" y="33832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a:t>
            </a:r>
            <a:endParaRPr lang="en-US" sz="1300" dirty="0"/>
          </a:p>
        </p:txBody>
      </p:sp>
      <p:sp>
        <p:nvSpPr>
          <p:cNvPr id="9" name="Text 7"/>
          <p:cNvSpPr txBox="1"/>
          <p:nvPr/>
        </p:nvSpPr>
        <p:spPr>
          <a:xfrm>
            <a:off x="822960" y="4069080"/>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Input space</a:t>
            </a:r>
            <a:endParaRPr lang="en-US" sz="1500" dirty="0"/>
          </a:p>
        </p:txBody>
      </p:sp>
      <p:sp>
        <p:nvSpPr>
          <p:cNvPr id="10" name="Text 8"/>
          <p:cNvSpPr txBox="1"/>
          <p:nvPr/>
        </p:nvSpPr>
        <p:spPr>
          <a:xfrm>
            <a:off x="822960" y="4434840"/>
            <a:ext cx="2194560" cy="128016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All possible feature vectors. For our farms: every combination of rainfall, fertiliser, pH and acreage.</a:t>
            </a:r>
            <a:endParaRPr lang="en-US" sz="1150" dirty="0"/>
          </a:p>
        </p:txBody>
      </p:sp>
      <p:sp>
        <p:nvSpPr>
          <p:cNvPr id="11" name="Shape 9"/>
          <p:cNvSpPr/>
          <p:nvPr/>
        </p:nvSpPr>
        <p:spPr>
          <a:xfrm>
            <a:off x="3410712" y="3108960"/>
            <a:ext cx="2697480" cy="274320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2" name="Shape 10"/>
          <p:cNvSpPr/>
          <p:nvPr/>
        </p:nvSpPr>
        <p:spPr>
          <a:xfrm>
            <a:off x="3685032" y="3383280"/>
            <a:ext cx="548640" cy="548640"/>
          </a:xfrm>
          <a:prstGeom prst="ellipse">
            <a:avLst/>
          </a:prstGeom>
          <a:solidFill>
            <a:srgbClr val="0E7C61"/>
          </a:solidFill>
          <a:ln w="12700">
            <a:solidFill>
              <a:srgbClr val="0E7C61"/>
            </a:solidFill>
            <a:prstDash val="solid"/>
          </a:ln>
        </p:spPr>
      </p:sp>
      <p:sp>
        <p:nvSpPr>
          <p:cNvPr id="13" name="Text 11"/>
          <p:cNvSpPr txBox="1"/>
          <p:nvPr/>
        </p:nvSpPr>
        <p:spPr>
          <a:xfrm>
            <a:off x="3685032" y="33832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14" name="Text 12"/>
          <p:cNvSpPr txBox="1"/>
          <p:nvPr/>
        </p:nvSpPr>
        <p:spPr>
          <a:xfrm>
            <a:off x="3685032" y="4069080"/>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Output space</a:t>
            </a:r>
            <a:endParaRPr lang="en-US" sz="1500" dirty="0"/>
          </a:p>
        </p:txBody>
      </p:sp>
      <p:sp>
        <p:nvSpPr>
          <p:cNvPr id="15" name="Text 13"/>
          <p:cNvSpPr txBox="1"/>
          <p:nvPr/>
        </p:nvSpPr>
        <p:spPr>
          <a:xfrm>
            <a:off x="3685032" y="4434840"/>
            <a:ext cx="2194560" cy="128016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All possible answers. {healthy, blight, rust} for classification, or all real numbers for yield.</a:t>
            </a:r>
            <a:endParaRPr lang="en-US" sz="1150" dirty="0"/>
          </a:p>
        </p:txBody>
      </p:sp>
      <p:sp>
        <p:nvSpPr>
          <p:cNvPr id="16" name="Shape 14"/>
          <p:cNvSpPr/>
          <p:nvPr/>
        </p:nvSpPr>
        <p:spPr>
          <a:xfrm>
            <a:off x="6272784" y="3108960"/>
            <a:ext cx="2697480" cy="274320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7" name="Shape 15"/>
          <p:cNvSpPr/>
          <p:nvPr/>
        </p:nvSpPr>
        <p:spPr>
          <a:xfrm>
            <a:off x="6547104" y="3383280"/>
            <a:ext cx="548640" cy="548640"/>
          </a:xfrm>
          <a:prstGeom prst="ellipse">
            <a:avLst/>
          </a:prstGeom>
          <a:solidFill>
            <a:srgbClr val="C9A227"/>
          </a:solidFill>
          <a:ln w="12700">
            <a:solidFill>
              <a:srgbClr val="C9A227"/>
            </a:solidFill>
            <a:prstDash val="solid"/>
          </a:ln>
        </p:spPr>
      </p:sp>
      <p:sp>
        <p:nvSpPr>
          <p:cNvPr id="18" name="Text 16"/>
          <p:cNvSpPr txBox="1"/>
          <p:nvPr/>
        </p:nvSpPr>
        <p:spPr>
          <a:xfrm>
            <a:off x="6547104" y="33832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t>
            </a:r>
            <a:endParaRPr lang="en-US" sz="1300" dirty="0"/>
          </a:p>
        </p:txBody>
      </p:sp>
      <p:sp>
        <p:nvSpPr>
          <p:cNvPr id="19" name="Text 17"/>
          <p:cNvSpPr txBox="1"/>
          <p:nvPr/>
        </p:nvSpPr>
        <p:spPr>
          <a:xfrm>
            <a:off x="6547104" y="4069080"/>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Hypothesis space</a:t>
            </a:r>
            <a:endParaRPr lang="en-US" sz="1500" dirty="0"/>
          </a:p>
        </p:txBody>
      </p:sp>
      <p:sp>
        <p:nvSpPr>
          <p:cNvPr id="20" name="Text 18"/>
          <p:cNvSpPr txBox="1"/>
          <p:nvPr/>
        </p:nvSpPr>
        <p:spPr>
          <a:xfrm>
            <a:off x="6547104" y="4434840"/>
            <a:ext cx="2194560" cy="128016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The set of candidate rules we allow ourselves to consider — e.g. all straight lines, or all decision trees of depth ≤ 5.</a:t>
            </a:r>
            <a:endParaRPr lang="en-US" sz="1150" dirty="0"/>
          </a:p>
        </p:txBody>
      </p:sp>
      <p:sp>
        <p:nvSpPr>
          <p:cNvPr id="21" name="Shape 19"/>
          <p:cNvSpPr/>
          <p:nvPr/>
        </p:nvSpPr>
        <p:spPr>
          <a:xfrm>
            <a:off x="9134856" y="3108960"/>
            <a:ext cx="2697480" cy="274320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2" name="Shape 20"/>
          <p:cNvSpPr/>
          <p:nvPr/>
        </p:nvSpPr>
        <p:spPr>
          <a:xfrm>
            <a:off x="9409176" y="3383280"/>
            <a:ext cx="548640" cy="548640"/>
          </a:xfrm>
          <a:prstGeom prst="ellipse">
            <a:avLst/>
          </a:prstGeom>
          <a:solidFill>
            <a:srgbClr val="9C3B2E"/>
          </a:solidFill>
          <a:ln w="12700">
            <a:solidFill>
              <a:srgbClr val="9C3B2E"/>
            </a:solidFill>
            <a:prstDash val="solid"/>
          </a:ln>
        </p:spPr>
      </p:sp>
      <p:sp>
        <p:nvSpPr>
          <p:cNvPr id="23" name="Text 21"/>
          <p:cNvSpPr txBox="1"/>
          <p:nvPr/>
        </p:nvSpPr>
        <p:spPr>
          <a:xfrm>
            <a:off x="9409176" y="33832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t>
            </a:r>
            <a:endParaRPr lang="en-US" sz="1300" dirty="0"/>
          </a:p>
        </p:txBody>
      </p:sp>
      <p:sp>
        <p:nvSpPr>
          <p:cNvPr id="24" name="Text 22"/>
          <p:cNvSpPr txBox="1"/>
          <p:nvPr/>
        </p:nvSpPr>
        <p:spPr>
          <a:xfrm>
            <a:off x="9409176" y="4069080"/>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The hypothesis</a:t>
            </a:r>
            <a:endParaRPr lang="en-US" sz="1500" dirty="0"/>
          </a:p>
        </p:txBody>
      </p:sp>
      <p:sp>
        <p:nvSpPr>
          <p:cNvPr id="25" name="Text 23"/>
          <p:cNvSpPr txBox="1"/>
          <p:nvPr/>
        </p:nvSpPr>
        <p:spPr>
          <a:xfrm>
            <a:off x="9409176" y="4434840"/>
            <a:ext cx="2194560" cy="128016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The one rule from H that our algorithm picks. This is the trained model. We hope h ≈ f.</a:t>
            </a:r>
            <a:endParaRPr lang="en-US" sz="1150" dirty="0"/>
          </a:p>
        </p:txBody>
      </p:sp>
      <p:sp>
        <p:nvSpPr>
          <p:cNvPr id="26" name="Text 24"/>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250" b="1" i="1" dirty="0">
                <a:solidFill>
                  <a:srgbClr val="0E7C61"/>
                </a:solidFill>
                <a:latin typeface="Calibri" pitchFamily="34" charset="0"/>
                <a:ea typeface="Calibri" pitchFamily="34" charset="-122"/>
                <a:cs typeface="Calibri" pitchFamily="34" charset="-120"/>
              </a:rPr>
              <a:t>Choosing H is the single most consequential design decision you make. Everything after it is search.</a:t>
            </a:r>
            <a:endParaRPr lang="en-US" sz="1250" dirty="0"/>
          </a:p>
        </p:txBody>
      </p:sp>
      <p:sp>
        <p:nvSpPr>
          <p:cNvPr id="28" name="Text 25"/>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9" name="Text 26"/>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27</a:t>
            </a:r>
            <a:endParaRPr lang="en-US" sz="900" dirty="0"/>
          </a:p>
        </p:txBody>
      </p:sp>
      <p:pic>
        <p:nvPicPr>
          <p:cNvPr id="30" name="Picture 29"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PREDICTING MAIZE YIELD FROM RAINFALL</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A Concrete Example</a:t>
            </a:r>
            <a:endParaRPr lang="en-US" sz="3000" dirty="0"/>
          </a:p>
        </p:txBody>
      </p:sp>
      <p:graphicFrame>
        <p:nvGraphicFramePr>
          <p:cNvPr id="4" name="Chart 0" descr=""/>
          <p:cNvGraphicFramePr/>
          <p:nvPr/>
        </p:nvGraphicFramePr>
        <p:xfrm>
          <a:off x="457200" y="160020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06640" y="1600200"/>
            <a:ext cx="4206240" cy="2103120"/>
          </a:xfrm>
          <a:prstGeom prst="roundRect">
            <a:avLst>
              <a:gd name="adj" fmla="val 5217"/>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 name="Text 3"/>
          <p:cNvSpPr txBox="1"/>
          <p:nvPr/>
        </p:nvSpPr>
        <p:spPr>
          <a:xfrm>
            <a:off x="7726680" y="1810512"/>
            <a:ext cx="365760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Our hypothesis space H</a:t>
            </a:r>
            <a:endParaRPr lang="en-US" sz="1600" dirty="0"/>
          </a:p>
        </p:txBody>
      </p:sp>
      <p:sp>
        <p:nvSpPr>
          <p:cNvPr id="7" name="Text 4"/>
          <p:cNvSpPr txBox="1"/>
          <p:nvPr/>
        </p:nvSpPr>
        <p:spPr>
          <a:xfrm>
            <a:off x="7726680" y="2194560"/>
            <a:ext cx="3657600" cy="457200"/>
          </a:xfrm>
          <a:prstGeom prst="rect">
            <a:avLst/>
          </a:prstGeom>
          <a:noFill/>
          <a:ln/>
        </p:spPr>
        <p:txBody>
          <a:bodyPr wrap="square" lIns="0" tIns="0" rIns="0" bIns="0" rtlCol="0" anchor="ctr"/>
          <a:lstStyle/>
          <a:p>
            <a:pPr indent="0" marL="0">
              <a:buNone/>
            </a:pPr>
            <a:r>
              <a:rPr lang="en-US" sz="2000" b="1" dirty="0">
                <a:solidFill>
                  <a:srgbClr val="0F6B3C"/>
                </a:solidFill>
                <a:latin typeface="Courier New" pitchFamily="34" charset="0"/>
                <a:ea typeface="Courier New" pitchFamily="34" charset="-122"/>
                <a:cs typeface="Courier New" pitchFamily="34" charset="-120"/>
              </a:rPr>
              <a:t>h(x) = w · x + b</a:t>
            </a:r>
            <a:endParaRPr lang="en-US" sz="2000" dirty="0"/>
          </a:p>
        </p:txBody>
      </p:sp>
      <p:sp>
        <p:nvSpPr>
          <p:cNvPr id="8" name="Text 5"/>
          <p:cNvSpPr txBox="1"/>
          <p:nvPr/>
        </p:nvSpPr>
        <p:spPr>
          <a:xfrm>
            <a:off x="7726680" y="2697480"/>
            <a:ext cx="3657600" cy="86868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Every straight line. Each choice of the two parameters w (slope) and b (intercept) is one candidate hypothesis.</a:t>
            </a:r>
            <a:endParaRPr lang="en-US" sz="1250" dirty="0"/>
          </a:p>
        </p:txBody>
      </p:sp>
      <p:sp>
        <p:nvSpPr>
          <p:cNvPr id="9" name="Shape 6"/>
          <p:cNvSpPr/>
          <p:nvPr/>
        </p:nvSpPr>
        <p:spPr>
          <a:xfrm>
            <a:off x="7406640" y="3886200"/>
            <a:ext cx="4206240" cy="2148840"/>
          </a:xfrm>
          <a:prstGeom prst="roundRect">
            <a:avLst>
              <a:gd name="adj" fmla="val 51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Text 7"/>
          <p:cNvSpPr txBox="1"/>
          <p:nvPr/>
        </p:nvSpPr>
        <p:spPr>
          <a:xfrm>
            <a:off x="7726680" y="4096512"/>
            <a:ext cx="365760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Learning = choosing w and b</a:t>
            </a:r>
            <a:endParaRPr lang="en-US" sz="1600" dirty="0"/>
          </a:p>
        </p:txBody>
      </p:sp>
      <p:sp>
        <p:nvSpPr>
          <p:cNvPr id="11" name="Text 8"/>
          <p:cNvSpPr txBox="1"/>
          <p:nvPr/>
        </p:nvSpPr>
        <p:spPr>
          <a:xfrm>
            <a:off x="7726680" y="4480560"/>
            <a:ext cx="3657600" cy="146304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There are infinitely many lines through this cloud. Some are obviously bad. To let a computer choose, we must first define, numerically, what "bad" means.</a:t>
            </a:r>
            <a:endParaRPr lang="en-US" sz="1250" dirty="0"/>
          </a:p>
          <a:p>
            <a:pPr indent="0" marL="0">
              <a:lnSpc>
                <a:spcPts val="1700"/>
              </a:lnSpc>
              <a:buNone/>
            </a:pPr>
            <a:endParaRPr lang="en-US" sz="1250" dirty="0"/>
          </a:p>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That number is the loss.</a:t>
            </a:r>
            <a:endParaRPr lang="en-US" sz="1250" dirty="0"/>
          </a:p>
        </p:txBody>
      </p:sp>
      <p:sp>
        <p:nvSpPr>
          <p:cNvPr id="13" name="Text 9"/>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4" name="Text 10"/>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28</a:t>
            </a:r>
            <a:endParaRPr lang="en-US" sz="900" dirty="0"/>
          </a:p>
        </p:txBody>
      </p:sp>
      <p:pic>
        <p:nvPicPr>
          <p:cNvPr id="15" name="Picture 14" descr="must_logo.png"/>
          <p:cNvPicPr>
            <a:picLocks noChangeAspect="1"/>
          </p:cNvPicPr>
          <p:nvPr/>
        </p:nvPicPr>
        <p:blipFill>
          <a:blip r:embed="rId4"/>
          <a:stretch>
            <a:fillRect/>
          </a:stretch>
        </p:blipFill>
        <p:spPr>
          <a:xfrm>
            <a:off x="11016642" y="274320"/>
            <a:ext cx="699565" cy="65836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INGREDIENT TWO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Measuring Wrongness: The Loss Function</a:t>
            </a:r>
            <a:endParaRPr lang="en-US" sz="3000" dirty="0"/>
          </a:p>
        </p:txBody>
      </p:sp>
      <p:sp>
        <p:nvSpPr>
          <p:cNvPr id="4" name="Shape 2"/>
          <p:cNvSpPr/>
          <p:nvPr/>
        </p:nvSpPr>
        <p:spPr>
          <a:xfrm>
            <a:off x="548640" y="1554480"/>
            <a:ext cx="11064240" cy="1508760"/>
          </a:xfrm>
          <a:prstGeom prst="roundRect">
            <a:avLst>
              <a:gd name="adj" fmla="val 7273"/>
            </a:avLst>
          </a:prstGeom>
          <a:solidFill>
            <a:srgbClr val="E9F0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914400" y="1719072"/>
            <a:ext cx="4114800" cy="320040"/>
          </a:xfrm>
          <a:prstGeom prst="rect">
            <a:avLst/>
          </a:prstGeom>
          <a:noFill/>
          <a:ln/>
        </p:spPr>
        <p:txBody>
          <a:bodyPr wrap="square" lIns="0" tIns="0" rIns="0" bIns="0" rtlCol="0" anchor="ctr"/>
          <a:lstStyle/>
          <a:p>
            <a:pPr indent="0" marL="0">
              <a:buNone/>
            </a:pPr>
            <a:r>
              <a:rPr lang="en-US" sz="1200" b="1" spc="120" kern="0" dirty="0">
                <a:solidFill>
                  <a:srgbClr val="C9A227"/>
                </a:solidFill>
                <a:latin typeface="Calibri" pitchFamily="34" charset="0"/>
                <a:ea typeface="Calibri" pitchFamily="34" charset="-122"/>
                <a:cs typeface="Calibri" pitchFamily="34" charset="-120"/>
              </a:rPr>
              <a:t>Mean Squared Error</a:t>
            </a:r>
            <a:endParaRPr lang="en-US" sz="1200" dirty="0"/>
          </a:p>
        </p:txBody>
      </p:sp>
      <p:sp>
        <p:nvSpPr>
          <p:cNvPr id="6" name="Text 4"/>
          <p:cNvSpPr txBox="1"/>
          <p:nvPr/>
        </p:nvSpPr>
        <p:spPr>
          <a:xfrm>
            <a:off x="914400" y="1993392"/>
            <a:ext cx="10332720" cy="548640"/>
          </a:xfrm>
          <a:prstGeom prst="rect">
            <a:avLst/>
          </a:prstGeom>
          <a:noFill/>
          <a:ln/>
        </p:spPr>
        <p:txBody>
          <a:bodyPr wrap="square" lIns="0" tIns="0" rIns="0" bIns="0" rtlCol="0" anchor="ctr"/>
          <a:lstStyle/>
          <a:p>
            <a:pPr indent="0" marL="0">
              <a:buNone/>
            </a:pPr>
            <a:r>
              <a:rPr lang="en-US" sz="1900" b="1" dirty="0">
                <a:solidFill>
                  <a:srgbClr val="0F6B3C"/>
                </a:solidFill>
                <a:latin typeface="Courier New" pitchFamily="34" charset="0"/>
                <a:ea typeface="Courier New" pitchFamily="34" charset="-122"/>
                <a:cs typeface="Courier New" pitchFamily="34" charset="-120"/>
              </a:rPr>
              <a:t>L(w, b)  =  (1/m) · Σ ( y⁽ⁱ⁾ − h(x⁽ⁱ⁾) )²</a:t>
            </a:r>
            <a:endParaRPr lang="en-US" sz="1900" dirty="0"/>
          </a:p>
        </p:txBody>
      </p:sp>
      <p:sp>
        <p:nvSpPr>
          <p:cNvPr id="7" name="Text 5"/>
          <p:cNvSpPr txBox="1"/>
          <p:nvPr/>
        </p:nvSpPr>
        <p:spPr>
          <a:xfrm>
            <a:off x="914400" y="2578608"/>
            <a:ext cx="10332720" cy="365760"/>
          </a:xfrm>
          <a:prstGeom prst="rect">
            <a:avLst/>
          </a:prstGeom>
          <a:noFill/>
          <a:ln/>
        </p:spPr>
        <p:txBody>
          <a:bodyPr wrap="square" lIns="0" tIns="0" rIns="0" bIns="0" rtlCol="0" anchor="ctr"/>
          <a:lstStyle/>
          <a:p>
            <a:pPr indent="0" marL="0">
              <a:buNone/>
            </a:pPr>
            <a:r>
              <a:rPr lang="en-US" sz="1300" dirty="0">
                <a:solidFill>
                  <a:srgbClr val="1B2A20"/>
                </a:solidFill>
                <a:latin typeface="Calibri" pitchFamily="34" charset="0"/>
                <a:ea typeface="Calibri" pitchFamily="34" charset="-122"/>
                <a:cs typeface="Calibri" pitchFamily="34" charset="-120"/>
              </a:rPr>
              <a:t>For every farm: take the true yield, subtract the predicted yield, square it. Average over all m farms.</a:t>
            </a:r>
            <a:endParaRPr lang="en-US" sz="1300" dirty="0"/>
          </a:p>
        </p:txBody>
      </p:sp>
      <p:sp>
        <p:nvSpPr>
          <p:cNvPr id="8" name="Shape 6"/>
          <p:cNvSpPr/>
          <p:nvPr/>
        </p:nvSpPr>
        <p:spPr>
          <a:xfrm>
            <a:off x="548640" y="3246120"/>
            <a:ext cx="26974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9" name="Text 7"/>
          <p:cNvSpPr txBox="1"/>
          <p:nvPr/>
        </p:nvSpPr>
        <p:spPr>
          <a:xfrm>
            <a:off x="804672" y="3456432"/>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Why subtract?</a:t>
            </a:r>
            <a:endParaRPr lang="en-US" sz="1500" dirty="0"/>
          </a:p>
        </p:txBody>
      </p:sp>
      <p:sp>
        <p:nvSpPr>
          <p:cNvPr id="10" name="Text 8"/>
          <p:cNvSpPr txBox="1"/>
          <p:nvPr/>
        </p:nvSpPr>
        <p:spPr>
          <a:xfrm>
            <a:off x="804672" y="3803904"/>
            <a:ext cx="2212848" cy="10058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The gap between truth and prediction is the error for that one example — the residual.</a:t>
            </a:r>
            <a:endParaRPr lang="en-US" sz="1150" dirty="0"/>
          </a:p>
        </p:txBody>
      </p:sp>
      <p:sp>
        <p:nvSpPr>
          <p:cNvPr id="11" name="Shape 9"/>
          <p:cNvSpPr/>
          <p:nvPr/>
        </p:nvSpPr>
        <p:spPr>
          <a:xfrm>
            <a:off x="3410712" y="3246120"/>
            <a:ext cx="26974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2" name="Text 10"/>
          <p:cNvSpPr txBox="1"/>
          <p:nvPr/>
        </p:nvSpPr>
        <p:spPr>
          <a:xfrm>
            <a:off x="3666744" y="3456432"/>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Why square it?</a:t>
            </a:r>
            <a:endParaRPr lang="en-US" sz="1500" dirty="0"/>
          </a:p>
        </p:txBody>
      </p:sp>
      <p:sp>
        <p:nvSpPr>
          <p:cNvPr id="13" name="Text 11"/>
          <p:cNvSpPr txBox="1"/>
          <p:nvPr/>
        </p:nvSpPr>
        <p:spPr>
          <a:xfrm>
            <a:off x="3666744" y="3803904"/>
            <a:ext cx="2212848" cy="10058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It removes the sign, so errors cannot cancel out, and it punishes a single 10-bag miss far more than ten 1-bag misses.</a:t>
            </a:r>
            <a:endParaRPr lang="en-US" sz="1150" dirty="0"/>
          </a:p>
        </p:txBody>
      </p:sp>
      <p:sp>
        <p:nvSpPr>
          <p:cNvPr id="14" name="Shape 12"/>
          <p:cNvSpPr/>
          <p:nvPr/>
        </p:nvSpPr>
        <p:spPr>
          <a:xfrm>
            <a:off x="6272784" y="3246120"/>
            <a:ext cx="26974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Text 13"/>
          <p:cNvSpPr txBox="1"/>
          <p:nvPr/>
        </p:nvSpPr>
        <p:spPr>
          <a:xfrm>
            <a:off x="6528816" y="3456432"/>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Why average?</a:t>
            </a:r>
            <a:endParaRPr lang="en-US" sz="1500" dirty="0"/>
          </a:p>
        </p:txBody>
      </p:sp>
      <p:sp>
        <p:nvSpPr>
          <p:cNvPr id="16" name="Text 14"/>
          <p:cNvSpPr txBox="1"/>
          <p:nvPr/>
        </p:nvSpPr>
        <p:spPr>
          <a:xfrm>
            <a:off x="6528816" y="3803904"/>
            <a:ext cx="2212848" cy="10058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So the score does not depend on how many farms are in the dataset. 400 farms and 4,000 farms stay comparable.</a:t>
            </a:r>
            <a:endParaRPr lang="en-US" sz="1150" dirty="0"/>
          </a:p>
        </p:txBody>
      </p:sp>
      <p:sp>
        <p:nvSpPr>
          <p:cNvPr id="17" name="Shape 15"/>
          <p:cNvSpPr/>
          <p:nvPr/>
        </p:nvSpPr>
        <p:spPr>
          <a:xfrm>
            <a:off x="9134856" y="3246120"/>
            <a:ext cx="26974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8" name="Text 16"/>
          <p:cNvSpPr txBox="1"/>
          <p:nvPr/>
        </p:nvSpPr>
        <p:spPr>
          <a:xfrm>
            <a:off x="9390888" y="3456432"/>
            <a:ext cx="2194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What is it for?</a:t>
            </a:r>
            <a:endParaRPr lang="en-US" sz="1500" dirty="0"/>
          </a:p>
        </p:txBody>
      </p:sp>
      <p:sp>
        <p:nvSpPr>
          <p:cNvPr id="19" name="Text 17"/>
          <p:cNvSpPr txBox="1"/>
          <p:nvPr/>
        </p:nvSpPr>
        <p:spPr>
          <a:xfrm>
            <a:off x="9390888" y="3803904"/>
            <a:ext cx="2212848" cy="100584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It turns a vague question ("is this line good?") into a number the computer can minimise. Learning becomes optimisation.</a:t>
            </a:r>
            <a:endParaRPr lang="en-US" sz="1150" dirty="0"/>
          </a:p>
        </p:txBody>
      </p:sp>
      <p:sp>
        <p:nvSpPr>
          <p:cNvPr id="20" name="Shape 18"/>
          <p:cNvSpPr/>
          <p:nvPr/>
        </p:nvSpPr>
        <p:spPr>
          <a:xfrm>
            <a:off x="548640" y="5120640"/>
            <a:ext cx="11064240" cy="1005840"/>
          </a:xfrm>
          <a:prstGeom prst="roundRect">
            <a:avLst>
              <a:gd name="adj" fmla="val 10909"/>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1" name="Text 19"/>
          <p:cNvSpPr txBox="1"/>
          <p:nvPr/>
        </p:nvSpPr>
        <p:spPr>
          <a:xfrm>
            <a:off x="914400" y="5303520"/>
            <a:ext cx="10332720" cy="685800"/>
          </a:xfrm>
          <a:prstGeom prst="rect">
            <a:avLst/>
          </a:prstGeom>
          <a:noFill/>
          <a:ln/>
        </p:spPr>
        <p:txBody>
          <a:bodyPr wrap="square" lIns="0" tIns="0" rIns="0" bIns="0" rtlCol="0" anchor="ctr"/>
          <a:lstStyle/>
          <a:p>
            <a:pPr indent="0" marL="0">
              <a:lnSpc>
                <a:spcPts val="1700"/>
              </a:lnSpc>
              <a:buNone/>
            </a:pPr>
            <a:r>
              <a:rPr lang="en-US" sz="1250" i="1" dirty="0">
                <a:solidFill>
                  <a:srgbClr val="0F6B3C"/>
                </a:solidFill>
                <a:latin typeface="Calibri" pitchFamily="34" charset="0"/>
                <a:ea typeface="Calibri" pitchFamily="34" charset="-122"/>
                <a:cs typeface="Calibri" pitchFamily="34" charset="-120"/>
              </a:rPr>
              <a:t>Different tasks, different losses: squared error for regression; cross-entropy (log loss) for classification; hinge loss for support vector machines. Choosing the loss is choosing what kind of mistake you are least willing to tolerate.</a:t>
            </a:r>
            <a:endParaRPr lang="en-US" sz="1250" dirty="0"/>
          </a:p>
        </p:txBody>
      </p:sp>
      <p:sp>
        <p:nvSpPr>
          <p:cNvPr id="23" name="Text 20"/>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4" name="Text 21"/>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29</a:t>
            </a:r>
            <a:endParaRPr lang="en-US" sz="900" dirty="0"/>
          </a:p>
        </p:txBody>
      </p:sp>
      <p:pic>
        <p:nvPicPr>
          <p:cNvPr id="25" name="Picture 24"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INGREDIENT THREE: OPTIMISATION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Walking Downhill In The Fog</a:t>
            </a:r>
            <a:endParaRPr lang="en-US" sz="3000" dirty="0"/>
          </a:p>
        </p:txBody>
      </p:sp>
      <p:sp>
        <p:nvSpPr>
          <p:cNvPr id="4" name="Shape 2"/>
          <p:cNvSpPr/>
          <p:nvPr/>
        </p:nvSpPr>
        <p:spPr>
          <a:xfrm>
            <a:off x="1161288" y="2346206"/>
            <a:ext cx="173736" cy="494256"/>
          </a:xfrm>
          <a:prstGeom prst="line">
            <a:avLst/>
          </a:prstGeom>
          <a:noFill/>
          <a:ln w="28575">
            <a:solidFill>
              <a:srgbClr val="0F6B3C"/>
            </a:solidFill>
            <a:prstDash val="solid"/>
          </a:ln>
        </p:spPr>
      </p:sp>
      <p:sp>
        <p:nvSpPr>
          <p:cNvPr id="5" name="Shape 3"/>
          <p:cNvSpPr/>
          <p:nvPr/>
        </p:nvSpPr>
        <p:spPr>
          <a:xfrm>
            <a:off x="1335024" y="2840462"/>
            <a:ext cx="173736" cy="451278"/>
          </a:xfrm>
          <a:prstGeom prst="line">
            <a:avLst/>
          </a:prstGeom>
          <a:noFill/>
          <a:ln w="28575">
            <a:solidFill>
              <a:srgbClr val="0F6B3C"/>
            </a:solidFill>
            <a:prstDash val="solid"/>
          </a:ln>
        </p:spPr>
      </p:sp>
      <p:sp>
        <p:nvSpPr>
          <p:cNvPr id="6" name="Shape 4"/>
          <p:cNvSpPr/>
          <p:nvPr/>
        </p:nvSpPr>
        <p:spPr>
          <a:xfrm>
            <a:off x="1508760" y="3291739"/>
            <a:ext cx="173736" cy="408299"/>
          </a:xfrm>
          <a:prstGeom prst="line">
            <a:avLst/>
          </a:prstGeom>
          <a:noFill/>
          <a:ln w="28575">
            <a:solidFill>
              <a:srgbClr val="0F6B3C"/>
            </a:solidFill>
            <a:prstDash val="solid"/>
          </a:ln>
        </p:spPr>
      </p:sp>
      <p:sp>
        <p:nvSpPr>
          <p:cNvPr id="7" name="Shape 5"/>
          <p:cNvSpPr/>
          <p:nvPr/>
        </p:nvSpPr>
        <p:spPr>
          <a:xfrm>
            <a:off x="1682496" y="3700038"/>
            <a:ext cx="173736" cy="365320"/>
          </a:xfrm>
          <a:prstGeom prst="line">
            <a:avLst/>
          </a:prstGeom>
          <a:noFill/>
          <a:ln w="28575">
            <a:solidFill>
              <a:srgbClr val="0F6B3C"/>
            </a:solidFill>
            <a:prstDash val="solid"/>
          </a:ln>
        </p:spPr>
      </p:sp>
      <p:sp>
        <p:nvSpPr>
          <p:cNvPr id="8" name="Shape 6"/>
          <p:cNvSpPr/>
          <p:nvPr/>
        </p:nvSpPr>
        <p:spPr>
          <a:xfrm>
            <a:off x="1856232" y="4065358"/>
            <a:ext cx="173736" cy="322341"/>
          </a:xfrm>
          <a:prstGeom prst="line">
            <a:avLst/>
          </a:prstGeom>
          <a:noFill/>
          <a:ln w="28575">
            <a:solidFill>
              <a:srgbClr val="0F6B3C"/>
            </a:solidFill>
            <a:prstDash val="solid"/>
          </a:ln>
        </p:spPr>
      </p:sp>
      <p:sp>
        <p:nvSpPr>
          <p:cNvPr id="9" name="Shape 7"/>
          <p:cNvSpPr/>
          <p:nvPr/>
        </p:nvSpPr>
        <p:spPr>
          <a:xfrm>
            <a:off x="2029968" y="4387699"/>
            <a:ext cx="173736" cy="279362"/>
          </a:xfrm>
          <a:prstGeom prst="line">
            <a:avLst/>
          </a:prstGeom>
          <a:noFill/>
          <a:ln w="28575">
            <a:solidFill>
              <a:srgbClr val="0F6B3C"/>
            </a:solidFill>
            <a:prstDash val="solid"/>
          </a:ln>
        </p:spPr>
      </p:sp>
      <p:sp>
        <p:nvSpPr>
          <p:cNvPr id="10" name="Shape 8"/>
          <p:cNvSpPr/>
          <p:nvPr/>
        </p:nvSpPr>
        <p:spPr>
          <a:xfrm>
            <a:off x="2203704" y="4667061"/>
            <a:ext cx="173736" cy="236383"/>
          </a:xfrm>
          <a:prstGeom prst="line">
            <a:avLst/>
          </a:prstGeom>
          <a:noFill/>
          <a:ln w="28575">
            <a:solidFill>
              <a:srgbClr val="0F6B3C"/>
            </a:solidFill>
            <a:prstDash val="solid"/>
          </a:ln>
        </p:spPr>
      </p:sp>
      <p:sp>
        <p:nvSpPr>
          <p:cNvPr id="11" name="Shape 9"/>
          <p:cNvSpPr/>
          <p:nvPr/>
        </p:nvSpPr>
        <p:spPr>
          <a:xfrm>
            <a:off x="2377440" y="4903445"/>
            <a:ext cx="173736" cy="193405"/>
          </a:xfrm>
          <a:prstGeom prst="line">
            <a:avLst/>
          </a:prstGeom>
          <a:noFill/>
          <a:ln w="28575">
            <a:solidFill>
              <a:srgbClr val="0F6B3C"/>
            </a:solidFill>
            <a:prstDash val="solid"/>
          </a:ln>
        </p:spPr>
      </p:sp>
      <p:sp>
        <p:nvSpPr>
          <p:cNvPr id="12" name="Shape 10"/>
          <p:cNvSpPr/>
          <p:nvPr/>
        </p:nvSpPr>
        <p:spPr>
          <a:xfrm>
            <a:off x="2551176" y="5096850"/>
            <a:ext cx="173736" cy="150426"/>
          </a:xfrm>
          <a:prstGeom prst="line">
            <a:avLst/>
          </a:prstGeom>
          <a:noFill/>
          <a:ln w="28575">
            <a:solidFill>
              <a:srgbClr val="0F6B3C"/>
            </a:solidFill>
            <a:prstDash val="solid"/>
          </a:ln>
        </p:spPr>
      </p:sp>
      <p:sp>
        <p:nvSpPr>
          <p:cNvPr id="13" name="Shape 11"/>
          <p:cNvSpPr/>
          <p:nvPr/>
        </p:nvSpPr>
        <p:spPr>
          <a:xfrm>
            <a:off x="2724912" y="5247275"/>
            <a:ext cx="173736" cy="107447"/>
          </a:xfrm>
          <a:prstGeom prst="line">
            <a:avLst/>
          </a:prstGeom>
          <a:noFill/>
          <a:ln w="28575">
            <a:solidFill>
              <a:srgbClr val="0F6B3C"/>
            </a:solidFill>
            <a:prstDash val="solid"/>
          </a:ln>
        </p:spPr>
      </p:sp>
      <p:sp>
        <p:nvSpPr>
          <p:cNvPr id="14" name="Shape 12"/>
          <p:cNvSpPr/>
          <p:nvPr/>
        </p:nvSpPr>
        <p:spPr>
          <a:xfrm>
            <a:off x="2898648" y="5354722"/>
            <a:ext cx="173736" cy="64468"/>
          </a:xfrm>
          <a:prstGeom prst="line">
            <a:avLst/>
          </a:prstGeom>
          <a:noFill/>
          <a:ln w="28575">
            <a:solidFill>
              <a:srgbClr val="0F6B3C"/>
            </a:solidFill>
            <a:prstDash val="solid"/>
          </a:ln>
        </p:spPr>
      </p:sp>
      <p:sp>
        <p:nvSpPr>
          <p:cNvPr id="15" name="Shape 13"/>
          <p:cNvSpPr/>
          <p:nvPr/>
        </p:nvSpPr>
        <p:spPr>
          <a:xfrm>
            <a:off x="3072384" y="5419191"/>
            <a:ext cx="173736" cy="21489"/>
          </a:xfrm>
          <a:prstGeom prst="line">
            <a:avLst/>
          </a:prstGeom>
          <a:noFill/>
          <a:ln w="28575">
            <a:solidFill>
              <a:srgbClr val="0F6B3C"/>
            </a:solidFill>
            <a:prstDash val="solid"/>
          </a:ln>
        </p:spPr>
      </p:sp>
      <p:sp>
        <p:nvSpPr>
          <p:cNvPr id="16" name="Shape 14"/>
          <p:cNvSpPr/>
          <p:nvPr/>
        </p:nvSpPr>
        <p:spPr>
          <a:xfrm flipV="1">
            <a:off x="3246120" y="5419191"/>
            <a:ext cx="173736" cy="21489"/>
          </a:xfrm>
          <a:prstGeom prst="line">
            <a:avLst/>
          </a:prstGeom>
          <a:noFill/>
          <a:ln w="28575">
            <a:solidFill>
              <a:srgbClr val="0F6B3C"/>
            </a:solidFill>
            <a:prstDash val="solid"/>
          </a:ln>
        </p:spPr>
      </p:sp>
      <p:sp>
        <p:nvSpPr>
          <p:cNvPr id="17" name="Shape 15"/>
          <p:cNvSpPr/>
          <p:nvPr/>
        </p:nvSpPr>
        <p:spPr>
          <a:xfrm flipV="1">
            <a:off x="3419856" y="5354722"/>
            <a:ext cx="173736" cy="64468"/>
          </a:xfrm>
          <a:prstGeom prst="line">
            <a:avLst/>
          </a:prstGeom>
          <a:noFill/>
          <a:ln w="28575">
            <a:solidFill>
              <a:srgbClr val="0F6B3C"/>
            </a:solidFill>
            <a:prstDash val="solid"/>
          </a:ln>
        </p:spPr>
      </p:sp>
      <p:sp>
        <p:nvSpPr>
          <p:cNvPr id="18" name="Shape 16"/>
          <p:cNvSpPr/>
          <p:nvPr/>
        </p:nvSpPr>
        <p:spPr>
          <a:xfrm flipV="1">
            <a:off x="3593592" y="5247275"/>
            <a:ext cx="173736" cy="107447"/>
          </a:xfrm>
          <a:prstGeom prst="line">
            <a:avLst/>
          </a:prstGeom>
          <a:noFill/>
          <a:ln w="28575">
            <a:solidFill>
              <a:srgbClr val="0F6B3C"/>
            </a:solidFill>
            <a:prstDash val="solid"/>
          </a:ln>
        </p:spPr>
      </p:sp>
      <p:sp>
        <p:nvSpPr>
          <p:cNvPr id="19" name="Shape 17"/>
          <p:cNvSpPr/>
          <p:nvPr/>
        </p:nvSpPr>
        <p:spPr>
          <a:xfrm flipV="1">
            <a:off x="3767328" y="5096850"/>
            <a:ext cx="173736" cy="150426"/>
          </a:xfrm>
          <a:prstGeom prst="line">
            <a:avLst/>
          </a:prstGeom>
          <a:noFill/>
          <a:ln w="28575">
            <a:solidFill>
              <a:srgbClr val="0F6B3C"/>
            </a:solidFill>
            <a:prstDash val="solid"/>
          </a:ln>
        </p:spPr>
      </p:sp>
      <p:sp>
        <p:nvSpPr>
          <p:cNvPr id="20" name="Shape 18"/>
          <p:cNvSpPr/>
          <p:nvPr/>
        </p:nvSpPr>
        <p:spPr>
          <a:xfrm flipV="1">
            <a:off x="3941064" y="4903445"/>
            <a:ext cx="173736" cy="193405"/>
          </a:xfrm>
          <a:prstGeom prst="line">
            <a:avLst/>
          </a:prstGeom>
          <a:noFill/>
          <a:ln w="28575">
            <a:solidFill>
              <a:srgbClr val="0F6B3C"/>
            </a:solidFill>
            <a:prstDash val="solid"/>
          </a:ln>
        </p:spPr>
      </p:sp>
      <p:sp>
        <p:nvSpPr>
          <p:cNvPr id="21" name="Shape 19"/>
          <p:cNvSpPr/>
          <p:nvPr/>
        </p:nvSpPr>
        <p:spPr>
          <a:xfrm flipV="1">
            <a:off x="4114800" y="4667061"/>
            <a:ext cx="173736" cy="236383"/>
          </a:xfrm>
          <a:prstGeom prst="line">
            <a:avLst/>
          </a:prstGeom>
          <a:noFill/>
          <a:ln w="28575">
            <a:solidFill>
              <a:srgbClr val="0F6B3C"/>
            </a:solidFill>
            <a:prstDash val="solid"/>
          </a:ln>
        </p:spPr>
      </p:sp>
      <p:sp>
        <p:nvSpPr>
          <p:cNvPr id="22" name="Shape 20"/>
          <p:cNvSpPr/>
          <p:nvPr/>
        </p:nvSpPr>
        <p:spPr>
          <a:xfrm flipV="1">
            <a:off x="4288536" y="4387699"/>
            <a:ext cx="173736" cy="279362"/>
          </a:xfrm>
          <a:prstGeom prst="line">
            <a:avLst/>
          </a:prstGeom>
          <a:noFill/>
          <a:ln w="28575">
            <a:solidFill>
              <a:srgbClr val="0F6B3C"/>
            </a:solidFill>
            <a:prstDash val="solid"/>
          </a:ln>
        </p:spPr>
      </p:sp>
      <p:sp>
        <p:nvSpPr>
          <p:cNvPr id="23" name="Shape 21"/>
          <p:cNvSpPr/>
          <p:nvPr/>
        </p:nvSpPr>
        <p:spPr>
          <a:xfrm flipV="1">
            <a:off x="4462272" y="4065358"/>
            <a:ext cx="173736" cy="322341"/>
          </a:xfrm>
          <a:prstGeom prst="line">
            <a:avLst/>
          </a:prstGeom>
          <a:noFill/>
          <a:ln w="28575">
            <a:solidFill>
              <a:srgbClr val="0F6B3C"/>
            </a:solidFill>
            <a:prstDash val="solid"/>
          </a:ln>
        </p:spPr>
      </p:sp>
      <p:sp>
        <p:nvSpPr>
          <p:cNvPr id="24" name="Shape 22"/>
          <p:cNvSpPr/>
          <p:nvPr/>
        </p:nvSpPr>
        <p:spPr>
          <a:xfrm flipV="1">
            <a:off x="4636008" y="3700038"/>
            <a:ext cx="173736" cy="365320"/>
          </a:xfrm>
          <a:prstGeom prst="line">
            <a:avLst/>
          </a:prstGeom>
          <a:noFill/>
          <a:ln w="28575">
            <a:solidFill>
              <a:srgbClr val="0F6B3C"/>
            </a:solidFill>
            <a:prstDash val="solid"/>
          </a:ln>
        </p:spPr>
      </p:sp>
      <p:sp>
        <p:nvSpPr>
          <p:cNvPr id="25" name="Shape 23"/>
          <p:cNvSpPr/>
          <p:nvPr/>
        </p:nvSpPr>
        <p:spPr>
          <a:xfrm flipV="1">
            <a:off x="4809744" y="3291739"/>
            <a:ext cx="173736" cy="408299"/>
          </a:xfrm>
          <a:prstGeom prst="line">
            <a:avLst/>
          </a:prstGeom>
          <a:noFill/>
          <a:ln w="28575">
            <a:solidFill>
              <a:srgbClr val="0F6B3C"/>
            </a:solidFill>
            <a:prstDash val="solid"/>
          </a:ln>
        </p:spPr>
      </p:sp>
      <p:sp>
        <p:nvSpPr>
          <p:cNvPr id="26" name="Shape 24"/>
          <p:cNvSpPr/>
          <p:nvPr/>
        </p:nvSpPr>
        <p:spPr>
          <a:xfrm flipV="1">
            <a:off x="4983480" y="2840462"/>
            <a:ext cx="173736" cy="451278"/>
          </a:xfrm>
          <a:prstGeom prst="line">
            <a:avLst/>
          </a:prstGeom>
          <a:noFill/>
          <a:ln w="28575">
            <a:solidFill>
              <a:srgbClr val="0F6B3C"/>
            </a:solidFill>
            <a:prstDash val="solid"/>
          </a:ln>
        </p:spPr>
      </p:sp>
      <p:sp>
        <p:nvSpPr>
          <p:cNvPr id="27" name="Shape 25"/>
          <p:cNvSpPr/>
          <p:nvPr/>
        </p:nvSpPr>
        <p:spPr>
          <a:xfrm flipV="1">
            <a:off x="5157216" y="2346206"/>
            <a:ext cx="173736" cy="494256"/>
          </a:xfrm>
          <a:prstGeom prst="line">
            <a:avLst/>
          </a:prstGeom>
          <a:noFill/>
          <a:ln w="28575">
            <a:solidFill>
              <a:srgbClr val="0F6B3C"/>
            </a:solidFill>
            <a:prstDash val="solid"/>
          </a:ln>
        </p:spPr>
      </p:sp>
      <p:sp>
        <p:nvSpPr>
          <p:cNvPr id="28" name="Shape 26"/>
          <p:cNvSpPr/>
          <p:nvPr/>
        </p:nvSpPr>
        <p:spPr>
          <a:xfrm>
            <a:off x="1261872" y="2767310"/>
            <a:ext cx="146304" cy="146304"/>
          </a:xfrm>
          <a:prstGeom prst="ellipse">
            <a:avLst/>
          </a:prstGeom>
          <a:solidFill>
            <a:srgbClr val="C9A227"/>
          </a:solidFill>
          <a:ln w="12700">
            <a:solidFill>
              <a:srgbClr val="333333"/>
            </a:solidFill>
            <a:prstDash val="solid"/>
          </a:ln>
        </p:spPr>
      </p:sp>
      <p:sp>
        <p:nvSpPr>
          <p:cNvPr id="29" name="Shape 27"/>
          <p:cNvSpPr/>
          <p:nvPr/>
        </p:nvSpPr>
        <p:spPr>
          <a:xfrm>
            <a:off x="1783080" y="3992206"/>
            <a:ext cx="146304" cy="146304"/>
          </a:xfrm>
          <a:prstGeom prst="ellipse">
            <a:avLst/>
          </a:prstGeom>
          <a:solidFill>
            <a:srgbClr val="C9A227"/>
          </a:solidFill>
          <a:ln w="12700">
            <a:solidFill>
              <a:srgbClr val="333333"/>
            </a:solidFill>
            <a:prstDash val="solid"/>
          </a:ln>
        </p:spPr>
      </p:sp>
      <p:sp>
        <p:nvSpPr>
          <p:cNvPr id="30" name="Shape 28"/>
          <p:cNvSpPr/>
          <p:nvPr/>
        </p:nvSpPr>
        <p:spPr>
          <a:xfrm>
            <a:off x="2269541" y="4786454"/>
            <a:ext cx="146304" cy="146304"/>
          </a:xfrm>
          <a:prstGeom prst="ellipse">
            <a:avLst/>
          </a:prstGeom>
          <a:solidFill>
            <a:srgbClr val="C9A227"/>
          </a:solidFill>
          <a:ln w="12700">
            <a:solidFill>
              <a:srgbClr val="333333"/>
            </a:solidFill>
            <a:prstDash val="solid"/>
          </a:ln>
        </p:spPr>
      </p:sp>
      <p:sp>
        <p:nvSpPr>
          <p:cNvPr id="31" name="Shape 29"/>
          <p:cNvSpPr/>
          <p:nvPr/>
        </p:nvSpPr>
        <p:spPr>
          <a:xfrm>
            <a:off x="2651760" y="5174123"/>
            <a:ext cx="146304" cy="146304"/>
          </a:xfrm>
          <a:prstGeom prst="ellipse">
            <a:avLst/>
          </a:prstGeom>
          <a:solidFill>
            <a:srgbClr val="C9A227"/>
          </a:solidFill>
          <a:ln w="12700">
            <a:solidFill>
              <a:srgbClr val="333333"/>
            </a:solidFill>
            <a:prstDash val="solid"/>
          </a:ln>
        </p:spPr>
      </p:sp>
      <p:sp>
        <p:nvSpPr>
          <p:cNvPr id="32" name="Shape 30"/>
          <p:cNvSpPr/>
          <p:nvPr/>
        </p:nvSpPr>
        <p:spPr>
          <a:xfrm>
            <a:off x="2912364" y="5319177"/>
            <a:ext cx="146304" cy="146304"/>
          </a:xfrm>
          <a:prstGeom prst="ellipse">
            <a:avLst/>
          </a:prstGeom>
          <a:solidFill>
            <a:srgbClr val="C9A227"/>
          </a:solidFill>
          <a:ln w="12700">
            <a:solidFill>
              <a:srgbClr val="333333"/>
            </a:solidFill>
            <a:prstDash val="solid"/>
          </a:ln>
        </p:spPr>
      </p:sp>
      <p:sp>
        <p:nvSpPr>
          <p:cNvPr id="33" name="Shape 31"/>
          <p:cNvSpPr/>
          <p:nvPr/>
        </p:nvSpPr>
        <p:spPr>
          <a:xfrm>
            <a:off x="3068726" y="5359792"/>
            <a:ext cx="146304" cy="146304"/>
          </a:xfrm>
          <a:prstGeom prst="ellipse">
            <a:avLst/>
          </a:prstGeom>
          <a:solidFill>
            <a:srgbClr val="C9A227"/>
          </a:solidFill>
          <a:ln w="12700">
            <a:solidFill>
              <a:srgbClr val="333333"/>
            </a:solidFill>
            <a:prstDash val="solid"/>
          </a:ln>
        </p:spPr>
      </p:sp>
      <p:sp>
        <p:nvSpPr>
          <p:cNvPr id="34" name="Shape 32"/>
          <p:cNvSpPr/>
          <p:nvPr/>
        </p:nvSpPr>
        <p:spPr>
          <a:xfrm>
            <a:off x="3145536" y="5340096"/>
            <a:ext cx="201168" cy="201168"/>
          </a:xfrm>
          <a:prstGeom prst="ellipse">
            <a:avLst/>
          </a:prstGeom>
          <a:solidFill>
            <a:srgbClr val="0E7C61"/>
          </a:solidFill>
          <a:ln w="12700">
            <a:solidFill>
              <a:srgbClr val="333333"/>
            </a:solidFill>
            <a:prstDash val="solid"/>
          </a:ln>
        </p:spPr>
      </p:sp>
      <p:sp>
        <p:nvSpPr>
          <p:cNvPr id="35" name="Text 33"/>
          <p:cNvSpPr txBox="1"/>
          <p:nvPr/>
        </p:nvSpPr>
        <p:spPr>
          <a:xfrm>
            <a:off x="566928" y="1783080"/>
            <a:ext cx="1737360" cy="274320"/>
          </a:xfrm>
          <a:prstGeom prst="rect">
            <a:avLst/>
          </a:prstGeom>
          <a:noFill/>
          <a:ln/>
        </p:spPr>
        <p:txBody>
          <a:bodyPr wrap="square" lIns="0" tIns="0" rIns="0" bIns="0" rtlCol="0" anchor="ctr"/>
          <a:lstStyle/>
          <a:p>
            <a:pPr indent="0" marL="0">
              <a:buNone/>
            </a:pPr>
            <a:r>
              <a:rPr lang="en-US" sz="1100" b="1" dirty="0">
                <a:solidFill>
                  <a:srgbClr val="C9A227"/>
                </a:solidFill>
                <a:latin typeface="Calibri" pitchFamily="34" charset="0"/>
                <a:ea typeface="Calibri" pitchFamily="34" charset="-122"/>
                <a:cs typeface="Calibri" pitchFamily="34" charset="-120"/>
              </a:rPr>
              <a:t>start (bad w, b)</a:t>
            </a:r>
            <a:endParaRPr lang="en-US" sz="1100" dirty="0"/>
          </a:p>
        </p:txBody>
      </p:sp>
      <p:sp>
        <p:nvSpPr>
          <p:cNvPr id="36" name="Text 34"/>
          <p:cNvSpPr txBox="1"/>
          <p:nvPr/>
        </p:nvSpPr>
        <p:spPr>
          <a:xfrm>
            <a:off x="2743200" y="5577840"/>
            <a:ext cx="2377440" cy="274320"/>
          </a:xfrm>
          <a:prstGeom prst="rect">
            <a:avLst/>
          </a:prstGeom>
          <a:noFill/>
          <a:ln/>
        </p:spPr>
        <p:txBody>
          <a:bodyPr wrap="square" lIns="0" tIns="0" rIns="0" bIns="0" rtlCol="0" anchor="ctr"/>
          <a:lstStyle/>
          <a:p>
            <a:pPr algn="ctr" indent="0" marL="0">
              <a:buNone/>
            </a:pPr>
            <a:r>
              <a:rPr lang="en-US" sz="1100" b="1" dirty="0">
                <a:solidFill>
                  <a:srgbClr val="0E7C61"/>
                </a:solidFill>
                <a:latin typeface="Calibri" pitchFamily="34" charset="0"/>
                <a:ea typeface="Calibri" pitchFamily="34" charset="-122"/>
                <a:cs typeface="Calibri" pitchFamily="34" charset="-120"/>
              </a:rPr>
              <a:t>minimum — the best w, b</a:t>
            </a:r>
            <a:endParaRPr lang="en-US" sz="1100" dirty="0"/>
          </a:p>
        </p:txBody>
      </p:sp>
      <p:sp>
        <p:nvSpPr>
          <p:cNvPr id="37" name="Text 35"/>
          <p:cNvSpPr txBox="1"/>
          <p:nvPr/>
        </p:nvSpPr>
        <p:spPr>
          <a:xfrm>
            <a:off x="566928" y="3291840"/>
            <a:ext cx="731520" cy="274320"/>
          </a:xfrm>
          <a:prstGeom prst="rect">
            <a:avLst/>
          </a:prstGeom>
          <a:noFill/>
          <a:ln/>
        </p:spPr>
        <p:txBody>
          <a:bodyPr wrap="square" lIns="0" tIns="0" rIns="0" bIns="0" rtlCol="0" anchor="ctr"/>
          <a:lstStyle/>
          <a:p>
            <a:pPr indent="0" marL="0">
              <a:buNone/>
            </a:pPr>
            <a:r>
              <a:rPr lang="en-US" sz="1150" b="1" dirty="0">
                <a:solidFill>
                  <a:srgbClr val="5C6B60"/>
                </a:solidFill>
                <a:latin typeface="Calibri" pitchFamily="34" charset="0"/>
                <a:ea typeface="Calibri" pitchFamily="34" charset="-122"/>
                <a:cs typeface="Calibri" pitchFamily="34" charset="-120"/>
              </a:rPr>
              <a:t>Loss</a:t>
            </a:r>
            <a:endParaRPr lang="en-US" sz="1150" dirty="0"/>
          </a:p>
        </p:txBody>
      </p:sp>
      <p:sp>
        <p:nvSpPr>
          <p:cNvPr id="38" name="Text 36"/>
          <p:cNvSpPr txBox="1"/>
          <p:nvPr/>
        </p:nvSpPr>
        <p:spPr>
          <a:xfrm>
            <a:off x="2194560" y="5897880"/>
            <a:ext cx="2194560" cy="274320"/>
          </a:xfrm>
          <a:prstGeom prst="rect">
            <a:avLst/>
          </a:prstGeom>
          <a:noFill/>
          <a:ln/>
        </p:spPr>
        <p:txBody>
          <a:bodyPr wrap="square" lIns="0" tIns="0" rIns="0" bIns="0" rtlCol="0" anchor="ctr"/>
          <a:lstStyle/>
          <a:p>
            <a:pPr algn="ctr" indent="0" marL="0">
              <a:buNone/>
            </a:pPr>
            <a:r>
              <a:rPr lang="en-US" sz="1150" b="1" dirty="0">
                <a:solidFill>
                  <a:srgbClr val="5C6B60"/>
                </a:solidFill>
                <a:latin typeface="Calibri" pitchFamily="34" charset="0"/>
                <a:ea typeface="Calibri" pitchFamily="34" charset="-122"/>
                <a:cs typeface="Calibri" pitchFamily="34" charset="-120"/>
              </a:rPr>
              <a:t>Parameter value</a:t>
            </a:r>
            <a:endParaRPr lang="en-US" sz="1150" dirty="0"/>
          </a:p>
        </p:txBody>
      </p:sp>
      <p:sp>
        <p:nvSpPr>
          <p:cNvPr id="39" name="Shape 37"/>
          <p:cNvSpPr/>
          <p:nvPr/>
        </p:nvSpPr>
        <p:spPr>
          <a:xfrm>
            <a:off x="6309360" y="1600200"/>
            <a:ext cx="5303520" cy="2331720"/>
          </a:xfrm>
          <a:prstGeom prst="roundRect">
            <a:avLst>
              <a:gd name="adj" fmla="val 470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40" name="Text 38"/>
          <p:cNvSpPr txBox="1"/>
          <p:nvPr/>
        </p:nvSpPr>
        <p:spPr>
          <a:xfrm>
            <a:off x="6629400" y="1810512"/>
            <a:ext cx="4663440" cy="365760"/>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Gradient descent</a:t>
            </a:r>
            <a:endParaRPr lang="en-US" sz="1900" dirty="0"/>
          </a:p>
        </p:txBody>
      </p:sp>
      <p:sp>
        <p:nvSpPr>
          <p:cNvPr id="41" name="Text 39"/>
          <p:cNvSpPr txBox="1"/>
          <p:nvPr/>
        </p:nvSpPr>
        <p:spPr>
          <a:xfrm>
            <a:off x="6629400" y="2212848"/>
            <a:ext cx="4709160" cy="1600200"/>
          </a:xfrm>
          <a:prstGeom prst="rect">
            <a:avLst/>
          </a:prstGeom>
          <a:noFill/>
          <a:ln/>
        </p:spPr>
        <p:txBody>
          <a:bodyPr wrap="square" lIns="0" tIns="0" rIns="0" bIns="0" rtlCol="0" anchor="t"/>
          <a:lstStyle/>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You are on a hillside in thick fog and want the valley floor. You cannot see it — but you can feel which way the ground slopes under your feet. So take a step downhill. Feel again. Step again.</a:t>
            </a:r>
            <a:endParaRPr lang="en-US" sz="1300" dirty="0"/>
          </a:p>
          <a:p>
            <a:pPr indent="0" marL="0">
              <a:lnSpc>
                <a:spcPts val="1800"/>
              </a:lnSpc>
              <a:buNone/>
            </a:pPr>
            <a:endParaRPr lang="en-US" sz="1300" dirty="0"/>
          </a:p>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The slope is the gradient (the derivative of the loss). The step size is the learning rate.</a:t>
            </a:r>
            <a:endParaRPr lang="en-US" sz="1300" dirty="0"/>
          </a:p>
        </p:txBody>
      </p:sp>
      <p:sp>
        <p:nvSpPr>
          <p:cNvPr id="42" name="Shape 40"/>
          <p:cNvSpPr/>
          <p:nvPr/>
        </p:nvSpPr>
        <p:spPr>
          <a:xfrm>
            <a:off x="6309360" y="4114800"/>
            <a:ext cx="5303520" cy="1965960"/>
          </a:xfrm>
          <a:prstGeom prst="roundRect">
            <a:avLst>
              <a:gd name="adj" fmla="val 5581"/>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43" name="Text 41"/>
          <p:cNvSpPr txBox="1"/>
          <p:nvPr/>
        </p:nvSpPr>
        <p:spPr>
          <a:xfrm>
            <a:off x="6629400" y="4297680"/>
            <a:ext cx="466344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The update rule</a:t>
            </a:r>
            <a:endParaRPr lang="en-US" sz="1600" dirty="0"/>
          </a:p>
        </p:txBody>
      </p:sp>
      <p:sp>
        <p:nvSpPr>
          <p:cNvPr id="44" name="Text 42"/>
          <p:cNvSpPr txBox="1"/>
          <p:nvPr/>
        </p:nvSpPr>
        <p:spPr>
          <a:xfrm>
            <a:off x="6629400" y="4645152"/>
            <a:ext cx="4663440" cy="411480"/>
          </a:xfrm>
          <a:prstGeom prst="rect">
            <a:avLst/>
          </a:prstGeom>
          <a:noFill/>
          <a:ln/>
        </p:spPr>
        <p:txBody>
          <a:bodyPr wrap="square" lIns="0" tIns="0" rIns="0" bIns="0" rtlCol="0" anchor="ctr"/>
          <a:lstStyle/>
          <a:p>
            <a:pPr indent="0" marL="0">
              <a:buNone/>
            </a:pPr>
            <a:r>
              <a:rPr lang="en-US" sz="1800" b="1" dirty="0">
                <a:solidFill>
                  <a:srgbClr val="0F6B3C"/>
                </a:solidFill>
                <a:latin typeface="Courier New" pitchFamily="34" charset="0"/>
                <a:ea typeface="Courier New" pitchFamily="34" charset="-122"/>
                <a:cs typeface="Courier New" pitchFamily="34" charset="-120"/>
              </a:rPr>
              <a:t>w  ←  w  −  α · ∂L/∂w</a:t>
            </a:r>
            <a:endParaRPr lang="en-US" sz="1800" dirty="0"/>
          </a:p>
        </p:txBody>
      </p:sp>
      <p:sp>
        <p:nvSpPr>
          <p:cNvPr id="45" name="Text 43"/>
          <p:cNvSpPr txBox="1"/>
          <p:nvPr/>
        </p:nvSpPr>
        <p:spPr>
          <a:xfrm>
            <a:off x="6629400" y="5120640"/>
            <a:ext cx="4709160" cy="7772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Repeat for every parameter, thousands of times. This one line, scaled up, is how a 500-billion-parameter language model is trained.</a:t>
            </a:r>
            <a:endParaRPr lang="en-US" sz="1200" dirty="0"/>
          </a:p>
        </p:txBody>
      </p:sp>
      <p:sp>
        <p:nvSpPr>
          <p:cNvPr id="47" name="Text 4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48" name="Text 4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30</a:t>
            </a:r>
            <a:endParaRPr lang="en-US" sz="900" dirty="0"/>
          </a:p>
        </p:txBody>
      </p:sp>
      <p:pic>
        <p:nvPicPr>
          <p:cNvPr id="49" name="Picture 4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YOUR FIRST HYPERPARAMETER</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Step Size Matters: The Learning Rate</a:t>
            </a:r>
            <a:endParaRPr lang="en-US" sz="3000" dirty="0"/>
          </a:p>
        </p:txBody>
      </p:sp>
      <p:sp>
        <p:nvSpPr>
          <p:cNvPr id="4" name="Shape 2"/>
          <p:cNvSpPr/>
          <p:nvPr/>
        </p:nvSpPr>
        <p:spPr>
          <a:xfrm>
            <a:off x="548640" y="1600200"/>
            <a:ext cx="3566160" cy="420624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22960" y="1828800"/>
            <a:ext cx="3017520" cy="320040"/>
          </a:xfrm>
          <a:prstGeom prst="rect">
            <a:avLst/>
          </a:prstGeom>
          <a:noFill/>
          <a:ln/>
        </p:spPr>
        <p:txBody>
          <a:bodyPr wrap="square" lIns="0" tIns="0" rIns="0" bIns="0" rtlCol="0" anchor="ctr"/>
          <a:lstStyle/>
          <a:p>
            <a:pPr indent="0" marL="0">
              <a:buNone/>
            </a:pPr>
            <a:r>
              <a:rPr lang="en-US" sz="1250" b="1" spc="150" kern="0" dirty="0">
                <a:solidFill>
                  <a:srgbClr val="1E8449"/>
                </a:solidFill>
                <a:latin typeface="Calibri" pitchFamily="34" charset="0"/>
                <a:ea typeface="Calibri" pitchFamily="34" charset="-122"/>
                <a:cs typeface="Calibri" pitchFamily="34" charset="-120"/>
              </a:rPr>
              <a:t>TOO SMALL</a:t>
            </a:r>
            <a:endParaRPr lang="en-US" sz="1250" dirty="0"/>
          </a:p>
        </p:txBody>
      </p:sp>
      <p:sp>
        <p:nvSpPr>
          <p:cNvPr id="6" name="Text 4"/>
          <p:cNvSpPr txBox="1"/>
          <p:nvPr/>
        </p:nvSpPr>
        <p:spPr>
          <a:xfrm>
            <a:off x="822960" y="2148840"/>
            <a:ext cx="3017520" cy="320040"/>
          </a:xfrm>
          <a:prstGeom prst="rect">
            <a:avLst/>
          </a:prstGeom>
          <a:noFill/>
          <a:ln/>
        </p:spPr>
        <p:txBody>
          <a:bodyPr wrap="square" lIns="0" tIns="0" rIns="0" bIns="0" rtlCol="0" anchor="ctr"/>
          <a:lstStyle/>
          <a:p>
            <a:pPr indent="0" marL="0">
              <a:buNone/>
            </a:pPr>
            <a:r>
              <a:rPr lang="en-US" sz="1400" b="1" dirty="0">
                <a:solidFill>
                  <a:srgbClr val="0F6B3C"/>
                </a:solidFill>
                <a:latin typeface="Courier New" pitchFamily="34" charset="0"/>
                <a:ea typeface="Courier New" pitchFamily="34" charset="-122"/>
                <a:cs typeface="Courier New" pitchFamily="34" charset="-120"/>
              </a:rPr>
              <a:t>α = 0.000001</a:t>
            </a:r>
            <a:endParaRPr lang="en-US" sz="1400" dirty="0"/>
          </a:p>
        </p:txBody>
      </p:sp>
      <p:sp>
        <p:nvSpPr>
          <p:cNvPr id="7" name="Shape 5"/>
          <p:cNvSpPr/>
          <p:nvPr/>
        </p:nvSpPr>
        <p:spPr>
          <a:xfrm>
            <a:off x="1014984" y="2872240"/>
            <a:ext cx="146304" cy="318358"/>
          </a:xfrm>
          <a:prstGeom prst="line">
            <a:avLst/>
          </a:prstGeom>
          <a:noFill/>
          <a:ln w="20320">
            <a:solidFill>
              <a:srgbClr val="B6C4BA"/>
            </a:solidFill>
            <a:prstDash val="solid"/>
          </a:ln>
        </p:spPr>
      </p:sp>
      <p:sp>
        <p:nvSpPr>
          <p:cNvPr id="8" name="Shape 6"/>
          <p:cNvSpPr/>
          <p:nvPr/>
        </p:nvSpPr>
        <p:spPr>
          <a:xfrm>
            <a:off x="1161288" y="3190598"/>
            <a:ext cx="146304" cy="280904"/>
          </a:xfrm>
          <a:prstGeom prst="line">
            <a:avLst/>
          </a:prstGeom>
          <a:noFill/>
          <a:ln w="20320">
            <a:solidFill>
              <a:srgbClr val="B6C4BA"/>
            </a:solidFill>
            <a:prstDash val="solid"/>
          </a:ln>
        </p:spPr>
      </p:sp>
      <p:sp>
        <p:nvSpPr>
          <p:cNvPr id="9" name="Shape 7"/>
          <p:cNvSpPr/>
          <p:nvPr/>
        </p:nvSpPr>
        <p:spPr>
          <a:xfrm>
            <a:off x="1307592" y="3471501"/>
            <a:ext cx="146304" cy="243450"/>
          </a:xfrm>
          <a:prstGeom prst="line">
            <a:avLst/>
          </a:prstGeom>
          <a:noFill/>
          <a:ln w="20320">
            <a:solidFill>
              <a:srgbClr val="B6C4BA"/>
            </a:solidFill>
            <a:prstDash val="solid"/>
          </a:ln>
        </p:spPr>
      </p:sp>
      <p:sp>
        <p:nvSpPr>
          <p:cNvPr id="10" name="Shape 8"/>
          <p:cNvSpPr/>
          <p:nvPr/>
        </p:nvSpPr>
        <p:spPr>
          <a:xfrm>
            <a:off x="1453896" y="3714951"/>
            <a:ext cx="146304" cy="205996"/>
          </a:xfrm>
          <a:prstGeom prst="line">
            <a:avLst/>
          </a:prstGeom>
          <a:noFill/>
          <a:ln w="20320">
            <a:solidFill>
              <a:srgbClr val="B6C4BA"/>
            </a:solidFill>
            <a:prstDash val="solid"/>
          </a:ln>
        </p:spPr>
      </p:sp>
      <p:sp>
        <p:nvSpPr>
          <p:cNvPr id="11" name="Shape 9"/>
          <p:cNvSpPr/>
          <p:nvPr/>
        </p:nvSpPr>
        <p:spPr>
          <a:xfrm>
            <a:off x="1600200" y="3920947"/>
            <a:ext cx="146304" cy="168542"/>
          </a:xfrm>
          <a:prstGeom prst="line">
            <a:avLst/>
          </a:prstGeom>
          <a:noFill/>
          <a:ln w="20320">
            <a:solidFill>
              <a:srgbClr val="B6C4BA"/>
            </a:solidFill>
            <a:prstDash val="solid"/>
          </a:ln>
        </p:spPr>
      </p:sp>
      <p:sp>
        <p:nvSpPr>
          <p:cNvPr id="12" name="Shape 10"/>
          <p:cNvSpPr/>
          <p:nvPr/>
        </p:nvSpPr>
        <p:spPr>
          <a:xfrm>
            <a:off x="1746504" y="4089489"/>
            <a:ext cx="146304" cy="131088"/>
          </a:xfrm>
          <a:prstGeom prst="line">
            <a:avLst/>
          </a:prstGeom>
          <a:noFill/>
          <a:ln w="20320">
            <a:solidFill>
              <a:srgbClr val="B6C4BA"/>
            </a:solidFill>
            <a:prstDash val="solid"/>
          </a:ln>
        </p:spPr>
      </p:sp>
      <p:sp>
        <p:nvSpPr>
          <p:cNvPr id="13" name="Shape 11"/>
          <p:cNvSpPr/>
          <p:nvPr/>
        </p:nvSpPr>
        <p:spPr>
          <a:xfrm>
            <a:off x="1892808" y="4220578"/>
            <a:ext cx="146304" cy="93635"/>
          </a:xfrm>
          <a:prstGeom prst="line">
            <a:avLst/>
          </a:prstGeom>
          <a:noFill/>
          <a:ln w="20320">
            <a:solidFill>
              <a:srgbClr val="B6C4BA"/>
            </a:solidFill>
            <a:prstDash val="solid"/>
          </a:ln>
        </p:spPr>
      </p:sp>
      <p:sp>
        <p:nvSpPr>
          <p:cNvPr id="14" name="Shape 12"/>
          <p:cNvSpPr/>
          <p:nvPr/>
        </p:nvSpPr>
        <p:spPr>
          <a:xfrm>
            <a:off x="2039112" y="4314212"/>
            <a:ext cx="146304" cy="56181"/>
          </a:xfrm>
          <a:prstGeom prst="line">
            <a:avLst/>
          </a:prstGeom>
          <a:noFill/>
          <a:ln w="20320">
            <a:solidFill>
              <a:srgbClr val="B6C4BA"/>
            </a:solidFill>
            <a:prstDash val="solid"/>
          </a:ln>
        </p:spPr>
      </p:sp>
      <p:sp>
        <p:nvSpPr>
          <p:cNvPr id="15" name="Shape 13"/>
          <p:cNvSpPr/>
          <p:nvPr/>
        </p:nvSpPr>
        <p:spPr>
          <a:xfrm>
            <a:off x="2185416" y="4370393"/>
            <a:ext cx="146304" cy="18727"/>
          </a:xfrm>
          <a:prstGeom prst="line">
            <a:avLst/>
          </a:prstGeom>
          <a:noFill/>
          <a:ln w="20320">
            <a:solidFill>
              <a:srgbClr val="B6C4BA"/>
            </a:solidFill>
            <a:prstDash val="solid"/>
          </a:ln>
        </p:spPr>
      </p:sp>
      <p:sp>
        <p:nvSpPr>
          <p:cNvPr id="16" name="Shape 14"/>
          <p:cNvSpPr/>
          <p:nvPr/>
        </p:nvSpPr>
        <p:spPr>
          <a:xfrm flipV="1">
            <a:off x="2331720" y="4370393"/>
            <a:ext cx="146304" cy="18727"/>
          </a:xfrm>
          <a:prstGeom prst="line">
            <a:avLst/>
          </a:prstGeom>
          <a:noFill/>
          <a:ln w="20320">
            <a:solidFill>
              <a:srgbClr val="B6C4BA"/>
            </a:solidFill>
            <a:prstDash val="solid"/>
          </a:ln>
        </p:spPr>
      </p:sp>
      <p:sp>
        <p:nvSpPr>
          <p:cNvPr id="17" name="Shape 15"/>
          <p:cNvSpPr/>
          <p:nvPr/>
        </p:nvSpPr>
        <p:spPr>
          <a:xfrm flipV="1">
            <a:off x="2478024" y="4314212"/>
            <a:ext cx="146304" cy="56181"/>
          </a:xfrm>
          <a:prstGeom prst="line">
            <a:avLst/>
          </a:prstGeom>
          <a:noFill/>
          <a:ln w="20320">
            <a:solidFill>
              <a:srgbClr val="B6C4BA"/>
            </a:solidFill>
            <a:prstDash val="solid"/>
          </a:ln>
        </p:spPr>
      </p:sp>
      <p:sp>
        <p:nvSpPr>
          <p:cNvPr id="18" name="Shape 16"/>
          <p:cNvSpPr/>
          <p:nvPr/>
        </p:nvSpPr>
        <p:spPr>
          <a:xfrm flipV="1">
            <a:off x="2624328" y="4220578"/>
            <a:ext cx="146304" cy="93635"/>
          </a:xfrm>
          <a:prstGeom prst="line">
            <a:avLst/>
          </a:prstGeom>
          <a:noFill/>
          <a:ln w="20320">
            <a:solidFill>
              <a:srgbClr val="B6C4BA"/>
            </a:solidFill>
            <a:prstDash val="solid"/>
          </a:ln>
        </p:spPr>
      </p:sp>
      <p:sp>
        <p:nvSpPr>
          <p:cNvPr id="19" name="Shape 17"/>
          <p:cNvSpPr/>
          <p:nvPr/>
        </p:nvSpPr>
        <p:spPr>
          <a:xfrm flipV="1">
            <a:off x="2770632" y="4089489"/>
            <a:ext cx="146304" cy="131088"/>
          </a:xfrm>
          <a:prstGeom prst="line">
            <a:avLst/>
          </a:prstGeom>
          <a:noFill/>
          <a:ln w="20320">
            <a:solidFill>
              <a:srgbClr val="B6C4BA"/>
            </a:solidFill>
            <a:prstDash val="solid"/>
          </a:ln>
        </p:spPr>
      </p:sp>
      <p:sp>
        <p:nvSpPr>
          <p:cNvPr id="20" name="Shape 18"/>
          <p:cNvSpPr/>
          <p:nvPr/>
        </p:nvSpPr>
        <p:spPr>
          <a:xfrm flipV="1">
            <a:off x="2916936" y="3920947"/>
            <a:ext cx="146304" cy="168542"/>
          </a:xfrm>
          <a:prstGeom prst="line">
            <a:avLst/>
          </a:prstGeom>
          <a:noFill/>
          <a:ln w="20320">
            <a:solidFill>
              <a:srgbClr val="B6C4BA"/>
            </a:solidFill>
            <a:prstDash val="solid"/>
          </a:ln>
        </p:spPr>
      </p:sp>
      <p:sp>
        <p:nvSpPr>
          <p:cNvPr id="21" name="Shape 19"/>
          <p:cNvSpPr/>
          <p:nvPr/>
        </p:nvSpPr>
        <p:spPr>
          <a:xfrm flipV="1">
            <a:off x="3063240" y="3714951"/>
            <a:ext cx="146304" cy="205996"/>
          </a:xfrm>
          <a:prstGeom prst="line">
            <a:avLst/>
          </a:prstGeom>
          <a:noFill/>
          <a:ln w="20320">
            <a:solidFill>
              <a:srgbClr val="B6C4BA"/>
            </a:solidFill>
            <a:prstDash val="solid"/>
          </a:ln>
        </p:spPr>
      </p:sp>
      <p:sp>
        <p:nvSpPr>
          <p:cNvPr id="22" name="Shape 20"/>
          <p:cNvSpPr/>
          <p:nvPr/>
        </p:nvSpPr>
        <p:spPr>
          <a:xfrm flipV="1">
            <a:off x="3209544" y="3471501"/>
            <a:ext cx="146304" cy="243450"/>
          </a:xfrm>
          <a:prstGeom prst="line">
            <a:avLst/>
          </a:prstGeom>
          <a:noFill/>
          <a:ln w="20320">
            <a:solidFill>
              <a:srgbClr val="B6C4BA"/>
            </a:solidFill>
            <a:prstDash val="solid"/>
          </a:ln>
        </p:spPr>
      </p:sp>
      <p:sp>
        <p:nvSpPr>
          <p:cNvPr id="23" name="Shape 21"/>
          <p:cNvSpPr/>
          <p:nvPr/>
        </p:nvSpPr>
        <p:spPr>
          <a:xfrm flipV="1">
            <a:off x="3355848" y="3190598"/>
            <a:ext cx="146304" cy="280904"/>
          </a:xfrm>
          <a:prstGeom prst="line">
            <a:avLst/>
          </a:prstGeom>
          <a:noFill/>
          <a:ln w="20320">
            <a:solidFill>
              <a:srgbClr val="B6C4BA"/>
            </a:solidFill>
            <a:prstDash val="solid"/>
          </a:ln>
        </p:spPr>
      </p:sp>
      <p:sp>
        <p:nvSpPr>
          <p:cNvPr id="24" name="Shape 22"/>
          <p:cNvSpPr/>
          <p:nvPr/>
        </p:nvSpPr>
        <p:spPr>
          <a:xfrm flipV="1">
            <a:off x="3502152" y="2872240"/>
            <a:ext cx="146304" cy="318358"/>
          </a:xfrm>
          <a:prstGeom prst="line">
            <a:avLst/>
          </a:prstGeom>
          <a:noFill/>
          <a:ln w="20320">
            <a:solidFill>
              <a:srgbClr val="B6C4BA"/>
            </a:solidFill>
            <a:prstDash val="solid"/>
          </a:ln>
        </p:spPr>
      </p:sp>
      <p:sp>
        <p:nvSpPr>
          <p:cNvPr id="25" name="Shape 23"/>
          <p:cNvSpPr/>
          <p:nvPr/>
        </p:nvSpPr>
        <p:spPr>
          <a:xfrm>
            <a:off x="995782" y="2926354"/>
            <a:ext cx="155448" cy="155448"/>
          </a:xfrm>
          <a:prstGeom prst="ellipse">
            <a:avLst/>
          </a:prstGeom>
          <a:solidFill>
            <a:srgbClr val="C9A227"/>
          </a:solidFill>
          <a:ln w="12700">
            <a:solidFill>
              <a:srgbClr val="333333"/>
            </a:solidFill>
            <a:prstDash val="solid"/>
          </a:ln>
        </p:spPr>
      </p:sp>
      <p:sp>
        <p:nvSpPr>
          <p:cNvPr id="26" name="Shape 24"/>
          <p:cNvSpPr/>
          <p:nvPr/>
        </p:nvSpPr>
        <p:spPr>
          <a:xfrm>
            <a:off x="1068934" y="3082723"/>
            <a:ext cx="155448" cy="155448"/>
          </a:xfrm>
          <a:prstGeom prst="ellipse">
            <a:avLst/>
          </a:prstGeom>
          <a:solidFill>
            <a:srgbClr val="C9A227"/>
          </a:solidFill>
          <a:ln w="12700">
            <a:solidFill>
              <a:srgbClr val="333333"/>
            </a:solidFill>
            <a:prstDash val="solid"/>
          </a:ln>
        </p:spPr>
      </p:sp>
      <p:sp>
        <p:nvSpPr>
          <p:cNvPr id="27" name="Shape 25"/>
          <p:cNvSpPr/>
          <p:nvPr/>
        </p:nvSpPr>
        <p:spPr>
          <a:xfrm>
            <a:off x="1142086" y="3229730"/>
            <a:ext cx="155448" cy="155448"/>
          </a:xfrm>
          <a:prstGeom prst="ellipse">
            <a:avLst/>
          </a:prstGeom>
          <a:solidFill>
            <a:srgbClr val="C9A227"/>
          </a:solidFill>
          <a:ln w="12700">
            <a:solidFill>
              <a:srgbClr val="333333"/>
            </a:solidFill>
            <a:prstDash val="solid"/>
          </a:ln>
        </p:spPr>
      </p:sp>
      <p:sp>
        <p:nvSpPr>
          <p:cNvPr id="28" name="Shape 26"/>
          <p:cNvSpPr/>
          <p:nvPr/>
        </p:nvSpPr>
        <p:spPr>
          <a:xfrm>
            <a:off x="1207922" y="3354029"/>
            <a:ext cx="155448" cy="155448"/>
          </a:xfrm>
          <a:prstGeom prst="ellipse">
            <a:avLst/>
          </a:prstGeom>
          <a:solidFill>
            <a:srgbClr val="C9A227"/>
          </a:solidFill>
          <a:ln w="12700">
            <a:solidFill>
              <a:srgbClr val="333333"/>
            </a:solidFill>
            <a:prstDash val="solid"/>
          </a:ln>
        </p:spPr>
      </p:sp>
      <p:sp>
        <p:nvSpPr>
          <p:cNvPr id="29" name="Shape 27"/>
          <p:cNvSpPr/>
          <p:nvPr/>
        </p:nvSpPr>
        <p:spPr>
          <a:xfrm>
            <a:off x="1266444" y="3458151"/>
            <a:ext cx="155448" cy="155448"/>
          </a:xfrm>
          <a:prstGeom prst="ellipse">
            <a:avLst/>
          </a:prstGeom>
          <a:solidFill>
            <a:srgbClr val="C9A227"/>
          </a:solidFill>
          <a:ln w="12700">
            <a:solidFill>
              <a:srgbClr val="333333"/>
            </a:solidFill>
            <a:prstDash val="solid"/>
          </a:ln>
        </p:spPr>
      </p:sp>
      <p:sp>
        <p:nvSpPr>
          <p:cNvPr id="30" name="Shape 28"/>
          <p:cNvSpPr/>
          <p:nvPr/>
        </p:nvSpPr>
        <p:spPr>
          <a:xfrm>
            <a:off x="1317650" y="3544342"/>
            <a:ext cx="155448" cy="155448"/>
          </a:xfrm>
          <a:prstGeom prst="ellipse">
            <a:avLst/>
          </a:prstGeom>
          <a:solidFill>
            <a:srgbClr val="1E8449"/>
          </a:solidFill>
          <a:ln w="12700">
            <a:solidFill>
              <a:srgbClr val="333333"/>
            </a:solidFill>
            <a:prstDash val="solid"/>
          </a:ln>
        </p:spPr>
      </p:sp>
      <p:sp>
        <p:nvSpPr>
          <p:cNvPr id="31" name="Text 29"/>
          <p:cNvSpPr txBox="1"/>
          <p:nvPr/>
        </p:nvSpPr>
        <p:spPr>
          <a:xfrm>
            <a:off x="822960" y="4754880"/>
            <a:ext cx="3035808" cy="91440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It gets there eventually — but training takes hours or days, and may stall before converging.</a:t>
            </a:r>
            <a:endParaRPr lang="en-US" sz="1200" dirty="0"/>
          </a:p>
        </p:txBody>
      </p:sp>
      <p:sp>
        <p:nvSpPr>
          <p:cNvPr id="32" name="Shape 30"/>
          <p:cNvSpPr/>
          <p:nvPr/>
        </p:nvSpPr>
        <p:spPr>
          <a:xfrm>
            <a:off x="4297680" y="1600200"/>
            <a:ext cx="3566160" cy="420624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3" name="Text 31"/>
          <p:cNvSpPr txBox="1"/>
          <p:nvPr/>
        </p:nvSpPr>
        <p:spPr>
          <a:xfrm>
            <a:off x="4572000" y="1828800"/>
            <a:ext cx="3017520" cy="320040"/>
          </a:xfrm>
          <a:prstGeom prst="rect">
            <a:avLst/>
          </a:prstGeom>
          <a:noFill/>
          <a:ln/>
        </p:spPr>
        <p:txBody>
          <a:bodyPr wrap="square" lIns="0" tIns="0" rIns="0" bIns="0" rtlCol="0" anchor="ctr"/>
          <a:lstStyle/>
          <a:p>
            <a:pPr indent="0" marL="0">
              <a:buNone/>
            </a:pPr>
            <a:r>
              <a:rPr lang="en-US" sz="1250" b="1" spc="150" kern="0" dirty="0">
                <a:solidFill>
                  <a:srgbClr val="0E7C61"/>
                </a:solidFill>
                <a:latin typeface="Calibri" pitchFamily="34" charset="0"/>
                <a:ea typeface="Calibri" pitchFamily="34" charset="-122"/>
                <a:cs typeface="Calibri" pitchFamily="34" charset="-120"/>
              </a:rPr>
              <a:t>JUST RIGHT</a:t>
            </a:r>
            <a:endParaRPr lang="en-US" sz="1250" dirty="0"/>
          </a:p>
        </p:txBody>
      </p:sp>
      <p:sp>
        <p:nvSpPr>
          <p:cNvPr id="34" name="Text 32"/>
          <p:cNvSpPr txBox="1"/>
          <p:nvPr/>
        </p:nvSpPr>
        <p:spPr>
          <a:xfrm>
            <a:off x="4572000" y="2148840"/>
            <a:ext cx="3017520" cy="320040"/>
          </a:xfrm>
          <a:prstGeom prst="rect">
            <a:avLst/>
          </a:prstGeom>
          <a:noFill/>
          <a:ln/>
        </p:spPr>
        <p:txBody>
          <a:bodyPr wrap="square" lIns="0" tIns="0" rIns="0" bIns="0" rtlCol="0" anchor="ctr"/>
          <a:lstStyle/>
          <a:p>
            <a:pPr indent="0" marL="0">
              <a:buNone/>
            </a:pPr>
            <a:r>
              <a:rPr lang="en-US" sz="1400" b="1" dirty="0">
                <a:solidFill>
                  <a:srgbClr val="0F6B3C"/>
                </a:solidFill>
                <a:latin typeface="Courier New" pitchFamily="34" charset="0"/>
                <a:ea typeface="Courier New" pitchFamily="34" charset="-122"/>
                <a:cs typeface="Courier New" pitchFamily="34" charset="-120"/>
              </a:rPr>
              <a:t>α = 0.01</a:t>
            </a:r>
            <a:endParaRPr lang="en-US" sz="1400" dirty="0"/>
          </a:p>
        </p:txBody>
      </p:sp>
      <p:sp>
        <p:nvSpPr>
          <p:cNvPr id="35" name="Shape 33"/>
          <p:cNvSpPr/>
          <p:nvPr/>
        </p:nvSpPr>
        <p:spPr>
          <a:xfrm>
            <a:off x="4764024" y="2872240"/>
            <a:ext cx="146304" cy="318358"/>
          </a:xfrm>
          <a:prstGeom prst="line">
            <a:avLst/>
          </a:prstGeom>
          <a:noFill/>
          <a:ln w="20320">
            <a:solidFill>
              <a:srgbClr val="B6C4BA"/>
            </a:solidFill>
            <a:prstDash val="solid"/>
          </a:ln>
        </p:spPr>
      </p:sp>
      <p:sp>
        <p:nvSpPr>
          <p:cNvPr id="36" name="Shape 34"/>
          <p:cNvSpPr/>
          <p:nvPr/>
        </p:nvSpPr>
        <p:spPr>
          <a:xfrm>
            <a:off x="4910328" y="3190598"/>
            <a:ext cx="146304" cy="280904"/>
          </a:xfrm>
          <a:prstGeom prst="line">
            <a:avLst/>
          </a:prstGeom>
          <a:noFill/>
          <a:ln w="20320">
            <a:solidFill>
              <a:srgbClr val="B6C4BA"/>
            </a:solidFill>
            <a:prstDash val="solid"/>
          </a:ln>
        </p:spPr>
      </p:sp>
      <p:sp>
        <p:nvSpPr>
          <p:cNvPr id="37" name="Shape 35"/>
          <p:cNvSpPr/>
          <p:nvPr/>
        </p:nvSpPr>
        <p:spPr>
          <a:xfrm>
            <a:off x="5056632" y="3471501"/>
            <a:ext cx="146304" cy="243450"/>
          </a:xfrm>
          <a:prstGeom prst="line">
            <a:avLst/>
          </a:prstGeom>
          <a:noFill/>
          <a:ln w="20320">
            <a:solidFill>
              <a:srgbClr val="B6C4BA"/>
            </a:solidFill>
            <a:prstDash val="solid"/>
          </a:ln>
        </p:spPr>
      </p:sp>
      <p:sp>
        <p:nvSpPr>
          <p:cNvPr id="38" name="Shape 36"/>
          <p:cNvSpPr/>
          <p:nvPr/>
        </p:nvSpPr>
        <p:spPr>
          <a:xfrm>
            <a:off x="5202936" y="3714951"/>
            <a:ext cx="146304" cy="205996"/>
          </a:xfrm>
          <a:prstGeom prst="line">
            <a:avLst/>
          </a:prstGeom>
          <a:noFill/>
          <a:ln w="20320">
            <a:solidFill>
              <a:srgbClr val="B6C4BA"/>
            </a:solidFill>
            <a:prstDash val="solid"/>
          </a:ln>
        </p:spPr>
      </p:sp>
      <p:sp>
        <p:nvSpPr>
          <p:cNvPr id="39" name="Shape 37"/>
          <p:cNvSpPr/>
          <p:nvPr/>
        </p:nvSpPr>
        <p:spPr>
          <a:xfrm>
            <a:off x="5349240" y="3920947"/>
            <a:ext cx="146304" cy="168542"/>
          </a:xfrm>
          <a:prstGeom prst="line">
            <a:avLst/>
          </a:prstGeom>
          <a:noFill/>
          <a:ln w="20320">
            <a:solidFill>
              <a:srgbClr val="B6C4BA"/>
            </a:solidFill>
            <a:prstDash val="solid"/>
          </a:ln>
        </p:spPr>
      </p:sp>
      <p:sp>
        <p:nvSpPr>
          <p:cNvPr id="40" name="Shape 38"/>
          <p:cNvSpPr/>
          <p:nvPr/>
        </p:nvSpPr>
        <p:spPr>
          <a:xfrm>
            <a:off x="5495544" y="4089489"/>
            <a:ext cx="146304" cy="131088"/>
          </a:xfrm>
          <a:prstGeom prst="line">
            <a:avLst/>
          </a:prstGeom>
          <a:noFill/>
          <a:ln w="20320">
            <a:solidFill>
              <a:srgbClr val="B6C4BA"/>
            </a:solidFill>
            <a:prstDash val="solid"/>
          </a:ln>
        </p:spPr>
      </p:sp>
      <p:sp>
        <p:nvSpPr>
          <p:cNvPr id="41" name="Shape 39"/>
          <p:cNvSpPr/>
          <p:nvPr/>
        </p:nvSpPr>
        <p:spPr>
          <a:xfrm>
            <a:off x="5641848" y="4220578"/>
            <a:ext cx="146304" cy="93635"/>
          </a:xfrm>
          <a:prstGeom prst="line">
            <a:avLst/>
          </a:prstGeom>
          <a:noFill/>
          <a:ln w="20320">
            <a:solidFill>
              <a:srgbClr val="B6C4BA"/>
            </a:solidFill>
            <a:prstDash val="solid"/>
          </a:ln>
        </p:spPr>
      </p:sp>
      <p:sp>
        <p:nvSpPr>
          <p:cNvPr id="42" name="Shape 40"/>
          <p:cNvSpPr/>
          <p:nvPr/>
        </p:nvSpPr>
        <p:spPr>
          <a:xfrm>
            <a:off x="5788152" y="4314212"/>
            <a:ext cx="146304" cy="56181"/>
          </a:xfrm>
          <a:prstGeom prst="line">
            <a:avLst/>
          </a:prstGeom>
          <a:noFill/>
          <a:ln w="20320">
            <a:solidFill>
              <a:srgbClr val="B6C4BA"/>
            </a:solidFill>
            <a:prstDash val="solid"/>
          </a:ln>
        </p:spPr>
      </p:sp>
      <p:sp>
        <p:nvSpPr>
          <p:cNvPr id="43" name="Shape 41"/>
          <p:cNvSpPr/>
          <p:nvPr/>
        </p:nvSpPr>
        <p:spPr>
          <a:xfrm>
            <a:off x="5934456" y="4370393"/>
            <a:ext cx="146304" cy="18727"/>
          </a:xfrm>
          <a:prstGeom prst="line">
            <a:avLst/>
          </a:prstGeom>
          <a:noFill/>
          <a:ln w="20320">
            <a:solidFill>
              <a:srgbClr val="B6C4BA"/>
            </a:solidFill>
            <a:prstDash val="solid"/>
          </a:ln>
        </p:spPr>
      </p:sp>
      <p:sp>
        <p:nvSpPr>
          <p:cNvPr id="44" name="Shape 42"/>
          <p:cNvSpPr/>
          <p:nvPr/>
        </p:nvSpPr>
        <p:spPr>
          <a:xfrm flipV="1">
            <a:off x="6080760" y="4370393"/>
            <a:ext cx="146304" cy="18727"/>
          </a:xfrm>
          <a:prstGeom prst="line">
            <a:avLst/>
          </a:prstGeom>
          <a:noFill/>
          <a:ln w="20320">
            <a:solidFill>
              <a:srgbClr val="B6C4BA"/>
            </a:solidFill>
            <a:prstDash val="solid"/>
          </a:ln>
        </p:spPr>
      </p:sp>
      <p:sp>
        <p:nvSpPr>
          <p:cNvPr id="45" name="Shape 43"/>
          <p:cNvSpPr/>
          <p:nvPr/>
        </p:nvSpPr>
        <p:spPr>
          <a:xfrm flipV="1">
            <a:off x="6227064" y="4314212"/>
            <a:ext cx="146304" cy="56181"/>
          </a:xfrm>
          <a:prstGeom prst="line">
            <a:avLst/>
          </a:prstGeom>
          <a:noFill/>
          <a:ln w="20320">
            <a:solidFill>
              <a:srgbClr val="B6C4BA"/>
            </a:solidFill>
            <a:prstDash val="solid"/>
          </a:ln>
        </p:spPr>
      </p:sp>
      <p:sp>
        <p:nvSpPr>
          <p:cNvPr id="46" name="Shape 44"/>
          <p:cNvSpPr/>
          <p:nvPr/>
        </p:nvSpPr>
        <p:spPr>
          <a:xfrm flipV="1">
            <a:off x="6373368" y="4220578"/>
            <a:ext cx="146304" cy="93635"/>
          </a:xfrm>
          <a:prstGeom prst="line">
            <a:avLst/>
          </a:prstGeom>
          <a:noFill/>
          <a:ln w="20320">
            <a:solidFill>
              <a:srgbClr val="B6C4BA"/>
            </a:solidFill>
            <a:prstDash val="solid"/>
          </a:ln>
        </p:spPr>
      </p:sp>
      <p:sp>
        <p:nvSpPr>
          <p:cNvPr id="47" name="Shape 45"/>
          <p:cNvSpPr/>
          <p:nvPr/>
        </p:nvSpPr>
        <p:spPr>
          <a:xfrm flipV="1">
            <a:off x="6519672" y="4089489"/>
            <a:ext cx="146304" cy="131088"/>
          </a:xfrm>
          <a:prstGeom prst="line">
            <a:avLst/>
          </a:prstGeom>
          <a:noFill/>
          <a:ln w="20320">
            <a:solidFill>
              <a:srgbClr val="B6C4BA"/>
            </a:solidFill>
            <a:prstDash val="solid"/>
          </a:ln>
        </p:spPr>
      </p:sp>
      <p:sp>
        <p:nvSpPr>
          <p:cNvPr id="48" name="Shape 46"/>
          <p:cNvSpPr/>
          <p:nvPr/>
        </p:nvSpPr>
        <p:spPr>
          <a:xfrm flipV="1">
            <a:off x="6665976" y="3920947"/>
            <a:ext cx="146304" cy="168542"/>
          </a:xfrm>
          <a:prstGeom prst="line">
            <a:avLst/>
          </a:prstGeom>
          <a:noFill/>
          <a:ln w="20320">
            <a:solidFill>
              <a:srgbClr val="B6C4BA"/>
            </a:solidFill>
            <a:prstDash val="solid"/>
          </a:ln>
        </p:spPr>
      </p:sp>
      <p:sp>
        <p:nvSpPr>
          <p:cNvPr id="49" name="Shape 47"/>
          <p:cNvSpPr/>
          <p:nvPr/>
        </p:nvSpPr>
        <p:spPr>
          <a:xfrm flipV="1">
            <a:off x="6812280" y="3714951"/>
            <a:ext cx="146304" cy="205996"/>
          </a:xfrm>
          <a:prstGeom prst="line">
            <a:avLst/>
          </a:prstGeom>
          <a:noFill/>
          <a:ln w="20320">
            <a:solidFill>
              <a:srgbClr val="B6C4BA"/>
            </a:solidFill>
            <a:prstDash val="solid"/>
          </a:ln>
        </p:spPr>
      </p:sp>
      <p:sp>
        <p:nvSpPr>
          <p:cNvPr id="50" name="Shape 48"/>
          <p:cNvSpPr/>
          <p:nvPr/>
        </p:nvSpPr>
        <p:spPr>
          <a:xfrm flipV="1">
            <a:off x="6958584" y="3471501"/>
            <a:ext cx="146304" cy="243450"/>
          </a:xfrm>
          <a:prstGeom prst="line">
            <a:avLst/>
          </a:prstGeom>
          <a:noFill/>
          <a:ln w="20320">
            <a:solidFill>
              <a:srgbClr val="B6C4BA"/>
            </a:solidFill>
            <a:prstDash val="solid"/>
          </a:ln>
        </p:spPr>
      </p:sp>
      <p:sp>
        <p:nvSpPr>
          <p:cNvPr id="51" name="Shape 49"/>
          <p:cNvSpPr/>
          <p:nvPr/>
        </p:nvSpPr>
        <p:spPr>
          <a:xfrm flipV="1">
            <a:off x="7104888" y="3190598"/>
            <a:ext cx="146304" cy="280904"/>
          </a:xfrm>
          <a:prstGeom prst="line">
            <a:avLst/>
          </a:prstGeom>
          <a:noFill/>
          <a:ln w="20320">
            <a:solidFill>
              <a:srgbClr val="B6C4BA"/>
            </a:solidFill>
            <a:prstDash val="solid"/>
          </a:ln>
        </p:spPr>
      </p:sp>
      <p:sp>
        <p:nvSpPr>
          <p:cNvPr id="52" name="Shape 50"/>
          <p:cNvSpPr/>
          <p:nvPr/>
        </p:nvSpPr>
        <p:spPr>
          <a:xfrm flipV="1">
            <a:off x="7251192" y="2872240"/>
            <a:ext cx="146304" cy="318358"/>
          </a:xfrm>
          <a:prstGeom prst="line">
            <a:avLst/>
          </a:prstGeom>
          <a:noFill/>
          <a:ln w="20320">
            <a:solidFill>
              <a:srgbClr val="B6C4BA"/>
            </a:solidFill>
            <a:prstDash val="solid"/>
          </a:ln>
        </p:spPr>
      </p:sp>
      <p:sp>
        <p:nvSpPr>
          <p:cNvPr id="53" name="Shape 51"/>
          <p:cNvSpPr/>
          <p:nvPr/>
        </p:nvSpPr>
        <p:spPr>
          <a:xfrm>
            <a:off x="4774082" y="2990025"/>
            <a:ext cx="155448" cy="155448"/>
          </a:xfrm>
          <a:prstGeom prst="ellipse">
            <a:avLst/>
          </a:prstGeom>
          <a:solidFill>
            <a:srgbClr val="C9A227"/>
          </a:solidFill>
          <a:ln w="12700">
            <a:solidFill>
              <a:srgbClr val="333333"/>
            </a:solidFill>
            <a:prstDash val="solid"/>
          </a:ln>
        </p:spPr>
      </p:sp>
      <p:sp>
        <p:nvSpPr>
          <p:cNvPr id="54" name="Shape 52"/>
          <p:cNvSpPr/>
          <p:nvPr/>
        </p:nvSpPr>
        <p:spPr>
          <a:xfrm>
            <a:off x="5212994" y="3765319"/>
            <a:ext cx="155448" cy="155448"/>
          </a:xfrm>
          <a:prstGeom prst="ellipse">
            <a:avLst/>
          </a:prstGeom>
          <a:solidFill>
            <a:srgbClr val="C9A227"/>
          </a:solidFill>
          <a:ln w="12700">
            <a:solidFill>
              <a:srgbClr val="333333"/>
            </a:solidFill>
            <a:prstDash val="solid"/>
          </a:ln>
        </p:spPr>
      </p:sp>
      <p:sp>
        <p:nvSpPr>
          <p:cNvPr id="55" name="Shape 53"/>
          <p:cNvSpPr/>
          <p:nvPr/>
        </p:nvSpPr>
        <p:spPr>
          <a:xfrm>
            <a:off x="5564124" y="4142854"/>
            <a:ext cx="155448" cy="155448"/>
          </a:xfrm>
          <a:prstGeom prst="ellipse">
            <a:avLst/>
          </a:prstGeom>
          <a:solidFill>
            <a:srgbClr val="C9A227"/>
          </a:solidFill>
          <a:ln w="12700">
            <a:solidFill>
              <a:srgbClr val="333333"/>
            </a:solidFill>
            <a:prstDash val="solid"/>
          </a:ln>
        </p:spPr>
      </p:sp>
      <p:sp>
        <p:nvSpPr>
          <p:cNvPr id="56" name="Shape 54"/>
          <p:cNvSpPr/>
          <p:nvPr/>
        </p:nvSpPr>
        <p:spPr>
          <a:xfrm>
            <a:off x="5812841" y="4279748"/>
            <a:ext cx="155448" cy="155448"/>
          </a:xfrm>
          <a:prstGeom prst="ellipse">
            <a:avLst/>
          </a:prstGeom>
          <a:solidFill>
            <a:srgbClr val="C9A227"/>
          </a:solidFill>
          <a:ln w="12700">
            <a:solidFill>
              <a:srgbClr val="333333"/>
            </a:solidFill>
            <a:prstDash val="solid"/>
          </a:ln>
        </p:spPr>
      </p:sp>
      <p:sp>
        <p:nvSpPr>
          <p:cNvPr id="57" name="Shape 55"/>
          <p:cNvSpPr/>
          <p:nvPr/>
        </p:nvSpPr>
        <p:spPr>
          <a:xfrm>
            <a:off x="5959145" y="4309711"/>
            <a:ext cx="155448" cy="155448"/>
          </a:xfrm>
          <a:prstGeom prst="ellipse">
            <a:avLst/>
          </a:prstGeom>
          <a:solidFill>
            <a:srgbClr val="C9A227"/>
          </a:solidFill>
          <a:ln w="12700">
            <a:solidFill>
              <a:srgbClr val="333333"/>
            </a:solidFill>
            <a:prstDash val="solid"/>
          </a:ln>
        </p:spPr>
      </p:sp>
      <p:sp>
        <p:nvSpPr>
          <p:cNvPr id="58" name="Shape 56"/>
          <p:cNvSpPr/>
          <p:nvPr/>
        </p:nvSpPr>
        <p:spPr>
          <a:xfrm>
            <a:off x="6003036" y="4311396"/>
            <a:ext cx="155448" cy="155448"/>
          </a:xfrm>
          <a:prstGeom prst="ellipse">
            <a:avLst/>
          </a:prstGeom>
          <a:solidFill>
            <a:srgbClr val="0E7C61"/>
          </a:solidFill>
          <a:ln w="12700">
            <a:solidFill>
              <a:srgbClr val="333333"/>
            </a:solidFill>
            <a:prstDash val="solid"/>
          </a:ln>
        </p:spPr>
      </p:sp>
      <p:sp>
        <p:nvSpPr>
          <p:cNvPr id="59" name="Text 57"/>
          <p:cNvSpPr txBox="1"/>
          <p:nvPr/>
        </p:nvSpPr>
        <p:spPr>
          <a:xfrm>
            <a:off x="4572000" y="4754880"/>
            <a:ext cx="3035808" cy="91440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Steady, decreasing loss that flattens out. This is what a healthy training curve looks like.</a:t>
            </a:r>
            <a:endParaRPr lang="en-US" sz="1200" dirty="0"/>
          </a:p>
        </p:txBody>
      </p:sp>
      <p:sp>
        <p:nvSpPr>
          <p:cNvPr id="60" name="Shape 58"/>
          <p:cNvSpPr/>
          <p:nvPr/>
        </p:nvSpPr>
        <p:spPr>
          <a:xfrm>
            <a:off x="8046720" y="1600200"/>
            <a:ext cx="3566160" cy="420624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1" name="Text 59"/>
          <p:cNvSpPr txBox="1"/>
          <p:nvPr/>
        </p:nvSpPr>
        <p:spPr>
          <a:xfrm>
            <a:off x="8321040" y="1828800"/>
            <a:ext cx="3017520" cy="320040"/>
          </a:xfrm>
          <a:prstGeom prst="rect">
            <a:avLst/>
          </a:prstGeom>
          <a:noFill/>
          <a:ln/>
        </p:spPr>
        <p:txBody>
          <a:bodyPr wrap="square" lIns="0" tIns="0" rIns="0" bIns="0" rtlCol="0" anchor="ctr"/>
          <a:lstStyle/>
          <a:p>
            <a:pPr indent="0" marL="0">
              <a:buNone/>
            </a:pPr>
            <a:r>
              <a:rPr lang="en-US" sz="1250" b="1" spc="150" kern="0" dirty="0">
                <a:solidFill>
                  <a:srgbClr val="9C3B2E"/>
                </a:solidFill>
                <a:latin typeface="Calibri" pitchFamily="34" charset="0"/>
                <a:ea typeface="Calibri" pitchFamily="34" charset="-122"/>
                <a:cs typeface="Calibri" pitchFamily="34" charset="-120"/>
              </a:rPr>
              <a:t>TOO LARGE</a:t>
            </a:r>
            <a:endParaRPr lang="en-US" sz="1250" dirty="0"/>
          </a:p>
        </p:txBody>
      </p:sp>
      <p:sp>
        <p:nvSpPr>
          <p:cNvPr id="62" name="Text 60"/>
          <p:cNvSpPr txBox="1"/>
          <p:nvPr/>
        </p:nvSpPr>
        <p:spPr>
          <a:xfrm>
            <a:off x="8321040" y="2148840"/>
            <a:ext cx="3017520" cy="320040"/>
          </a:xfrm>
          <a:prstGeom prst="rect">
            <a:avLst/>
          </a:prstGeom>
          <a:noFill/>
          <a:ln/>
        </p:spPr>
        <p:txBody>
          <a:bodyPr wrap="square" lIns="0" tIns="0" rIns="0" bIns="0" rtlCol="0" anchor="ctr"/>
          <a:lstStyle/>
          <a:p>
            <a:pPr indent="0" marL="0">
              <a:buNone/>
            </a:pPr>
            <a:r>
              <a:rPr lang="en-US" sz="1400" b="1" dirty="0">
                <a:solidFill>
                  <a:srgbClr val="0F6B3C"/>
                </a:solidFill>
                <a:latin typeface="Courier New" pitchFamily="34" charset="0"/>
                <a:ea typeface="Courier New" pitchFamily="34" charset="-122"/>
                <a:cs typeface="Courier New" pitchFamily="34" charset="-120"/>
              </a:rPr>
              <a:t>α = 1.5</a:t>
            </a:r>
            <a:endParaRPr lang="en-US" sz="1400" dirty="0"/>
          </a:p>
        </p:txBody>
      </p:sp>
      <p:sp>
        <p:nvSpPr>
          <p:cNvPr id="63" name="Shape 61"/>
          <p:cNvSpPr/>
          <p:nvPr/>
        </p:nvSpPr>
        <p:spPr>
          <a:xfrm>
            <a:off x="8513064" y="2872240"/>
            <a:ext cx="146304" cy="318358"/>
          </a:xfrm>
          <a:prstGeom prst="line">
            <a:avLst/>
          </a:prstGeom>
          <a:noFill/>
          <a:ln w="20320">
            <a:solidFill>
              <a:srgbClr val="B6C4BA"/>
            </a:solidFill>
            <a:prstDash val="solid"/>
          </a:ln>
        </p:spPr>
      </p:sp>
      <p:sp>
        <p:nvSpPr>
          <p:cNvPr id="64" name="Shape 62"/>
          <p:cNvSpPr/>
          <p:nvPr/>
        </p:nvSpPr>
        <p:spPr>
          <a:xfrm>
            <a:off x="8659368" y="3190598"/>
            <a:ext cx="146304" cy="280904"/>
          </a:xfrm>
          <a:prstGeom prst="line">
            <a:avLst/>
          </a:prstGeom>
          <a:noFill/>
          <a:ln w="20320">
            <a:solidFill>
              <a:srgbClr val="B6C4BA"/>
            </a:solidFill>
            <a:prstDash val="solid"/>
          </a:ln>
        </p:spPr>
      </p:sp>
      <p:sp>
        <p:nvSpPr>
          <p:cNvPr id="65" name="Shape 63"/>
          <p:cNvSpPr/>
          <p:nvPr/>
        </p:nvSpPr>
        <p:spPr>
          <a:xfrm>
            <a:off x="8805672" y="3471501"/>
            <a:ext cx="146304" cy="243450"/>
          </a:xfrm>
          <a:prstGeom prst="line">
            <a:avLst/>
          </a:prstGeom>
          <a:noFill/>
          <a:ln w="20320">
            <a:solidFill>
              <a:srgbClr val="B6C4BA"/>
            </a:solidFill>
            <a:prstDash val="solid"/>
          </a:ln>
        </p:spPr>
      </p:sp>
      <p:sp>
        <p:nvSpPr>
          <p:cNvPr id="66" name="Shape 64"/>
          <p:cNvSpPr/>
          <p:nvPr/>
        </p:nvSpPr>
        <p:spPr>
          <a:xfrm>
            <a:off x="8951976" y="3714951"/>
            <a:ext cx="146304" cy="205996"/>
          </a:xfrm>
          <a:prstGeom prst="line">
            <a:avLst/>
          </a:prstGeom>
          <a:noFill/>
          <a:ln w="20320">
            <a:solidFill>
              <a:srgbClr val="B6C4BA"/>
            </a:solidFill>
            <a:prstDash val="solid"/>
          </a:ln>
        </p:spPr>
      </p:sp>
      <p:sp>
        <p:nvSpPr>
          <p:cNvPr id="67" name="Shape 65"/>
          <p:cNvSpPr/>
          <p:nvPr/>
        </p:nvSpPr>
        <p:spPr>
          <a:xfrm>
            <a:off x="9098280" y="3920947"/>
            <a:ext cx="146304" cy="168542"/>
          </a:xfrm>
          <a:prstGeom prst="line">
            <a:avLst/>
          </a:prstGeom>
          <a:noFill/>
          <a:ln w="20320">
            <a:solidFill>
              <a:srgbClr val="B6C4BA"/>
            </a:solidFill>
            <a:prstDash val="solid"/>
          </a:ln>
        </p:spPr>
      </p:sp>
      <p:sp>
        <p:nvSpPr>
          <p:cNvPr id="68" name="Shape 66"/>
          <p:cNvSpPr/>
          <p:nvPr/>
        </p:nvSpPr>
        <p:spPr>
          <a:xfrm>
            <a:off x="9244584" y="4089489"/>
            <a:ext cx="146304" cy="131088"/>
          </a:xfrm>
          <a:prstGeom prst="line">
            <a:avLst/>
          </a:prstGeom>
          <a:noFill/>
          <a:ln w="20320">
            <a:solidFill>
              <a:srgbClr val="B6C4BA"/>
            </a:solidFill>
            <a:prstDash val="solid"/>
          </a:ln>
        </p:spPr>
      </p:sp>
      <p:sp>
        <p:nvSpPr>
          <p:cNvPr id="69" name="Shape 67"/>
          <p:cNvSpPr/>
          <p:nvPr/>
        </p:nvSpPr>
        <p:spPr>
          <a:xfrm>
            <a:off x="9390888" y="4220578"/>
            <a:ext cx="146304" cy="93635"/>
          </a:xfrm>
          <a:prstGeom prst="line">
            <a:avLst/>
          </a:prstGeom>
          <a:noFill/>
          <a:ln w="20320">
            <a:solidFill>
              <a:srgbClr val="B6C4BA"/>
            </a:solidFill>
            <a:prstDash val="solid"/>
          </a:ln>
        </p:spPr>
      </p:sp>
      <p:sp>
        <p:nvSpPr>
          <p:cNvPr id="70" name="Shape 68"/>
          <p:cNvSpPr/>
          <p:nvPr/>
        </p:nvSpPr>
        <p:spPr>
          <a:xfrm>
            <a:off x="9537192" y="4314212"/>
            <a:ext cx="146304" cy="56181"/>
          </a:xfrm>
          <a:prstGeom prst="line">
            <a:avLst/>
          </a:prstGeom>
          <a:noFill/>
          <a:ln w="20320">
            <a:solidFill>
              <a:srgbClr val="B6C4BA"/>
            </a:solidFill>
            <a:prstDash val="solid"/>
          </a:ln>
        </p:spPr>
      </p:sp>
      <p:sp>
        <p:nvSpPr>
          <p:cNvPr id="71" name="Shape 69"/>
          <p:cNvSpPr/>
          <p:nvPr/>
        </p:nvSpPr>
        <p:spPr>
          <a:xfrm>
            <a:off x="9683496" y="4370393"/>
            <a:ext cx="146304" cy="18727"/>
          </a:xfrm>
          <a:prstGeom prst="line">
            <a:avLst/>
          </a:prstGeom>
          <a:noFill/>
          <a:ln w="20320">
            <a:solidFill>
              <a:srgbClr val="B6C4BA"/>
            </a:solidFill>
            <a:prstDash val="solid"/>
          </a:ln>
        </p:spPr>
      </p:sp>
      <p:sp>
        <p:nvSpPr>
          <p:cNvPr id="72" name="Shape 70"/>
          <p:cNvSpPr/>
          <p:nvPr/>
        </p:nvSpPr>
        <p:spPr>
          <a:xfrm flipV="1">
            <a:off x="9829800" y="4370393"/>
            <a:ext cx="146304" cy="18727"/>
          </a:xfrm>
          <a:prstGeom prst="line">
            <a:avLst/>
          </a:prstGeom>
          <a:noFill/>
          <a:ln w="20320">
            <a:solidFill>
              <a:srgbClr val="B6C4BA"/>
            </a:solidFill>
            <a:prstDash val="solid"/>
          </a:ln>
        </p:spPr>
      </p:sp>
      <p:sp>
        <p:nvSpPr>
          <p:cNvPr id="73" name="Shape 71"/>
          <p:cNvSpPr/>
          <p:nvPr/>
        </p:nvSpPr>
        <p:spPr>
          <a:xfrm flipV="1">
            <a:off x="9976104" y="4314212"/>
            <a:ext cx="146304" cy="56181"/>
          </a:xfrm>
          <a:prstGeom prst="line">
            <a:avLst/>
          </a:prstGeom>
          <a:noFill/>
          <a:ln w="20320">
            <a:solidFill>
              <a:srgbClr val="B6C4BA"/>
            </a:solidFill>
            <a:prstDash val="solid"/>
          </a:ln>
        </p:spPr>
      </p:sp>
      <p:sp>
        <p:nvSpPr>
          <p:cNvPr id="74" name="Shape 72"/>
          <p:cNvSpPr/>
          <p:nvPr/>
        </p:nvSpPr>
        <p:spPr>
          <a:xfrm flipV="1">
            <a:off x="10122408" y="4220578"/>
            <a:ext cx="146304" cy="93635"/>
          </a:xfrm>
          <a:prstGeom prst="line">
            <a:avLst/>
          </a:prstGeom>
          <a:noFill/>
          <a:ln w="20320">
            <a:solidFill>
              <a:srgbClr val="B6C4BA"/>
            </a:solidFill>
            <a:prstDash val="solid"/>
          </a:ln>
        </p:spPr>
      </p:sp>
      <p:sp>
        <p:nvSpPr>
          <p:cNvPr id="75" name="Shape 73"/>
          <p:cNvSpPr/>
          <p:nvPr/>
        </p:nvSpPr>
        <p:spPr>
          <a:xfrm flipV="1">
            <a:off x="10268712" y="4089489"/>
            <a:ext cx="146304" cy="131088"/>
          </a:xfrm>
          <a:prstGeom prst="line">
            <a:avLst/>
          </a:prstGeom>
          <a:noFill/>
          <a:ln w="20320">
            <a:solidFill>
              <a:srgbClr val="B6C4BA"/>
            </a:solidFill>
            <a:prstDash val="solid"/>
          </a:ln>
        </p:spPr>
      </p:sp>
      <p:sp>
        <p:nvSpPr>
          <p:cNvPr id="76" name="Shape 74"/>
          <p:cNvSpPr/>
          <p:nvPr/>
        </p:nvSpPr>
        <p:spPr>
          <a:xfrm flipV="1">
            <a:off x="10415016" y="3920947"/>
            <a:ext cx="146304" cy="168542"/>
          </a:xfrm>
          <a:prstGeom prst="line">
            <a:avLst/>
          </a:prstGeom>
          <a:noFill/>
          <a:ln w="20320">
            <a:solidFill>
              <a:srgbClr val="B6C4BA"/>
            </a:solidFill>
            <a:prstDash val="solid"/>
          </a:ln>
        </p:spPr>
      </p:sp>
      <p:sp>
        <p:nvSpPr>
          <p:cNvPr id="77" name="Shape 75"/>
          <p:cNvSpPr/>
          <p:nvPr/>
        </p:nvSpPr>
        <p:spPr>
          <a:xfrm flipV="1">
            <a:off x="10561320" y="3714951"/>
            <a:ext cx="146304" cy="205996"/>
          </a:xfrm>
          <a:prstGeom prst="line">
            <a:avLst/>
          </a:prstGeom>
          <a:noFill/>
          <a:ln w="20320">
            <a:solidFill>
              <a:srgbClr val="B6C4BA"/>
            </a:solidFill>
            <a:prstDash val="solid"/>
          </a:ln>
        </p:spPr>
      </p:sp>
      <p:sp>
        <p:nvSpPr>
          <p:cNvPr id="78" name="Shape 76"/>
          <p:cNvSpPr/>
          <p:nvPr/>
        </p:nvSpPr>
        <p:spPr>
          <a:xfrm flipV="1">
            <a:off x="10707624" y="3471501"/>
            <a:ext cx="146304" cy="243450"/>
          </a:xfrm>
          <a:prstGeom prst="line">
            <a:avLst/>
          </a:prstGeom>
          <a:noFill/>
          <a:ln w="20320">
            <a:solidFill>
              <a:srgbClr val="B6C4BA"/>
            </a:solidFill>
            <a:prstDash val="solid"/>
          </a:ln>
        </p:spPr>
      </p:sp>
      <p:sp>
        <p:nvSpPr>
          <p:cNvPr id="79" name="Shape 77"/>
          <p:cNvSpPr/>
          <p:nvPr/>
        </p:nvSpPr>
        <p:spPr>
          <a:xfrm flipV="1">
            <a:off x="10853928" y="3190598"/>
            <a:ext cx="146304" cy="280904"/>
          </a:xfrm>
          <a:prstGeom prst="line">
            <a:avLst/>
          </a:prstGeom>
          <a:noFill/>
          <a:ln w="20320">
            <a:solidFill>
              <a:srgbClr val="B6C4BA"/>
            </a:solidFill>
            <a:prstDash val="solid"/>
          </a:ln>
        </p:spPr>
      </p:sp>
      <p:sp>
        <p:nvSpPr>
          <p:cNvPr id="80" name="Shape 78"/>
          <p:cNvSpPr/>
          <p:nvPr/>
        </p:nvSpPr>
        <p:spPr>
          <a:xfrm flipV="1">
            <a:off x="11000232" y="2872240"/>
            <a:ext cx="146304" cy="318358"/>
          </a:xfrm>
          <a:prstGeom prst="line">
            <a:avLst/>
          </a:prstGeom>
          <a:noFill/>
          <a:ln w="20320">
            <a:solidFill>
              <a:srgbClr val="B6C4BA"/>
            </a:solidFill>
            <a:prstDash val="solid"/>
          </a:ln>
        </p:spPr>
      </p:sp>
      <p:sp>
        <p:nvSpPr>
          <p:cNvPr id="81" name="Shape 79"/>
          <p:cNvSpPr/>
          <p:nvPr/>
        </p:nvSpPr>
        <p:spPr>
          <a:xfrm>
            <a:off x="8523122" y="2990025"/>
            <a:ext cx="155448" cy="155448"/>
          </a:xfrm>
          <a:prstGeom prst="ellipse">
            <a:avLst/>
          </a:prstGeom>
          <a:solidFill>
            <a:srgbClr val="C9A227"/>
          </a:solidFill>
          <a:ln w="12700">
            <a:solidFill>
              <a:srgbClr val="333333"/>
            </a:solidFill>
            <a:prstDash val="solid"/>
          </a:ln>
        </p:spPr>
      </p:sp>
      <p:sp>
        <p:nvSpPr>
          <p:cNvPr id="82" name="Shape 80"/>
          <p:cNvSpPr/>
          <p:nvPr/>
        </p:nvSpPr>
        <p:spPr>
          <a:xfrm>
            <a:off x="10863986" y="3229730"/>
            <a:ext cx="155448" cy="155448"/>
          </a:xfrm>
          <a:prstGeom prst="ellipse">
            <a:avLst/>
          </a:prstGeom>
          <a:solidFill>
            <a:srgbClr val="C9A227"/>
          </a:solidFill>
          <a:ln w="12700">
            <a:solidFill>
              <a:srgbClr val="333333"/>
            </a:solidFill>
            <a:prstDash val="solid"/>
          </a:ln>
        </p:spPr>
      </p:sp>
      <p:sp>
        <p:nvSpPr>
          <p:cNvPr id="83" name="Shape 81"/>
          <p:cNvSpPr/>
          <p:nvPr/>
        </p:nvSpPr>
        <p:spPr>
          <a:xfrm>
            <a:off x="8449970" y="2828037"/>
            <a:ext cx="155448" cy="155448"/>
          </a:xfrm>
          <a:prstGeom prst="ellipse">
            <a:avLst/>
          </a:prstGeom>
          <a:solidFill>
            <a:srgbClr val="C9A227"/>
          </a:solidFill>
          <a:ln w="12700">
            <a:solidFill>
              <a:srgbClr val="333333"/>
            </a:solidFill>
            <a:prstDash val="solid"/>
          </a:ln>
        </p:spPr>
      </p:sp>
      <p:sp>
        <p:nvSpPr>
          <p:cNvPr id="84" name="Shape 82"/>
          <p:cNvSpPr/>
          <p:nvPr/>
        </p:nvSpPr>
        <p:spPr>
          <a:xfrm>
            <a:off x="11010290" y="2926354"/>
            <a:ext cx="155448" cy="155448"/>
          </a:xfrm>
          <a:prstGeom prst="ellipse">
            <a:avLst/>
          </a:prstGeom>
          <a:solidFill>
            <a:srgbClr val="9C3B2E"/>
          </a:solidFill>
          <a:ln w="12700">
            <a:solidFill>
              <a:srgbClr val="333333"/>
            </a:solidFill>
            <a:prstDash val="solid"/>
          </a:ln>
        </p:spPr>
      </p:sp>
      <p:sp>
        <p:nvSpPr>
          <p:cNvPr id="85" name="Text 83"/>
          <p:cNvSpPr txBox="1"/>
          <p:nvPr/>
        </p:nvSpPr>
        <p:spPr>
          <a:xfrm>
            <a:off x="8321040" y="4754880"/>
            <a:ext cx="3035808" cy="91440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Each step overshoots the valley. The loss oscillates or explodes to infinity (NaN).</a:t>
            </a:r>
            <a:endParaRPr lang="en-US" sz="1200" dirty="0"/>
          </a:p>
        </p:txBody>
      </p:sp>
      <p:sp>
        <p:nvSpPr>
          <p:cNvPr id="87" name="Text 8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88" name="Text 8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31</a:t>
            </a:r>
            <a:endParaRPr lang="en-US" sz="900" dirty="0"/>
          </a:p>
        </p:txBody>
      </p:sp>
      <p:pic>
        <p:nvPicPr>
          <p:cNvPr id="89" name="Picture 8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GENERALISATION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Point Is Not To Fit The Data</a:t>
            </a:r>
            <a:endParaRPr lang="en-US" sz="3000" dirty="0"/>
          </a:p>
        </p:txBody>
      </p:sp>
      <p:sp>
        <p:nvSpPr>
          <p:cNvPr id="4" name="Shape 2"/>
          <p:cNvSpPr/>
          <p:nvPr/>
        </p:nvSpPr>
        <p:spPr>
          <a:xfrm>
            <a:off x="548640" y="1554480"/>
            <a:ext cx="11064240" cy="1234440"/>
          </a:xfrm>
          <a:prstGeom prst="roundRect">
            <a:avLst>
              <a:gd name="adj" fmla="val 8889"/>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914400" y="1783080"/>
            <a:ext cx="10332720" cy="777240"/>
          </a:xfrm>
          <a:prstGeom prst="rect">
            <a:avLst/>
          </a:prstGeom>
          <a:noFill/>
          <a:ln/>
        </p:spPr>
        <p:txBody>
          <a:bodyPr wrap="square" lIns="0" tIns="0" rIns="0" bIns="0" rtlCol="0" anchor="ctr"/>
          <a:lstStyle/>
          <a:p>
            <a:pPr indent="0" marL="0">
              <a:lnSpc>
                <a:spcPts val="2500"/>
              </a:lnSpc>
              <a:buNone/>
            </a:pPr>
            <a:r>
              <a:rPr lang="en-US" sz="1900" b="1" i="1" dirty="0">
                <a:solidFill>
                  <a:srgbClr val="0F6B3C"/>
                </a:solidFill>
                <a:latin typeface="Cambria" pitchFamily="34" charset="0"/>
                <a:ea typeface="Cambria" pitchFamily="34" charset="-122"/>
                <a:cs typeface="Cambria" pitchFamily="34" charset="-120"/>
              </a:rPr>
              <a:t>A model that is perfect on data it has already seen, and useless on data it has not, has learned nothing. It has memorised.</a:t>
            </a:r>
            <a:endParaRPr lang="en-US" sz="1900" dirty="0"/>
          </a:p>
        </p:txBody>
      </p:sp>
      <p:sp>
        <p:nvSpPr>
          <p:cNvPr id="6" name="Shape 4"/>
          <p:cNvSpPr/>
          <p:nvPr/>
        </p:nvSpPr>
        <p:spPr>
          <a:xfrm>
            <a:off x="548640" y="2926080"/>
            <a:ext cx="5394960" cy="3063240"/>
          </a:xfrm>
          <a:prstGeom prst="roundRect">
            <a:avLst>
              <a:gd name="adj" fmla="val 358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 name="Shape 5"/>
          <p:cNvSpPr/>
          <p:nvPr/>
        </p:nvSpPr>
        <p:spPr>
          <a:xfrm>
            <a:off x="868680" y="3154680"/>
            <a:ext cx="530352" cy="530352"/>
          </a:xfrm>
          <a:prstGeom prst="ellipse">
            <a:avLst/>
          </a:prstGeom>
          <a:solidFill>
            <a:srgbClr val="0F6B3C"/>
          </a:solidFill>
          <a:ln w="12700">
            <a:solidFill>
              <a:srgbClr val="0F6B3C"/>
            </a:solidFill>
            <a:prstDash val="solid"/>
          </a:ln>
        </p:spPr>
      </p:sp>
      <p:pic>
        <p:nvPicPr>
          <p:cNvPr id="8" name="Image 0" descr="preencoded.png">    </p:cNvPr>
          <p:cNvPicPr>
            <a:picLocks noChangeAspect="1"/>
          </p:cNvPicPr>
          <p:nvPr/>
        </p:nvPicPr>
        <p:blipFill>
          <a:blip r:embed="rId1"/>
          <a:stretch>
            <a:fillRect/>
          </a:stretch>
        </p:blipFill>
        <p:spPr>
          <a:xfrm>
            <a:off x="980054" y="3266054"/>
            <a:ext cx="307604" cy="307604"/>
          </a:xfrm>
          <a:prstGeom prst="rect">
            <a:avLst/>
          </a:prstGeom>
        </p:spPr>
      </p:pic>
      <p:sp>
        <p:nvSpPr>
          <p:cNvPr id="9" name="Text 6"/>
          <p:cNvSpPr txBox="1"/>
          <p:nvPr/>
        </p:nvSpPr>
        <p:spPr>
          <a:xfrm>
            <a:off x="868680" y="3794760"/>
            <a:ext cx="4754880" cy="365760"/>
          </a:xfrm>
          <a:prstGeom prst="rect">
            <a:avLst/>
          </a:prstGeom>
          <a:noFill/>
          <a:ln/>
        </p:spPr>
        <p:txBody>
          <a:bodyPr wrap="square" lIns="0" tIns="0" rIns="0" bIns="0" rtlCol="0" anchor="ctr"/>
          <a:lstStyle/>
          <a:p>
            <a:pPr indent="0" marL="0">
              <a:buNone/>
            </a:pPr>
            <a:r>
              <a:rPr lang="en-US" sz="1800" b="1" dirty="0">
                <a:solidFill>
                  <a:srgbClr val="0F6B3C"/>
                </a:solidFill>
                <a:latin typeface="Cambria" pitchFamily="34" charset="0"/>
                <a:ea typeface="Cambria" pitchFamily="34" charset="-122"/>
                <a:cs typeface="Cambria" pitchFamily="34" charset="-120"/>
              </a:rPr>
              <a:t>The past-papers analogy</a:t>
            </a:r>
            <a:endParaRPr lang="en-US" sz="1800" dirty="0"/>
          </a:p>
        </p:txBody>
      </p:sp>
      <p:sp>
        <p:nvSpPr>
          <p:cNvPr id="10" name="Text 7"/>
          <p:cNvSpPr txBox="1"/>
          <p:nvPr/>
        </p:nvSpPr>
        <p:spPr>
          <a:xfrm>
            <a:off x="868680" y="4206240"/>
            <a:ext cx="4800600" cy="1691640"/>
          </a:xfrm>
          <a:prstGeom prst="rect">
            <a:avLst/>
          </a:prstGeom>
          <a:noFill/>
          <a:ln/>
        </p:spPr>
        <p:txBody>
          <a:bodyPr wrap="square" lIns="0" tIns="0" rIns="0" bIns="0" rtlCol="0" anchor="t"/>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Student A memorises the answers to five past papers. Student B learns the underlying concepts using the same five papers.</a:t>
            </a:r>
            <a:endParaRPr lang="en-US" sz="1200" dirty="0"/>
          </a:p>
          <a:p>
            <a:pPr indent="0" marL="0">
              <a:lnSpc>
                <a:spcPts val="1600"/>
              </a:lnSpc>
              <a:buNone/>
            </a:pPr>
            <a:endParaRPr lang="en-US" sz="1200" dirty="0"/>
          </a:p>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On those five papers both score 100%. In the real exam, with new questions, only Student B passes.</a:t>
            </a:r>
            <a:endParaRPr lang="en-US" sz="1200" dirty="0"/>
          </a:p>
          <a:p>
            <a:pPr indent="0" marL="0">
              <a:lnSpc>
                <a:spcPts val="1600"/>
              </a:lnSpc>
              <a:buNone/>
            </a:pPr>
            <a:endParaRPr lang="en-US" sz="1200" dirty="0"/>
          </a:p>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Student A overfitted.</a:t>
            </a:r>
            <a:endParaRPr lang="en-US" sz="1200" dirty="0"/>
          </a:p>
        </p:txBody>
      </p:sp>
      <p:sp>
        <p:nvSpPr>
          <p:cNvPr id="11" name="Shape 8"/>
          <p:cNvSpPr/>
          <p:nvPr/>
        </p:nvSpPr>
        <p:spPr>
          <a:xfrm>
            <a:off x="6217920" y="2926080"/>
            <a:ext cx="5394960" cy="3063240"/>
          </a:xfrm>
          <a:prstGeom prst="roundRect">
            <a:avLst>
              <a:gd name="adj" fmla="val 3582"/>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2" name="Shape 9"/>
          <p:cNvSpPr/>
          <p:nvPr/>
        </p:nvSpPr>
        <p:spPr>
          <a:xfrm>
            <a:off x="6537960" y="3154680"/>
            <a:ext cx="530352" cy="530352"/>
          </a:xfrm>
          <a:prstGeom prst="ellipse">
            <a:avLst/>
          </a:prstGeom>
          <a:solidFill>
            <a:srgbClr val="0E7C61"/>
          </a:solidFill>
          <a:ln w="12700">
            <a:solidFill>
              <a:srgbClr val="0E7C61"/>
            </a:solidFill>
            <a:prstDash val="solid"/>
          </a:ln>
        </p:spPr>
      </p:sp>
      <p:pic>
        <p:nvPicPr>
          <p:cNvPr id="13" name="Image 1" descr="preencoded.png">    </p:cNvPr>
          <p:cNvPicPr>
            <a:picLocks noChangeAspect="1"/>
          </p:cNvPicPr>
          <p:nvPr/>
        </p:nvPicPr>
        <p:blipFill>
          <a:blip r:embed="rId2"/>
          <a:stretch>
            <a:fillRect/>
          </a:stretch>
        </p:blipFill>
        <p:spPr>
          <a:xfrm>
            <a:off x="6649334" y="3266054"/>
            <a:ext cx="307604" cy="307604"/>
          </a:xfrm>
          <a:prstGeom prst="rect">
            <a:avLst/>
          </a:prstGeom>
        </p:spPr>
      </p:pic>
      <p:sp>
        <p:nvSpPr>
          <p:cNvPr id="14" name="Text 10"/>
          <p:cNvSpPr txBox="1"/>
          <p:nvPr/>
        </p:nvSpPr>
        <p:spPr>
          <a:xfrm>
            <a:off x="6537960" y="3794760"/>
            <a:ext cx="4754880" cy="365760"/>
          </a:xfrm>
          <a:prstGeom prst="rect">
            <a:avLst/>
          </a:prstGeom>
          <a:noFill/>
          <a:ln/>
        </p:spPr>
        <p:txBody>
          <a:bodyPr wrap="square" lIns="0" tIns="0" rIns="0" bIns="0" rtlCol="0" anchor="ctr"/>
          <a:lstStyle/>
          <a:p>
            <a:pPr indent="0" marL="0">
              <a:buNone/>
            </a:pPr>
            <a:r>
              <a:rPr lang="en-US" sz="1800" b="1" dirty="0">
                <a:solidFill>
                  <a:srgbClr val="0E7C61"/>
                </a:solidFill>
                <a:latin typeface="Cambria" pitchFamily="34" charset="0"/>
                <a:ea typeface="Cambria" pitchFamily="34" charset="-122"/>
                <a:cs typeface="Cambria" pitchFamily="34" charset="-120"/>
              </a:rPr>
              <a:t>The golden rule</a:t>
            </a:r>
            <a:endParaRPr lang="en-US" sz="1800" dirty="0"/>
          </a:p>
        </p:txBody>
      </p:sp>
      <p:sp>
        <p:nvSpPr>
          <p:cNvPr id="15" name="Text 11"/>
          <p:cNvSpPr txBox="1"/>
          <p:nvPr/>
        </p:nvSpPr>
        <p:spPr>
          <a:xfrm>
            <a:off x="6537960" y="4206240"/>
            <a:ext cx="4800600" cy="1691640"/>
          </a:xfrm>
          <a:prstGeom prst="rect">
            <a:avLst/>
          </a:prstGeom>
          <a:noFill/>
          <a:ln/>
        </p:spPr>
        <p:txBody>
          <a:bodyPr wrap="square" lIns="0" tIns="0" rIns="0" bIns="0" rtlCol="0" anchor="t"/>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Never report performance on data the model was trained on. Ever.</a:t>
            </a:r>
            <a:endParaRPr lang="en-US" sz="1200" dirty="0"/>
          </a:p>
          <a:p>
            <a:pPr indent="0" marL="0">
              <a:lnSpc>
                <a:spcPts val="1600"/>
              </a:lnSpc>
              <a:buNone/>
            </a:pPr>
            <a:endParaRPr lang="en-US" sz="1200" dirty="0"/>
          </a:p>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Hold out a portion of your data before training, lock it away, and use it only to answer one question: how well will this model do on cases it has never met?</a:t>
            </a:r>
            <a:endParaRPr lang="en-US" sz="1200" dirty="0"/>
          </a:p>
          <a:p>
            <a:pPr indent="0" marL="0">
              <a:lnSpc>
                <a:spcPts val="1600"/>
              </a:lnSpc>
              <a:buNone/>
            </a:pPr>
            <a:endParaRPr lang="en-US" sz="1200" dirty="0"/>
          </a:p>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That number is the only one worth quoting.</a:t>
            </a:r>
            <a:endParaRPr lang="en-US" sz="1200" dirty="0"/>
          </a:p>
        </p:txBody>
      </p:sp>
      <p:sp>
        <p:nvSpPr>
          <p:cNvPr id="17" name="Text 12"/>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8" name="Text 13"/>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32</a:t>
            </a:r>
            <a:endParaRPr lang="en-US" sz="900" dirty="0"/>
          </a:p>
        </p:txBody>
      </p:sp>
      <p:pic>
        <p:nvPicPr>
          <p:cNvPr id="19" name="Picture 18" descr="must_logo.png"/>
          <p:cNvPicPr>
            <a:picLocks noChangeAspect="1"/>
          </p:cNvPicPr>
          <p:nvPr/>
        </p:nvPicPr>
        <p:blipFill>
          <a:blip r:embed="rId5"/>
          <a:stretch>
            <a:fillRect/>
          </a:stretch>
        </p:blipFill>
        <p:spPr>
          <a:xfrm>
            <a:off x="11016642" y="274320"/>
            <a:ext cx="699565" cy="65836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THREE REGIMES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Underfitting, Good Fit, Overfitting</a:t>
            </a:r>
            <a:endParaRPr lang="en-US" sz="3000" dirty="0"/>
          </a:p>
        </p:txBody>
      </p:sp>
      <p:sp>
        <p:nvSpPr>
          <p:cNvPr id="4" name="Shape 2"/>
          <p:cNvSpPr/>
          <p:nvPr/>
        </p:nvSpPr>
        <p:spPr>
          <a:xfrm>
            <a:off x="548640" y="1600200"/>
            <a:ext cx="3566160" cy="434340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22960" y="1810512"/>
            <a:ext cx="3017520" cy="320040"/>
          </a:xfrm>
          <a:prstGeom prst="rect">
            <a:avLst/>
          </a:prstGeom>
          <a:noFill/>
          <a:ln/>
        </p:spPr>
        <p:txBody>
          <a:bodyPr wrap="square" lIns="0" tIns="0" rIns="0" bIns="0" rtlCol="0" anchor="ctr"/>
          <a:lstStyle/>
          <a:p>
            <a:pPr indent="0" marL="0">
              <a:buNone/>
            </a:pPr>
            <a:r>
              <a:rPr lang="en-US" sz="1250" b="1" spc="150" kern="0" dirty="0">
                <a:solidFill>
                  <a:srgbClr val="9C3B2E"/>
                </a:solidFill>
                <a:latin typeface="Calibri" pitchFamily="34" charset="0"/>
                <a:ea typeface="Calibri" pitchFamily="34" charset="-122"/>
                <a:cs typeface="Calibri" pitchFamily="34" charset="-120"/>
              </a:rPr>
              <a:t>UNDERFITTING</a:t>
            </a:r>
            <a:endParaRPr lang="en-US" sz="1250" dirty="0"/>
          </a:p>
        </p:txBody>
      </p:sp>
      <p:sp>
        <p:nvSpPr>
          <p:cNvPr id="6" name="Shape 4"/>
          <p:cNvSpPr/>
          <p:nvPr/>
        </p:nvSpPr>
        <p:spPr>
          <a:xfrm>
            <a:off x="868680" y="2240280"/>
            <a:ext cx="0" cy="1417320"/>
          </a:xfrm>
          <a:prstGeom prst="line">
            <a:avLst/>
          </a:prstGeom>
          <a:noFill/>
          <a:ln w="15875">
            <a:solidFill>
              <a:srgbClr val="D9E3DB"/>
            </a:solidFill>
            <a:prstDash val="solid"/>
          </a:ln>
        </p:spPr>
      </p:sp>
      <p:sp>
        <p:nvSpPr>
          <p:cNvPr id="7" name="Shape 5"/>
          <p:cNvSpPr/>
          <p:nvPr/>
        </p:nvSpPr>
        <p:spPr>
          <a:xfrm>
            <a:off x="868680" y="3657600"/>
            <a:ext cx="2926080" cy="0"/>
          </a:xfrm>
          <a:prstGeom prst="line">
            <a:avLst/>
          </a:prstGeom>
          <a:noFill/>
          <a:ln w="15875">
            <a:solidFill>
              <a:srgbClr val="D9E3DB"/>
            </a:solidFill>
            <a:prstDash val="solid"/>
          </a:ln>
        </p:spPr>
      </p:sp>
      <p:sp>
        <p:nvSpPr>
          <p:cNvPr id="8" name="Shape 6"/>
          <p:cNvSpPr/>
          <p:nvPr/>
        </p:nvSpPr>
        <p:spPr>
          <a:xfrm>
            <a:off x="1202436" y="2926080"/>
            <a:ext cx="2427732" cy="0"/>
          </a:xfrm>
          <a:prstGeom prst="line">
            <a:avLst/>
          </a:prstGeom>
          <a:noFill/>
          <a:ln w="31750">
            <a:solidFill>
              <a:srgbClr val="9C3B2E"/>
            </a:solidFill>
            <a:prstDash val="solid"/>
          </a:ln>
        </p:spPr>
      </p:sp>
      <p:sp>
        <p:nvSpPr>
          <p:cNvPr id="9" name="Shape 7"/>
          <p:cNvSpPr/>
          <p:nvPr/>
        </p:nvSpPr>
        <p:spPr>
          <a:xfrm>
            <a:off x="1133856" y="3177540"/>
            <a:ext cx="137160" cy="137160"/>
          </a:xfrm>
          <a:prstGeom prst="ellipse">
            <a:avLst/>
          </a:prstGeom>
          <a:solidFill>
            <a:srgbClr val="0F6B3C"/>
          </a:solidFill>
          <a:ln w="12700">
            <a:solidFill>
              <a:srgbClr val="333333"/>
            </a:solidFill>
            <a:prstDash val="solid"/>
          </a:ln>
        </p:spPr>
      </p:sp>
      <p:sp>
        <p:nvSpPr>
          <p:cNvPr id="10" name="Shape 8"/>
          <p:cNvSpPr/>
          <p:nvPr/>
        </p:nvSpPr>
        <p:spPr>
          <a:xfrm>
            <a:off x="1545336" y="2720340"/>
            <a:ext cx="137160" cy="137160"/>
          </a:xfrm>
          <a:prstGeom prst="ellipse">
            <a:avLst/>
          </a:prstGeom>
          <a:solidFill>
            <a:srgbClr val="0F6B3C"/>
          </a:solidFill>
          <a:ln w="12700">
            <a:solidFill>
              <a:srgbClr val="333333"/>
            </a:solidFill>
            <a:prstDash val="solid"/>
          </a:ln>
        </p:spPr>
      </p:sp>
      <p:sp>
        <p:nvSpPr>
          <p:cNvPr id="11" name="Shape 9"/>
          <p:cNvSpPr/>
          <p:nvPr/>
        </p:nvSpPr>
        <p:spPr>
          <a:xfrm>
            <a:off x="1956816" y="2948940"/>
            <a:ext cx="137160" cy="137160"/>
          </a:xfrm>
          <a:prstGeom prst="ellipse">
            <a:avLst/>
          </a:prstGeom>
          <a:solidFill>
            <a:srgbClr val="0F6B3C"/>
          </a:solidFill>
          <a:ln w="12700">
            <a:solidFill>
              <a:srgbClr val="333333"/>
            </a:solidFill>
            <a:prstDash val="solid"/>
          </a:ln>
        </p:spPr>
      </p:sp>
      <p:sp>
        <p:nvSpPr>
          <p:cNvPr id="12" name="Shape 10"/>
          <p:cNvSpPr/>
          <p:nvPr/>
        </p:nvSpPr>
        <p:spPr>
          <a:xfrm>
            <a:off x="2368296" y="2491740"/>
            <a:ext cx="137160" cy="137160"/>
          </a:xfrm>
          <a:prstGeom prst="ellipse">
            <a:avLst/>
          </a:prstGeom>
          <a:solidFill>
            <a:srgbClr val="0F6B3C"/>
          </a:solidFill>
          <a:ln w="12700">
            <a:solidFill>
              <a:srgbClr val="333333"/>
            </a:solidFill>
            <a:prstDash val="solid"/>
          </a:ln>
        </p:spPr>
      </p:sp>
      <p:sp>
        <p:nvSpPr>
          <p:cNvPr id="13" name="Shape 11"/>
          <p:cNvSpPr/>
          <p:nvPr/>
        </p:nvSpPr>
        <p:spPr>
          <a:xfrm>
            <a:off x="2779776" y="2674620"/>
            <a:ext cx="137160" cy="137160"/>
          </a:xfrm>
          <a:prstGeom prst="ellipse">
            <a:avLst/>
          </a:prstGeom>
          <a:solidFill>
            <a:srgbClr val="0F6B3C"/>
          </a:solidFill>
          <a:ln w="12700">
            <a:solidFill>
              <a:srgbClr val="333333"/>
            </a:solidFill>
            <a:prstDash val="solid"/>
          </a:ln>
        </p:spPr>
      </p:sp>
      <p:sp>
        <p:nvSpPr>
          <p:cNvPr id="14" name="Shape 12"/>
          <p:cNvSpPr/>
          <p:nvPr/>
        </p:nvSpPr>
        <p:spPr>
          <a:xfrm>
            <a:off x="3191256" y="2354580"/>
            <a:ext cx="137160" cy="137160"/>
          </a:xfrm>
          <a:prstGeom prst="ellipse">
            <a:avLst/>
          </a:prstGeom>
          <a:solidFill>
            <a:srgbClr val="0F6B3C"/>
          </a:solidFill>
          <a:ln w="12700">
            <a:solidFill>
              <a:srgbClr val="333333"/>
            </a:solidFill>
            <a:prstDash val="solid"/>
          </a:ln>
        </p:spPr>
      </p:sp>
      <p:sp>
        <p:nvSpPr>
          <p:cNvPr id="15" name="Shape 13"/>
          <p:cNvSpPr/>
          <p:nvPr/>
        </p:nvSpPr>
        <p:spPr>
          <a:xfrm>
            <a:off x="3561588" y="2537460"/>
            <a:ext cx="137160" cy="137160"/>
          </a:xfrm>
          <a:prstGeom prst="ellipse">
            <a:avLst/>
          </a:prstGeom>
          <a:solidFill>
            <a:srgbClr val="0F6B3C"/>
          </a:solidFill>
          <a:ln w="12700">
            <a:solidFill>
              <a:srgbClr val="333333"/>
            </a:solidFill>
            <a:prstDash val="solid"/>
          </a:ln>
        </p:spPr>
      </p:sp>
      <p:sp>
        <p:nvSpPr>
          <p:cNvPr id="16" name="Shape 14"/>
          <p:cNvSpPr/>
          <p:nvPr/>
        </p:nvSpPr>
        <p:spPr>
          <a:xfrm>
            <a:off x="822960" y="3913632"/>
            <a:ext cx="1371600" cy="329184"/>
          </a:xfrm>
          <a:prstGeom prst="roundRect">
            <a:avLst>
              <a:gd name="adj" fmla="val 22222"/>
            </a:avLst>
          </a:prstGeom>
          <a:solidFill>
            <a:srgbClr val="9C3B2E"/>
          </a:solidFill>
          <a:ln w="12700">
            <a:solidFill>
              <a:srgbClr val="333333"/>
            </a:solidFill>
            <a:prstDash val="solid"/>
          </a:ln>
        </p:spPr>
      </p:sp>
      <p:sp>
        <p:nvSpPr>
          <p:cNvPr id="17" name="Text 15"/>
          <p:cNvSpPr txBox="1"/>
          <p:nvPr/>
        </p:nvSpPr>
        <p:spPr>
          <a:xfrm>
            <a:off x="822960" y="391363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bias</a:t>
            </a:r>
            <a:endParaRPr lang="en-US" sz="1100" dirty="0"/>
          </a:p>
        </p:txBody>
      </p:sp>
      <p:sp>
        <p:nvSpPr>
          <p:cNvPr id="18" name="Text 16"/>
          <p:cNvSpPr txBox="1"/>
          <p:nvPr/>
        </p:nvSpPr>
        <p:spPr>
          <a:xfrm>
            <a:off x="822960" y="4370832"/>
            <a:ext cx="3035808" cy="137160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H is too simple — the model cannot capture the real pattern. High error on training AND test data.</a:t>
            </a:r>
            <a:endParaRPr lang="en-US" sz="1200" dirty="0"/>
          </a:p>
        </p:txBody>
      </p:sp>
      <p:sp>
        <p:nvSpPr>
          <p:cNvPr id="19" name="Shape 17"/>
          <p:cNvSpPr/>
          <p:nvPr/>
        </p:nvSpPr>
        <p:spPr>
          <a:xfrm>
            <a:off x="4297680" y="1600200"/>
            <a:ext cx="3566160" cy="434340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Text 18"/>
          <p:cNvSpPr txBox="1"/>
          <p:nvPr/>
        </p:nvSpPr>
        <p:spPr>
          <a:xfrm>
            <a:off x="4572000" y="1810512"/>
            <a:ext cx="3017520" cy="320040"/>
          </a:xfrm>
          <a:prstGeom prst="rect">
            <a:avLst/>
          </a:prstGeom>
          <a:noFill/>
          <a:ln/>
        </p:spPr>
        <p:txBody>
          <a:bodyPr wrap="square" lIns="0" tIns="0" rIns="0" bIns="0" rtlCol="0" anchor="ctr"/>
          <a:lstStyle/>
          <a:p>
            <a:pPr indent="0" marL="0">
              <a:buNone/>
            </a:pPr>
            <a:r>
              <a:rPr lang="en-US" sz="1250" b="1" spc="150" kern="0" dirty="0">
                <a:solidFill>
                  <a:srgbClr val="0E7C61"/>
                </a:solidFill>
                <a:latin typeface="Calibri" pitchFamily="34" charset="0"/>
                <a:ea typeface="Calibri" pitchFamily="34" charset="-122"/>
                <a:cs typeface="Calibri" pitchFamily="34" charset="-120"/>
              </a:rPr>
              <a:t>GOOD FIT</a:t>
            </a:r>
            <a:endParaRPr lang="en-US" sz="1250" dirty="0"/>
          </a:p>
        </p:txBody>
      </p:sp>
      <p:sp>
        <p:nvSpPr>
          <p:cNvPr id="21" name="Shape 19"/>
          <p:cNvSpPr/>
          <p:nvPr/>
        </p:nvSpPr>
        <p:spPr>
          <a:xfrm>
            <a:off x="4617720" y="2240280"/>
            <a:ext cx="0" cy="1417320"/>
          </a:xfrm>
          <a:prstGeom prst="line">
            <a:avLst/>
          </a:prstGeom>
          <a:noFill/>
          <a:ln w="15875">
            <a:solidFill>
              <a:srgbClr val="D9E3DB"/>
            </a:solidFill>
            <a:prstDash val="solid"/>
          </a:ln>
        </p:spPr>
      </p:sp>
      <p:sp>
        <p:nvSpPr>
          <p:cNvPr id="22" name="Shape 20"/>
          <p:cNvSpPr/>
          <p:nvPr/>
        </p:nvSpPr>
        <p:spPr>
          <a:xfrm>
            <a:off x="4617720" y="3657600"/>
            <a:ext cx="2926080" cy="0"/>
          </a:xfrm>
          <a:prstGeom prst="line">
            <a:avLst/>
          </a:prstGeom>
          <a:noFill/>
          <a:ln w="15875">
            <a:solidFill>
              <a:srgbClr val="D9E3DB"/>
            </a:solidFill>
            <a:prstDash val="solid"/>
          </a:ln>
        </p:spPr>
      </p:sp>
      <p:sp>
        <p:nvSpPr>
          <p:cNvPr id="23" name="Shape 21"/>
          <p:cNvSpPr/>
          <p:nvPr/>
        </p:nvSpPr>
        <p:spPr>
          <a:xfrm flipV="1">
            <a:off x="4951476" y="2944368"/>
            <a:ext cx="699516" cy="210312"/>
          </a:xfrm>
          <a:prstGeom prst="line">
            <a:avLst/>
          </a:prstGeom>
          <a:noFill/>
          <a:ln w="31750">
            <a:solidFill>
              <a:srgbClr val="0E7C61"/>
            </a:solidFill>
            <a:prstDash val="solid"/>
          </a:ln>
        </p:spPr>
      </p:sp>
      <p:sp>
        <p:nvSpPr>
          <p:cNvPr id="24" name="Shape 22"/>
          <p:cNvSpPr/>
          <p:nvPr/>
        </p:nvSpPr>
        <p:spPr>
          <a:xfrm flipV="1">
            <a:off x="5650992" y="2724912"/>
            <a:ext cx="740664" cy="219456"/>
          </a:xfrm>
          <a:prstGeom prst="line">
            <a:avLst/>
          </a:prstGeom>
          <a:noFill/>
          <a:ln w="31750">
            <a:solidFill>
              <a:srgbClr val="0E7C61"/>
            </a:solidFill>
            <a:prstDash val="solid"/>
          </a:ln>
        </p:spPr>
      </p:sp>
      <p:sp>
        <p:nvSpPr>
          <p:cNvPr id="25" name="Shape 23"/>
          <p:cNvSpPr/>
          <p:nvPr/>
        </p:nvSpPr>
        <p:spPr>
          <a:xfrm flipV="1">
            <a:off x="6391656" y="2560320"/>
            <a:ext cx="987552" cy="164592"/>
          </a:xfrm>
          <a:prstGeom prst="line">
            <a:avLst/>
          </a:prstGeom>
          <a:noFill/>
          <a:ln w="31750">
            <a:solidFill>
              <a:srgbClr val="0E7C61"/>
            </a:solidFill>
            <a:prstDash val="solid"/>
          </a:ln>
        </p:spPr>
      </p:sp>
      <p:sp>
        <p:nvSpPr>
          <p:cNvPr id="26" name="Shape 24"/>
          <p:cNvSpPr/>
          <p:nvPr/>
        </p:nvSpPr>
        <p:spPr>
          <a:xfrm>
            <a:off x="4882896" y="3177540"/>
            <a:ext cx="137160" cy="137160"/>
          </a:xfrm>
          <a:prstGeom prst="ellipse">
            <a:avLst/>
          </a:prstGeom>
          <a:solidFill>
            <a:srgbClr val="0F6B3C"/>
          </a:solidFill>
          <a:ln w="12700">
            <a:solidFill>
              <a:srgbClr val="333333"/>
            </a:solidFill>
            <a:prstDash val="solid"/>
          </a:ln>
        </p:spPr>
      </p:sp>
      <p:sp>
        <p:nvSpPr>
          <p:cNvPr id="27" name="Shape 25"/>
          <p:cNvSpPr/>
          <p:nvPr/>
        </p:nvSpPr>
        <p:spPr>
          <a:xfrm>
            <a:off x="5294376" y="2720340"/>
            <a:ext cx="137160" cy="137160"/>
          </a:xfrm>
          <a:prstGeom prst="ellipse">
            <a:avLst/>
          </a:prstGeom>
          <a:solidFill>
            <a:srgbClr val="0F6B3C"/>
          </a:solidFill>
          <a:ln w="12700">
            <a:solidFill>
              <a:srgbClr val="333333"/>
            </a:solidFill>
            <a:prstDash val="solid"/>
          </a:ln>
        </p:spPr>
      </p:sp>
      <p:sp>
        <p:nvSpPr>
          <p:cNvPr id="28" name="Shape 26"/>
          <p:cNvSpPr/>
          <p:nvPr/>
        </p:nvSpPr>
        <p:spPr>
          <a:xfrm>
            <a:off x="5705856" y="2948940"/>
            <a:ext cx="137160" cy="137160"/>
          </a:xfrm>
          <a:prstGeom prst="ellipse">
            <a:avLst/>
          </a:prstGeom>
          <a:solidFill>
            <a:srgbClr val="0F6B3C"/>
          </a:solidFill>
          <a:ln w="12700">
            <a:solidFill>
              <a:srgbClr val="333333"/>
            </a:solidFill>
            <a:prstDash val="solid"/>
          </a:ln>
        </p:spPr>
      </p:sp>
      <p:sp>
        <p:nvSpPr>
          <p:cNvPr id="29" name="Shape 27"/>
          <p:cNvSpPr/>
          <p:nvPr/>
        </p:nvSpPr>
        <p:spPr>
          <a:xfrm>
            <a:off x="6117336" y="2491740"/>
            <a:ext cx="137160" cy="137160"/>
          </a:xfrm>
          <a:prstGeom prst="ellipse">
            <a:avLst/>
          </a:prstGeom>
          <a:solidFill>
            <a:srgbClr val="0F6B3C"/>
          </a:solidFill>
          <a:ln w="12700">
            <a:solidFill>
              <a:srgbClr val="333333"/>
            </a:solidFill>
            <a:prstDash val="solid"/>
          </a:ln>
        </p:spPr>
      </p:sp>
      <p:sp>
        <p:nvSpPr>
          <p:cNvPr id="30" name="Shape 28"/>
          <p:cNvSpPr/>
          <p:nvPr/>
        </p:nvSpPr>
        <p:spPr>
          <a:xfrm>
            <a:off x="6528816" y="2674620"/>
            <a:ext cx="137160" cy="137160"/>
          </a:xfrm>
          <a:prstGeom prst="ellipse">
            <a:avLst/>
          </a:prstGeom>
          <a:solidFill>
            <a:srgbClr val="0F6B3C"/>
          </a:solidFill>
          <a:ln w="12700">
            <a:solidFill>
              <a:srgbClr val="333333"/>
            </a:solidFill>
            <a:prstDash val="solid"/>
          </a:ln>
        </p:spPr>
      </p:sp>
      <p:sp>
        <p:nvSpPr>
          <p:cNvPr id="31" name="Shape 29"/>
          <p:cNvSpPr/>
          <p:nvPr/>
        </p:nvSpPr>
        <p:spPr>
          <a:xfrm>
            <a:off x="6940296" y="2354580"/>
            <a:ext cx="137160" cy="137160"/>
          </a:xfrm>
          <a:prstGeom prst="ellipse">
            <a:avLst/>
          </a:prstGeom>
          <a:solidFill>
            <a:srgbClr val="0F6B3C"/>
          </a:solidFill>
          <a:ln w="12700">
            <a:solidFill>
              <a:srgbClr val="333333"/>
            </a:solidFill>
            <a:prstDash val="solid"/>
          </a:ln>
        </p:spPr>
      </p:sp>
      <p:sp>
        <p:nvSpPr>
          <p:cNvPr id="32" name="Shape 30"/>
          <p:cNvSpPr/>
          <p:nvPr/>
        </p:nvSpPr>
        <p:spPr>
          <a:xfrm>
            <a:off x="7310628" y="2537460"/>
            <a:ext cx="137160" cy="137160"/>
          </a:xfrm>
          <a:prstGeom prst="ellipse">
            <a:avLst/>
          </a:prstGeom>
          <a:solidFill>
            <a:srgbClr val="0F6B3C"/>
          </a:solidFill>
          <a:ln w="12700">
            <a:solidFill>
              <a:srgbClr val="333333"/>
            </a:solidFill>
            <a:prstDash val="solid"/>
          </a:ln>
        </p:spPr>
      </p:sp>
      <p:sp>
        <p:nvSpPr>
          <p:cNvPr id="33" name="Shape 31"/>
          <p:cNvSpPr/>
          <p:nvPr/>
        </p:nvSpPr>
        <p:spPr>
          <a:xfrm>
            <a:off x="4572000" y="3913632"/>
            <a:ext cx="1371600" cy="329184"/>
          </a:xfrm>
          <a:prstGeom prst="roundRect">
            <a:avLst>
              <a:gd name="adj" fmla="val 22222"/>
            </a:avLst>
          </a:prstGeom>
          <a:solidFill>
            <a:srgbClr val="0E7C61"/>
          </a:solidFill>
          <a:ln w="12700">
            <a:solidFill>
              <a:srgbClr val="333333"/>
            </a:solidFill>
            <a:prstDash val="solid"/>
          </a:ln>
        </p:spPr>
      </p:sp>
      <p:sp>
        <p:nvSpPr>
          <p:cNvPr id="34" name="Text 32"/>
          <p:cNvSpPr txBox="1"/>
          <p:nvPr/>
        </p:nvSpPr>
        <p:spPr>
          <a:xfrm>
            <a:off x="4572000" y="391363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Balanced</a:t>
            </a:r>
            <a:endParaRPr lang="en-US" sz="1100" dirty="0"/>
          </a:p>
        </p:txBody>
      </p:sp>
      <p:sp>
        <p:nvSpPr>
          <p:cNvPr id="35" name="Text 33"/>
          <p:cNvSpPr txBox="1"/>
          <p:nvPr/>
        </p:nvSpPr>
        <p:spPr>
          <a:xfrm>
            <a:off x="4572000" y="4370832"/>
            <a:ext cx="3035808" cy="137160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H has the right flexibility. The model tracks the trend and ignores the noise. Errors are similar on both sets.</a:t>
            </a:r>
            <a:endParaRPr lang="en-US" sz="1200" dirty="0"/>
          </a:p>
        </p:txBody>
      </p:sp>
      <p:sp>
        <p:nvSpPr>
          <p:cNvPr id="36" name="Shape 34"/>
          <p:cNvSpPr/>
          <p:nvPr/>
        </p:nvSpPr>
        <p:spPr>
          <a:xfrm>
            <a:off x="8046720" y="1600200"/>
            <a:ext cx="3566160" cy="4343400"/>
          </a:xfrm>
          <a:prstGeom prst="roundRect">
            <a:avLst>
              <a:gd name="adj" fmla="val 3077"/>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7" name="Text 35"/>
          <p:cNvSpPr txBox="1"/>
          <p:nvPr/>
        </p:nvSpPr>
        <p:spPr>
          <a:xfrm>
            <a:off x="8321040" y="1810512"/>
            <a:ext cx="3017520" cy="320040"/>
          </a:xfrm>
          <a:prstGeom prst="rect">
            <a:avLst/>
          </a:prstGeom>
          <a:noFill/>
          <a:ln/>
        </p:spPr>
        <p:txBody>
          <a:bodyPr wrap="square" lIns="0" tIns="0" rIns="0" bIns="0" rtlCol="0" anchor="ctr"/>
          <a:lstStyle/>
          <a:p>
            <a:pPr indent="0" marL="0">
              <a:buNone/>
            </a:pPr>
            <a:r>
              <a:rPr lang="en-US" sz="1250" b="1" spc="150" kern="0" dirty="0">
                <a:solidFill>
                  <a:srgbClr val="C9A227"/>
                </a:solidFill>
                <a:latin typeface="Calibri" pitchFamily="34" charset="0"/>
                <a:ea typeface="Calibri" pitchFamily="34" charset="-122"/>
                <a:cs typeface="Calibri" pitchFamily="34" charset="-120"/>
              </a:rPr>
              <a:t>OVERFITTING</a:t>
            </a:r>
            <a:endParaRPr lang="en-US" sz="1250" dirty="0"/>
          </a:p>
        </p:txBody>
      </p:sp>
      <p:sp>
        <p:nvSpPr>
          <p:cNvPr id="38" name="Shape 36"/>
          <p:cNvSpPr/>
          <p:nvPr/>
        </p:nvSpPr>
        <p:spPr>
          <a:xfrm>
            <a:off x="8366760" y="2240280"/>
            <a:ext cx="0" cy="1417320"/>
          </a:xfrm>
          <a:prstGeom prst="line">
            <a:avLst/>
          </a:prstGeom>
          <a:noFill/>
          <a:ln w="15875">
            <a:solidFill>
              <a:srgbClr val="D9E3DB"/>
            </a:solidFill>
            <a:prstDash val="solid"/>
          </a:ln>
        </p:spPr>
      </p:sp>
      <p:sp>
        <p:nvSpPr>
          <p:cNvPr id="39" name="Shape 37"/>
          <p:cNvSpPr/>
          <p:nvPr/>
        </p:nvSpPr>
        <p:spPr>
          <a:xfrm>
            <a:off x="8366760" y="3657600"/>
            <a:ext cx="2926080" cy="0"/>
          </a:xfrm>
          <a:prstGeom prst="line">
            <a:avLst/>
          </a:prstGeom>
          <a:noFill/>
          <a:ln w="15875">
            <a:solidFill>
              <a:srgbClr val="D9E3DB"/>
            </a:solidFill>
            <a:prstDash val="solid"/>
          </a:ln>
        </p:spPr>
      </p:sp>
      <p:sp>
        <p:nvSpPr>
          <p:cNvPr id="40" name="Shape 38"/>
          <p:cNvSpPr/>
          <p:nvPr/>
        </p:nvSpPr>
        <p:spPr>
          <a:xfrm flipV="1">
            <a:off x="8700516" y="2788920"/>
            <a:ext cx="411480" cy="457200"/>
          </a:xfrm>
          <a:prstGeom prst="line">
            <a:avLst/>
          </a:prstGeom>
          <a:noFill/>
          <a:ln w="31750">
            <a:solidFill>
              <a:srgbClr val="C9A227"/>
            </a:solidFill>
            <a:prstDash val="solid"/>
          </a:ln>
        </p:spPr>
      </p:sp>
      <p:sp>
        <p:nvSpPr>
          <p:cNvPr id="41" name="Shape 39"/>
          <p:cNvSpPr/>
          <p:nvPr/>
        </p:nvSpPr>
        <p:spPr>
          <a:xfrm>
            <a:off x="9111996" y="2788920"/>
            <a:ext cx="411480" cy="228600"/>
          </a:xfrm>
          <a:prstGeom prst="line">
            <a:avLst/>
          </a:prstGeom>
          <a:noFill/>
          <a:ln w="31750">
            <a:solidFill>
              <a:srgbClr val="C9A227"/>
            </a:solidFill>
            <a:prstDash val="solid"/>
          </a:ln>
        </p:spPr>
      </p:sp>
      <p:sp>
        <p:nvSpPr>
          <p:cNvPr id="42" name="Shape 40"/>
          <p:cNvSpPr/>
          <p:nvPr/>
        </p:nvSpPr>
        <p:spPr>
          <a:xfrm flipV="1">
            <a:off x="9523476" y="2560320"/>
            <a:ext cx="411480" cy="457200"/>
          </a:xfrm>
          <a:prstGeom prst="line">
            <a:avLst/>
          </a:prstGeom>
          <a:noFill/>
          <a:ln w="31750">
            <a:solidFill>
              <a:srgbClr val="C9A227"/>
            </a:solidFill>
            <a:prstDash val="solid"/>
          </a:ln>
        </p:spPr>
      </p:sp>
      <p:sp>
        <p:nvSpPr>
          <p:cNvPr id="43" name="Shape 41"/>
          <p:cNvSpPr/>
          <p:nvPr/>
        </p:nvSpPr>
        <p:spPr>
          <a:xfrm>
            <a:off x="9934956" y="2560320"/>
            <a:ext cx="411480" cy="182880"/>
          </a:xfrm>
          <a:prstGeom prst="line">
            <a:avLst/>
          </a:prstGeom>
          <a:noFill/>
          <a:ln w="31750">
            <a:solidFill>
              <a:srgbClr val="C9A227"/>
            </a:solidFill>
            <a:prstDash val="solid"/>
          </a:ln>
        </p:spPr>
      </p:sp>
      <p:sp>
        <p:nvSpPr>
          <p:cNvPr id="44" name="Shape 42"/>
          <p:cNvSpPr/>
          <p:nvPr/>
        </p:nvSpPr>
        <p:spPr>
          <a:xfrm flipV="1">
            <a:off x="10346436" y="2423160"/>
            <a:ext cx="411480" cy="320040"/>
          </a:xfrm>
          <a:prstGeom prst="line">
            <a:avLst/>
          </a:prstGeom>
          <a:noFill/>
          <a:ln w="31750">
            <a:solidFill>
              <a:srgbClr val="C9A227"/>
            </a:solidFill>
            <a:prstDash val="solid"/>
          </a:ln>
        </p:spPr>
      </p:sp>
      <p:sp>
        <p:nvSpPr>
          <p:cNvPr id="45" name="Shape 43"/>
          <p:cNvSpPr/>
          <p:nvPr/>
        </p:nvSpPr>
        <p:spPr>
          <a:xfrm>
            <a:off x="10757916" y="2423160"/>
            <a:ext cx="370332" cy="182880"/>
          </a:xfrm>
          <a:prstGeom prst="line">
            <a:avLst/>
          </a:prstGeom>
          <a:noFill/>
          <a:ln w="31750">
            <a:solidFill>
              <a:srgbClr val="C9A227"/>
            </a:solidFill>
            <a:prstDash val="solid"/>
          </a:ln>
        </p:spPr>
      </p:sp>
      <p:sp>
        <p:nvSpPr>
          <p:cNvPr id="46" name="Shape 44"/>
          <p:cNvSpPr/>
          <p:nvPr/>
        </p:nvSpPr>
        <p:spPr>
          <a:xfrm>
            <a:off x="8631936" y="3177540"/>
            <a:ext cx="137160" cy="137160"/>
          </a:xfrm>
          <a:prstGeom prst="ellipse">
            <a:avLst/>
          </a:prstGeom>
          <a:solidFill>
            <a:srgbClr val="0F6B3C"/>
          </a:solidFill>
          <a:ln w="12700">
            <a:solidFill>
              <a:srgbClr val="333333"/>
            </a:solidFill>
            <a:prstDash val="solid"/>
          </a:ln>
        </p:spPr>
      </p:sp>
      <p:sp>
        <p:nvSpPr>
          <p:cNvPr id="47" name="Shape 45"/>
          <p:cNvSpPr/>
          <p:nvPr/>
        </p:nvSpPr>
        <p:spPr>
          <a:xfrm>
            <a:off x="9043416" y="2720340"/>
            <a:ext cx="137160" cy="137160"/>
          </a:xfrm>
          <a:prstGeom prst="ellipse">
            <a:avLst/>
          </a:prstGeom>
          <a:solidFill>
            <a:srgbClr val="0F6B3C"/>
          </a:solidFill>
          <a:ln w="12700">
            <a:solidFill>
              <a:srgbClr val="333333"/>
            </a:solidFill>
            <a:prstDash val="solid"/>
          </a:ln>
        </p:spPr>
      </p:sp>
      <p:sp>
        <p:nvSpPr>
          <p:cNvPr id="48" name="Shape 46"/>
          <p:cNvSpPr/>
          <p:nvPr/>
        </p:nvSpPr>
        <p:spPr>
          <a:xfrm>
            <a:off x="9454896" y="2948940"/>
            <a:ext cx="137160" cy="137160"/>
          </a:xfrm>
          <a:prstGeom prst="ellipse">
            <a:avLst/>
          </a:prstGeom>
          <a:solidFill>
            <a:srgbClr val="0F6B3C"/>
          </a:solidFill>
          <a:ln w="12700">
            <a:solidFill>
              <a:srgbClr val="333333"/>
            </a:solidFill>
            <a:prstDash val="solid"/>
          </a:ln>
        </p:spPr>
      </p:sp>
      <p:sp>
        <p:nvSpPr>
          <p:cNvPr id="49" name="Shape 47"/>
          <p:cNvSpPr/>
          <p:nvPr/>
        </p:nvSpPr>
        <p:spPr>
          <a:xfrm>
            <a:off x="9866376" y="2491740"/>
            <a:ext cx="137160" cy="137160"/>
          </a:xfrm>
          <a:prstGeom prst="ellipse">
            <a:avLst/>
          </a:prstGeom>
          <a:solidFill>
            <a:srgbClr val="0F6B3C"/>
          </a:solidFill>
          <a:ln w="12700">
            <a:solidFill>
              <a:srgbClr val="333333"/>
            </a:solidFill>
            <a:prstDash val="solid"/>
          </a:ln>
        </p:spPr>
      </p:sp>
      <p:sp>
        <p:nvSpPr>
          <p:cNvPr id="50" name="Shape 48"/>
          <p:cNvSpPr/>
          <p:nvPr/>
        </p:nvSpPr>
        <p:spPr>
          <a:xfrm>
            <a:off x="10277856" y="2674620"/>
            <a:ext cx="137160" cy="137160"/>
          </a:xfrm>
          <a:prstGeom prst="ellipse">
            <a:avLst/>
          </a:prstGeom>
          <a:solidFill>
            <a:srgbClr val="0F6B3C"/>
          </a:solidFill>
          <a:ln w="12700">
            <a:solidFill>
              <a:srgbClr val="333333"/>
            </a:solidFill>
            <a:prstDash val="solid"/>
          </a:ln>
        </p:spPr>
      </p:sp>
      <p:sp>
        <p:nvSpPr>
          <p:cNvPr id="51" name="Shape 49"/>
          <p:cNvSpPr/>
          <p:nvPr/>
        </p:nvSpPr>
        <p:spPr>
          <a:xfrm>
            <a:off x="10689336" y="2354580"/>
            <a:ext cx="137160" cy="137160"/>
          </a:xfrm>
          <a:prstGeom prst="ellipse">
            <a:avLst/>
          </a:prstGeom>
          <a:solidFill>
            <a:srgbClr val="0F6B3C"/>
          </a:solidFill>
          <a:ln w="12700">
            <a:solidFill>
              <a:srgbClr val="333333"/>
            </a:solidFill>
            <a:prstDash val="solid"/>
          </a:ln>
        </p:spPr>
      </p:sp>
      <p:sp>
        <p:nvSpPr>
          <p:cNvPr id="52" name="Shape 50"/>
          <p:cNvSpPr/>
          <p:nvPr/>
        </p:nvSpPr>
        <p:spPr>
          <a:xfrm>
            <a:off x="11059668" y="2537460"/>
            <a:ext cx="137160" cy="137160"/>
          </a:xfrm>
          <a:prstGeom prst="ellipse">
            <a:avLst/>
          </a:prstGeom>
          <a:solidFill>
            <a:srgbClr val="0F6B3C"/>
          </a:solidFill>
          <a:ln w="12700">
            <a:solidFill>
              <a:srgbClr val="333333"/>
            </a:solidFill>
            <a:prstDash val="solid"/>
          </a:ln>
        </p:spPr>
      </p:sp>
      <p:sp>
        <p:nvSpPr>
          <p:cNvPr id="53" name="Shape 51"/>
          <p:cNvSpPr/>
          <p:nvPr/>
        </p:nvSpPr>
        <p:spPr>
          <a:xfrm>
            <a:off x="8321040" y="3913632"/>
            <a:ext cx="1371600" cy="329184"/>
          </a:xfrm>
          <a:prstGeom prst="roundRect">
            <a:avLst>
              <a:gd name="adj" fmla="val 22222"/>
            </a:avLst>
          </a:prstGeom>
          <a:solidFill>
            <a:srgbClr val="C9A227"/>
          </a:solidFill>
          <a:ln w="12700">
            <a:solidFill>
              <a:srgbClr val="333333"/>
            </a:solidFill>
            <a:prstDash val="solid"/>
          </a:ln>
        </p:spPr>
      </p:sp>
      <p:sp>
        <p:nvSpPr>
          <p:cNvPr id="54" name="Text 52"/>
          <p:cNvSpPr txBox="1"/>
          <p:nvPr/>
        </p:nvSpPr>
        <p:spPr>
          <a:xfrm>
            <a:off x="8321040" y="391363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variance</a:t>
            </a:r>
            <a:endParaRPr lang="en-US" sz="1100" dirty="0"/>
          </a:p>
        </p:txBody>
      </p:sp>
      <p:sp>
        <p:nvSpPr>
          <p:cNvPr id="55" name="Text 53"/>
          <p:cNvSpPr txBox="1"/>
          <p:nvPr/>
        </p:nvSpPr>
        <p:spPr>
          <a:xfrm>
            <a:off x="8321040" y="4370832"/>
            <a:ext cx="3035808" cy="137160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H is too flexible — the model traces every point, including the noise. Near-zero training error, poor test error.</a:t>
            </a:r>
            <a:endParaRPr lang="en-US" sz="1200" dirty="0"/>
          </a:p>
        </p:txBody>
      </p:sp>
      <p:sp>
        <p:nvSpPr>
          <p:cNvPr id="57" name="Text 5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58" name="Text 5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33</a:t>
            </a:r>
            <a:endParaRPr lang="en-US" sz="900" dirty="0"/>
          </a:p>
        </p:txBody>
      </p:sp>
      <p:pic>
        <p:nvPicPr>
          <p:cNvPr id="59" name="Picture 5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TRAINING ERROR VS VALIDATION ERROR</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Curve Every Practitioner Watches</a:t>
            </a:r>
            <a:endParaRPr lang="en-US" sz="3000" dirty="0"/>
          </a:p>
        </p:txBody>
      </p:sp>
      <p:graphicFrame>
        <p:nvGraphicFramePr>
          <p:cNvPr id="4" name="Chart 0" descr=""/>
          <p:cNvGraphicFramePr/>
          <p:nvPr/>
        </p:nvGraphicFramePr>
        <p:xfrm>
          <a:off x="457200" y="1600200"/>
          <a:ext cx="694944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600200"/>
            <a:ext cx="3931920" cy="1965960"/>
          </a:xfrm>
          <a:prstGeom prst="roundRect">
            <a:avLst>
              <a:gd name="adj" fmla="val 5581"/>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6" name="Text 3"/>
          <p:cNvSpPr txBox="1"/>
          <p:nvPr/>
        </p:nvSpPr>
        <p:spPr>
          <a:xfrm>
            <a:off x="7955280" y="1783080"/>
            <a:ext cx="3429000" cy="320040"/>
          </a:xfrm>
          <a:prstGeom prst="rect">
            <a:avLst/>
          </a:prstGeom>
          <a:noFill/>
          <a:ln/>
        </p:spPr>
        <p:txBody>
          <a:bodyPr wrap="square" lIns="0" tIns="0" rIns="0" bIns="0" rtlCol="0" anchor="ctr"/>
          <a:lstStyle/>
          <a:p>
            <a:pPr indent="0" marL="0">
              <a:buNone/>
            </a:pPr>
            <a:r>
              <a:rPr lang="en-US" sz="1600" b="1" dirty="0">
                <a:solidFill>
                  <a:srgbClr val="0E7C61"/>
                </a:solidFill>
                <a:latin typeface="Cambria" pitchFamily="34" charset="0"/>
                <a:ea typeface="Cambria" pitchFamily="34" charset="-122"/>
                <a:cs typeface="Cambria" pitchFamily="34" charset="-120"/>
              </a:rPr>
              <a:t>Read it left to right</a:t>
            </a:r>
            <a:endParaRPr lang="en-US" sz="1600" dirty="0"/>
          </a:p>
        </p:txBody>
      </p:sp>
      <p:sp>
        <p:nvSpPr>
          <p:cNvPr id="7" name="Text 4"/>
          <p:cNvSpPr txBox="1"/>
          <p:nvPr/>
        </p:nvSpPr>
        <p:spPr>
          <a:xfrm>
            <a:off x="7955280" y="2148840"/>
            <a:ext cx="3429000" cy="128016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Early on, both errors fall — the model is learning real structure. This region is underfitting.</a:t>
            </a:r>
            <a:endParaRPr lang="en-US" sz="1250" dirty="0"/>
          </a:p>
        </p:txBody>
      </p:sp>
      <p:sp>
        <p:nvSpPr>
          <p:cNvPr id="8" name="Shape 5"/>
          <p:cNvSpPr/>
          <p:nvPr/>
        </p:nvSpPr>
        <p:spPr>
          <a:xfrm>
            <a:off x="7680960" y="3703320"/>
            <a:ext cx="3931920" cy="1097280"/>
          </a:xfrm>
          <a:prstGeom prst="roundRect">
            <a:avLst>
              <a:gd name="adj" fmla="val 10000"/>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9" name="Text 6"/>
          <p:cNvSpPr txBox="1"/>
          <p:nvPr/>
        </p:nvSpPr>
        <p:spPr>
          <a:xfrm>
            <a:off x="7955280" y="3840480"/>
            <a:ext cx="3429000" cy="292608"/>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The sweet spot</a:t>
            </a:r>
            <a:endParaRPr lang="en-US" sz="1500" dirty="0"/>
          </a:p>
        </p:txBody>
      </p:sp>
      <p:sp>
        <p:nvSpPr>
          <p:cNvPr id="10" name="Text 7"/>
          <p:cNvSpPr txBox="1"/>
          <p:nvPr/>
        </p:nvSpPr>
        <p:spPr>
          <a:xfrm>
            <a:off x="7955280" y="4142232"/>
            <a:ext cx="3429000" cy="5486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Where validation error bottoms out. Stop here — this is early stopping.</a:t>
            </a:r>
            <a:endParaRPr lang="en-US" sz="1200" dirty="0"/>
          </a:p>
        </p:txBody>
      </p:sp>
      <p:sp>
        <p:nvSpPr>
          <p:cNvPr id="11" name="Shape 8"/>
          <p:cNvSpPr/>
          <p:nvPr/>
        </p:nvSpPr>
        <p:spPr>
          <a:xfrm>
            <a:off x="7680960" y="4937760"/>
            <a:ext cx="3931920" cy="1097280"/>
          </a:xfrm>
          <a:prstGeom prst="roundRect">
            <a:avLst>
              <a:gd name="adj" fmla="val 10000"/>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2" name="Text 9"/>
          <p:cNvSpPr txBox="1"/>
          <p:nvPr/>
        </p:nvSpPr>
        <p:spPr>
          <a:xfrm>
            <a:off x="7955280" y="5074920"/>
            <a:ext cx="3429000" cy="292608"/>
          </a:xfrm>
          <a:prstGeom prst="rect">
            <a:avLst/>
          </a:prstGeom>
          <a:noFill/>
          <a:ln/>
        </p:spPr>
        <p:txBody>
          <a:bodyPr wrap="square" lIns="0" tIns="0" rIns="0" bIns="0" rtlCol="0" anchor="ctr"/>
          <a:lstStyle/>
          <a:p>
            <a:pPr indent="0" marL="0">
              <a:buNone/>
            </a:pPr>
            <a:r>
              <a:rPr lang="en-US" sz="1500" b="1" dirty="0">
                <a:solidFill>
                  <a:srgbClr val="9C3B2E"/>
                </a:solidFill>
                <a:latin typeface="Cambria" pitchFamily="34" charset="0"/>
                <a:ea typeface="Cambria" pitchFamily="34" charset="-122"/>
                <a:cs typeface="Cambria" pitchFamily="34" charset="-120"/>
              </a:rPr>
              <a:t>The danger zone</a:t>
            </a:r>
            <a:endParaRPr lang="en-US" sz="1500" dirty="0"/>
          </a:p>
        </p:txBody>
      </p:sp>
      <p:sp>
        <p:nvSpPr>
          <p:cNvPr id="13" name="Text 10"/>
          <p:cNvSpPr txBox="1"/>
          <p:nvPr/>
        </p:nvSpPr>
        <p:spPr>
          <a:xfrm>
            <a:off x="7955280" y="5376672"/>
            <a:ext cx="3429000" cy="5486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Training error keeps falling while validation error climbs. Textbook overfitting.</a:t>
            </a:r>
            <a:endParaRPr lang="en-US" sz="1200" dirty="0"/>
          </a:p>
        </p:txBody>
      </p:sp>
      <p:sp>
        <p:nvSpPr>
          <p:cNvPr id="15" name="Text 11"/>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6" name="Text 12"/>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34</a:t>
            </a:r>
            <a:endParaRPr lang="en-US" sz="900" dirty="0"/>
          </a:p>
        </p:txBody>
      </p:sp>
      <p:pic>
        <p:nvPicPr>
          <p:cNvPr id="17" name="Picture 16" descr="must_logo.png"/>
          <p:cNvPicPr>
            <a:picLocks noChangeAspect="1"/>
          </p:cNvPicPr>
          <p:nvPr/>
        </p:nvPicPr>
        <p:blipFill>
          <a:blip r:embed="rId4"/>
          <a:stretch>
            <a:fillRect/>
          </a:stretch>
        </p:blipFill>
        <p:spPr>
          <a:xfrm>
            <a:off x="11016642" y="274320"/>
            <a:ext cx="699565" cy="65836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WHY YOU CANNOT HAVE EVERYTHING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Bias–Variance Trade-off</a:t>
            </a:r>
            <a:endParaRPr lang="en-US" sz="3000" dirty="0"/>
          </a:p>
        </p:txBody>
      </p:sp>
      <p:sp>
        <p:nvSpPr>
          <p:cNvPr id="4" name="Shape 2"/>
          <p:cNvSpPr/>
          <p:nvPr/>
        </p:nvSpPr>
        <p:spPr>
          <a:xfrm>
            <a:off x="548640" y="1600200"/>
            <a:ext cx="2697480" cy="324612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1211580" y="2103120"/>
            <a:ext cx="1371600" cy="1371600"/>
          </a:xfrm>
          <a:prstGeom prst="ellipse">
            <a:avLst/>
          </a:prstGeom>
          <a:solidFill>
            <a:srgbClr val="E9F0EA"/>
          </a:solidFill>
          <a:ln w="12700">
            <a:solidFill>
              <a:srgbClr val="FFFFFF"/>
            </a:solidFill>
            <a:prstDash val="solid"/>
          </a:ln>
        </p:spPr>
      </p:sp>
      <p:sp>
        <p:nvSpPr>
          <p:cNvPr id="6" name="Shape 4"/>
          <p:cNvSpPr/>
          <p:nvPr/>
        </p:nvSpPr>
        <p:spPr>
          <a:xfrm>
            <a:off x="1440180" y="2331720"/>
            <a:ext cx="914400" cy="914400"/>
          </a:xfrm>
          <a:prstGeom prst="ellipse">
            <a:avLst/>
          </a:prstGeom>
          <a:solidFill>
            <a:srgbClr val="C9DFCF"/>
          </a:solidFill>
          <a:ln w="12700">
            <a:solidFill>
              <a:srgbClr val="FFFFFF"/>
            </a:solidFill>
            <a:prstDash val="solid"/>
          </a:ln>
        </p:spPr>
      </p:sp>
      <p:sp>
        <p:nvSpPr>
          <p:cNvPr id="7" name="Shape 5"/>
          <p:cNvSpPr/>
          <p:nvPr/>
        </p:nvSpPr>
        <p:spPr>
          <a:xfrm>
            <a:off x="1668780" y="2560320"/>
            <a:ext cx="457200" cy="457200"/>
          </a:xfrm>
          <a:prstGeom prst="ellipse">
            <a:avLst/>
          </a:prstGeom>
          <a:solidFill>
            <a:srgbClr val="0F6B3C"/>
          </a:solidFill>
          <a:ln w="12700">
            <a:solidFill>
              <a:srgbClr val="FFFFFF"/>
            </a:solidFill>
            <a:prstDash val="solid"/>
          </a:ln>
        </p:spPr>
      </p:sp>
      <p:sp>
        <p:nvSpPr>
          <p:cNvPr id="8" name="Shape 6"/>
          <p:cNvSpPr/>
          <p:nvPr/>
        </p:nvSpPr>
        <p:spPr>
          <a:xfrm>
            <a:off x="1824228" y="2715768"/>
            <a:ext cx="146304" cy="146304"/>
          </a:xfrm>
          <a:prstGeom prst="ellipse">
            <a:avLst/>
          </a:prstGeom>
          <a:solidFill>
            <a:srgbClr val="0E7C61"/>
          </a:solidFill>
          <a:ln w="12700">
            <a:solidFill>
              <a:srgbClr val="333333"/>
            </a:solidFill>
            <a:prstDash val="solid"/>
          </a:ln>
        </p:spPr>
      </p:sp>
      <p:sp>
        <p:nvSpPr>
          <p:cNvPr id="9" name="Shape 7"/>
          <p:cNvSpPr/>
          <p:nvPr/>
        </p:nvSpPr>
        <p:spPr>
          <a:xfrm>
            <a:off x="1897380" y="2761488"/>
            <a:ext cx="146304" cy="146304"/>
          </a:xfrm>
          <a:prstGeom prst="ellipse">
            <a:avLst/>
          </a:prstGeom>
          <a:solidFill>
            <a:srgbClr val="0E7C61"/>
          </a:solidFill>
          <a:ln w="12700">
            <a:solidFill>
              <a:srgbClr val="333333"/>
            </a:solidFill>
            <a:prstDash val="solid"/>
          </a:ln>
        </p:spPr>
      </p:sp>
      <p:sp>
        <p:nvSpPr>
          <p:cNvPr id="10" name="Shape 8"/>
          <p:cNvSpPr/>
          <p:nvPr/>
        </p:nvSpPr>
        <p:spPr>
          <a:xfrm>
            <a:off x="1769364" y="2779776"/>
            <a:ext cx="146304" cy="146304"/>
          </a:xfrm>
          <a:prstGeom prst="ellipse">
            <a:avLst/>
          </a:prstGeom>
          <a:solidFill>
            <a:srgbClr val="0E7C61"/>
          </a:solidFill>
          <a:ln w="12700">
            <a:solidFill>
              <a:srgbClr val="333333"/>
            </a:solidFill>
            <a:prstDash val="solid"/>
          </a:ln>
        </p:spPr>
      </p:sp>
      <p:sp>
        <p:nvSpPr>
          <p:cNvPr id="11" name="Shape 9"/>
          <p:cNvSpPr/>
          <p:nvPr/>
        </p:nvSpPr>
        <p:spPr>
          <a:xfrm>
            <a:off x="1860804" y="2642616"/>
            <a:ext cx="146304" cy="146304"/>
          </a:xfrm>
          <a:prstGeom prst="ellipse">
            <a:avLst/>
          </a:prstGeom>
          <a:solidFill>
            <a:srgbClr val="0E7C61"/>
          </a:solidFill>
          <a:ln w="12700">
            <a:solidFill>
              <a:srgbClr val="333333"/>
            </a:solidFill>
            <a:prstDash val="solid"/>
          </a:ln>
        </p:spPr>
      </p:sp>
      <p:sp>
        <p:nvSpPr>
          <p:cNvPr id="12" name="Text 10"/>
          <p:cNvSpPr txBox="1"/>
          <p:nvPr/>
        </p:nvSpPr>
        <p:spPr>
          <a:xfrm>
            <a:off x="777240" y="3703320"/>
            <a:ext cx="2240280" cy="548640"/>
          </a:xfrm>
          <a:prstGeom prst="rect">
            <a:avLst/>
          </a:prstGeom>
          <a:noFill/>
          <a:ln/>
        </p:spPr>
        <p:txBody>
          <a:bodyPr wrap="square" lIns="0" tIns="0" rIns="0" bIns="0" rtlCol="0" anchor="ctr"/>
          <a:lstStyle/>
          <a:p>
            <a:pPr algn="ctr" indent="0" marL="0">
              <a:lnSpc>
                <a:spcPts val="1600"/>
              </a:lnSpc>
              <a:buNone/>
            </a:pPr>
            <a:r>
              <a:rPr lang="en-US" sz="1250" b="1" dirty="0">
                <a:solidFill>
                  <a:srgbClr val="0F6B3C"/>
                </a:solidFill>
                <a:latin typeface="Calibri" pitchFamily="34" charset="0"/>
                <a:ea typeface="Calibri" pitchFamily="34" charset="-122"/>
                <a:cs typeface="Calibri" pitchFamily="34" charset="-120"/>
              </a:rPr>
              <a:t>Low bias, low variance</a:t>
            </a:r>
            <a:endParaRPr lang="en-US" sz="1250" dirty="0"/>
          </a:p>
        </p:txBody>
      </p:sp>
      <p:sp>
        <p:nvSpPr>
          <p:cNvPr id="13" name="Text 11"/>
          <p:cNvSpPr txBox="1"/>
          <p:nvPr/>
        </p:nvSpPr>
        <p:spPr>
          <a:xfrm>
            <a:off x="777240" y="4297680"/>
            <a:ext cx="2240280" cy="320040"/>
          </a:xfrm>
          <a:prstGeom prst="rect">
            <a:avLst/>
          </a:prstGeom>
          <a:noFill/>
          <a:ln/>
        </p:spPr>
        <p:txBody>
          <a:bodyPr wrap="square" lIns="0" tIns="0" rIns="0" bIns="0" rtlCol="0" anchor="ctr"/>
          <a:lstStyle/>
          <a:p>
            <a:pPr algn="ctr" indent="0" marL="0">
              <a:buNone/>
            </a:pPr>
            <a:r>
              <a:rPr lang="en-US" sz="1150" i="1" dirty="0">
                <a:solidFill>
                  <a:srgbClr val="0E7C61"/>
                </a:solidFill>
                <a:latin typeface="Calibri" pitchFamily="34" charset="0"/>
                <a:ea typeface="Calibri" pitchFamily="34" charset="-122"/>
                <a:cs typeface="Calibri" pitchFamily="34" charset="-120"/>
              </a:rPr>
              <a:t>The goal</a:t>
            </a:r>
            <a:endParaRPr lang="en-US" sz="1150" dirty="0"/>
          </a:p>
        </p:txBody>
      </p:sp>
      <p:sp>
        <p:nvSpPr>
          <p:cNvPr id="14" name="Shape 12"/>
          <p:cNvSpPr/>
          <p:nvPr/>
        </p:nvSpPr>
        <p:spPr>
          <a:xfrm>
            <a:off x="3410712" y="1600200"/>
            <a:ext cx="2697480" cy="324612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3"/>
          <p:cNvSpPr/>
          <p:nvPr/>
        </p:nvSpPr>
        <p:spPr>
          <a:xfrm>
            <a:off x="4073652" y="2103120"/>
            <a:ext cx="1371600" cy="1371600"/>
          </a:xfrm>
          <a:prstGeom prst="ellipse">
            <a:avLst/>
          </a:prstGeom>
          <a:solidFill>
            <a:srgbClr val="E9F0EA"/>
          </a:solidFill>
          <a:ln w="12700">
            <a:solidFill>
              <a:srgbClr val="FFFFFF"/>
            </a:solidFill>
            <a:prstDash val="solid"/>
          </a:ln>
        </p:spPr>
      </p:sp>
      <p:sp>
        <p:nvSpPr>
          <p:cNvPr id="16" name="Shape 14"/>
          <p:cNvSpPr/>
          <p:nvPr/>
        </p:nvSpPr>
        <p:spPr>
          <a:xfrm>
            <a:off x="4302252" y="2331720"/>
            <a:ext cx="914400" cy="914400"/>
          </a:xfrm>
          <a:prstGeom prst="ellipse">
            <a:avLst/>
          </a:prstGeom>
          <a:solidFill>
            <a:srgbClr val="C9DFCF"/>
          </a:solidFill>
          <a:ln w="12700">
            <a:solidFill>
              <a:srgbClr val="FFFFFF"/>
            </a:solidFill>
            <a:prstDash val="solid"/>
          </a:ln>
        </p:spPr>
      </p:sp>
      <p:sp>
        <p:nvSpPr>
          <p:cNvPr id="17" name="Shape 15"/>
          <p:cNvSpPr/>
          <p:nvPr/>
        </p:nvSpPr>
        <p:spPr>
          <a:xfrm>
            <a:off x="4530852" y="2560320"/>
            <a:ext cx="457200" cy="457200"/>
          </a:xfrm>
          <a:prstGeom prst="ellipse">
            <a:avLst/>
          </a:prstGeom>
          <a:solidFill>
            <a:srgbClr val="0F6B3C"/>
          </a:solidFill>
          <a:ln w="12700">
            <a:solidFill>
              <a:srgbClr val="FFFFFF"/>
            </a:solidFill>
            <a:prstDash val="solid"/>
          </a:ln>
        </p:spPr>
      </p:sp>
      <p:sp>
        <p:nvSpPr>
          <p:cNvPr id="18" name="Shape 16"/>
          <p:cNvSpPr/>
          <p:nvPr/>
        </p:nvSpPr>
        <p:spPr>
          <a:xfrm>
            <a:off x="4960620" y="2944368"/>
            <a:ext cx="146304" cy="146304"/>
          </a:xfrm>
          <a:prstGeom prst="ellipse">
            <a:avLst/>
          </a:prstGeom>
          <a:solidFill>
            <a:srgbClr val="C9A227"/>
          </a:solidFill>
          <a:ln w="12700">
            <a:solidFill>
              <a:srgbClr val="333333"/>
            </a:solidFill>
            <a:prstDash val="solid"/>
          </a:ln>
        </p:spPr>
      </p:sp>
      <p:sp>
        <p:nvSpPr>
          <p:cNvPr id="19" name="Shape 17"/>
          <p:cNvSpPr/>
          <p:nvPr/>
        </p:nvSpPr>
        <p:spPr>
          <a:xfrm>
            <a:off x="4366260" y="2852928"/>
            <a:ext cx="146304" cy="146304"/>
          </a:xfrm>
          <a:prstGeom prst="ellipse">
            <a:avLst/>
          </a:prstGeom>
          <a:solidFill>
            <a:srgbClr val="C9A227"/>
          </a:solidFill>
          <a:ln w="12700">
            <a:solidFill>
              <a:srgbClr val="333333"/>
            </a:solidFill>
            <a:prstDash val="solid"/>
          </a:ln>
        </p:spPr>
      </p:sp>
      <p:sp>
        <p:nvSpPr>
          <p:cNvPr id="20" name="Shape 18"/>
          <p:cNvSpPr/>
          <p:nvPr/>
        </p:nvSpPr>
        <p:spPr>
          <a:xfrm>
            <a:off x="4777740" y="2350008"/>
            <a:ext cx="146304" cy="146304"/>
          </a:xfrm>
          <a:prstGeom prst="ellipse">
            <a:avLst/>
          </a:prstGeom>
          <a:solidFill>
            <a:srgbClr val="C9A227"/>
          </a:solidFill>
          <a:ln w="12700">
            <a:solidFill>
              <a:srgbClr val="333333"/>
            </a:solidFill>
            <a:prstDash val="solid"/>
          </a:ln>
        </p:spPr>
      </p:sp>
      <p:sp>
        <p:nvSpPr>
          <p:cNvPr id="21" name="Shape 19"/>
          <p:cNvSpPr/>
          <p:nvPr/>
        </p:nvSpPr>
        <p:spPr>
          <a:xfrm>
            <a:off x="4503420" y="2459736"/>
            <a:ext cx="146304" cy="146304"/>
          </a:xfrm>
          <a:prstGeom prst="ellipse">
            <a:avLst/>
          </a:prstGeom>
          <a:solidFill>
            <a:srgbClr val="C9A227"/>
          </a:solidFill>
          <a:ln w="12700">
            <a:solidFill>
              <a:srgbClr val="333333"/>
            </a:solidFill>
            <a:prstDash val="solid"/>
          </a:ln>
        </p:spPr>
      </p:sp>
      <p:sp>
        <p:nvSpPr>
          <p:cNvPr id="22" name="Text 20"/>
          <p:cNvSpPr txBox="1"/>
          <p:nvPr/>
        </p:nvSpPr>
        <p:spPr>
          <a:xfrm>
            <a:off x="3639312" y="3703320"/>
            <a:ext cx="2240280" cy="548640"/>
          </a:xfrm>
          <a:prstGeom prst="rect">
            <a:avLst/>
          </a:prstGeom>
          <a:noFill/>
          <a:ln/>
        </p:spPr>
        <p:txBody>
          <a:bodyPr wrap="square" lIns="0" tIns="0" rIns="0" bIns="0" rtlCol="0" anchor="ctr"/>
          <a:lstStyle/>
          <a:p>
            <a:pPr algn="ctr" indent="0" marL="0">
              <a:lnSpc>
                <a:spcPts val="1600"/>
              </a:lnSpc>
              <a:buNone/>
            </a:pPr>
            <a:r>
              <a:rPr lang="en-US" sz="1250" b="1" dirty="0">
                <a:solidFill>
                  <a:srgbClr val="0F6B3C"/>
                </a:solidFill>
                <a:latin typeface="Calibri" pitchFamily="34" charset="0"/>
                <a:ea typeface="Calibri" pitchFamily="34" charset="-122"/>
                <a:cs typeface="Calibri" pitchFamily="34" charset="-120"/>
              </a:rPr>
              <a:t>Low bias, high variance</a:t>
            </a:r>
            <a:endParaRPr lang="en-US" sz="1250" dirty="0"/>
          </a:p>
        </p:txBody>
      </p:sp>
      <p:sp>
        <p:nvSpPr>
          <p:cNvPr id="23" name="Text 21"/>
          <p:cNvSpPr txBox="1"/>
          <p:nvPr/>
        </p:nvSpPr>
        <p:spPr>
          <a:xfrm>
            <a:off x="3639312" y="4297680"/>
            <a:ext cx="2240280" cy="320040"/>
          </a:xfrm>
          <a:prstGeom prst="rect">
            <a:avLst/>
          </a:prstGeom>
          <a:noFill/>
          <a:ln/>
        </p:spPr>
        <p:txBody>
          <a:bodyPr wrap="square" lIns="0" tIns="0" rIns="0" bIns="0" rtlCol="0" anchor="ctr"/>
          <a:lstStyle/>
          <a:p>
            <a:pPr algn="ctr" indent="0" marL="0">
              <a:buNone/>
            </a:pPr>
            <a:r>
              <a:rPr lang="en-US" sz="1150" i="1" dirty="0">
                <a:solidFill>
                  <a:srgbClr val="C9A227"/>
                </a:solidFill>
                <a:latin typeface="Calibri" pitchFamily="34" charset="0"/>
                <a:ea typeface="Calibri" pitchFamily="34" charset="-122"/>
                <a:cs typeface="Calibri" pitchFamily="34" charset="-120"/>
              </a:rPr>
              <a:t>Overfitting</a:t>
            </a:r>
            <a:endParaRPr lang="en-US" sz="1150" dirty="0"/>
          </a:p>
        </p:txBody>
      </p:sp>
      <p:sp>
        <p:nvSpPr>
          <p:cNvPr id="24" name="Shape 22"/>
          <p:cNvSpPr/>
          <p:nvPr/>
        </p:nvSpPr>
        <p:spPr>
          <a:xfrm>
            <a:off x="6272784" y="1600200"/>
            <a:ext cx="2697480" cy="324612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23"/>
          <p:cNvSpPr/>
          <p:nvPr/>
        </p:nvSpPr>
        <p:spPr>
          <a:xfrm>
            <a:off x="6935724" y="2103120"/>
            <a:ext cx="1371600" cy="1371600"/>
          </a:xfrm>
          <a:prstGeom prst="ellipse">
            <a:avLst/>
          </a:prstGeom>
          <a:solidFill>
            <a:srgbClr val="E9F0EA"/>
          </a:solidFill>
          <a:ln w="12700">
            <a:solidFill>
              <a:srgbClr val="FFFFFF"/>
            </a:solidFill>
            <a:prstDash val="solid"/>
          </a:ln>
        </p:spPr>
      </p:sp>
      <p:sp>
        <p:nvSpPr>
          <p:cNvPr id="26" name="Shape 24"/>
          <p:cNvSpPr/>
          <p:nvPr/>
        </p:nvSpPr>
        <p:spPr>
          <a:xfrm>
            <a:off x="7164324" y="2331720"/>
            <a:ext cx="914400" cy="914400"/>
          </a:xfrm>
          <a:prstGeom prst="ellipse">
            <a:avLst/>
          </a:prstGeom>
          <a:solidFill>
            <a:srgbClr val="C9DFCF"/>
          </a:solidFill>
          <a:ln w="12700">
            <a:solidFill>
              <a:srgbClr val="FFFFFF"/>
            </a:solidFill>
            <a:prstDash val="solid"/>
          </a:ln>
        </p:spPr>
      </p:sp>
      <p:sp>
        <p:nvSpPr>
          <p:cNvPr id="27" name="Shape 25"/>
          <p:cNvSpPr/>
          <p:nvPr/>
        </p:nvSpPr>
        <p:spPr>
          <a:xfrm>
            <a:off x="7392924" y="2560320"/>
            <a:ext cx="457200" cy="457200"/>
          </a:xfrm>
          <a:prstGeom prst="ellipse">
            <a:avLst/>
          </a:prstGeom>
          <a:solidFill>
            <a:srgbClr val="0F6B3C"/>
          </a:solidFill>
          <a:ln w="12700">
            <a:solidFill>
              <a:srgbClr val="FFFFFF"/>
            </a:solidFill>
            <a:prstDash val="solid"/>
          </a:ln>
        </p:spPr>
      </p:sp>
      <p:sp>
        <p:nvSpPr>
          <p:cNvPr id="28" name="Shape 26"/>
          <p:cNvSpPr/>
          <p:nvPr/>
        </p:nvSpPr>
        <p:spPr>
          <a:xfrm>
            <a:off x="7932420" y="3044952"/>
            <a:ext cx="146304" cy="146304"/>
          </a:xfrm>
          <a:prstGeom prst="ellipse">
            <a:avLst/>
          </a:prstGeom>
          <a:solidFill>
            <a:srgbClr val="9C3B2E"/>
          </a:solidFill>
          <a:ln w="12700">
            <a:solidFill>
              <a:srgbClr val="333333"/>
            </a:solidFill>
            <a:prstDash val="solid"/>
          </a:ln>
        </p:spPr>
      </p:sp>
      <p:sp>
        <p:nvSpPr>
          <p:cNvPr id="29" name="Shape 27"/>
          <p:cNvSpPr/>
          <p:nvPr/>
        </p:nvSpPr>
        <p:spPr>
          <a:xfrm>
            <a:off x="8005572" y="2971800"/>
            <a:ext cx="146304" cy="146304"/>
          </a:xfrm>
          <a:prstGeom prst="ellipse">
            <a:avLst/>
          </a:prstGeom>
          <a:solidFill>
            <a:srgbClr val="9C3B2E"/>
          </a:solidFill>
          <a:ln w="12700">
            <a:solidFill>
              <a:srgbClr val="333333"/>
            </a:solidFill>
            <a:prstDash val="solid"/>
          </a:ln>
        </p:spPr>
      </p:sp>
      <p:sp>
        <p:nvSpPr>
          <p:cNvPr id="30" name="Shape 28"/>
          <p:cNvSpPr/>
          <p:nvPr/>
        </p:nvSpPr>
        <p:spPr>
          <a:xfrm>
            <a:off x="7895844" y="3118104"/>
            <a:ext cx="146304" cy="146304"/>
          </a:xfrm>
          <a:prstGeom prst="ellipse">
            <a:avLst/>
          </a:prstGeom>
          <a:solidFill>
            <a:srgbClr val="9C3B2E"/>
          </a:solidFill>
          <a:ln w="12700">
            <a:solidFill>
              <a:srgbClr val="333333"/>
            </a:solidFill>
            <a:prstDash val="solid"/>
          </a:ln>
        </p:spPr>
      </p:sp>
      <p:sp>
        <p:nvSpPr>
          <p:cNvPr id="31" name="Shape 29"/>
          <p:cNvSpPr/>
          <p:nvPr/>
        </p:nvSpPr>
        <p:spPr>
          <a:xfrm>
            <a:off x="7968996" y="3063240"/>
            <a:ext cx="146304" cy="146304"/>
          </a:xfrm>
          <a:prstGeom prst="ellipse">
            <a:avLst/>
          </a:prstGeom>
          <a:solidFill>
            <a:srgbClr val="9C3B2E"/>
          </a:solidFill>
          <a:ln w="12700">
            <a:solidFill>
              <a:srgbClr val="333333"/>
            </a:solidFill>
            <a:prstDash val="solid"/>
          </a:ln>
        </p:spPr>
      </p:sp>
      <p:sp>
        <p:nvSpPr>
          <p:cNvPr id="32" name="Text 30"/>
          <p:cNvSpPr txBox="1"/>
          <p:nvPr/>
        </p:nvSpPr>
        <p:spPr>
          <a:xfrm>
            <a:off x="6501384" y="3703320"/>
            <a:ext cx="2240280" cy="548640"/>
          </a:xfrm>
          <a:prstGeom prst="rect">
            <a:avLst/>
          </a:prstGeom>
          <a:noFill/>
          <a:ln/>
        </p:spPr>
        <p:txBody>
          <a:bodyPr wrap="square" lIns="0" tIns="0" rIns="0" bIns="0" rtlCol="0" anchor="ctr"/>
          <a:lstStyle/>
          <a:p>
            <a:pPr algn="ctr" indent="0" marL="0">
              <a:lnSpc>
                <a:spcPts val="1600"/>
              </a:lnSpc>
              <a:buNone/>
            </a:pPr>
            <a:r>
              <a:rPr lang="en-US" sz="1250" b="1" dirty="0">
                <a:solidFill>
                  <a:srgbClr val="0F6B3C"/>
                </a:solidFill>
                <a:latin typeface="Calibri" pitchFamily="34" charset="0"/>
                <a:ea typeface="Calibri" pitchFamily="34" charset="-122"/>
                <a:cs typeface="Calibri" pitchFamily="34" charset="-120"/>
              </a:rPr>
              <a:t>High bias, low variance</a:t>
            </a:r>
            <a:endParaRPr lang="en-US" sz="1250" dirty="0"/>
          </a:p>
        </p:txBody>
      </p:sp>
      <p:sp>
        <p:nvSpPr>
          <p:cNvPr id="33" name="Text 31"/>
          <p:cNvSpPr txBox="1"/>
          <p:nvPr/>
        </p:nvSpPr>
        <p:spPr>
          <a:xfrm>
            <a:off x="6501384" y="4297680"/>
            <a:ext cx="2240280" cy="320040"/>
          </a:xfrm>
          <a:prstGeom prst="rect">
            <a:avLst/>
          </a:prstGeom>
          <a:noFill/>
          <a:ln/>
        </p:spPr>
        <p:txBody>
          <a:bodyPr wrap="square" lIns="0" tIns="0" rIns="0" bIns="0" rtlCol="0" anchor="ctr"/>
          <a:lstStyle/>
          <a:p>
            <a:pPr algn="ctr" indent="0" marL="0">
              <a:buNone/>
            </a:pPr>
            <a:r>
              <a:rPr lang="en-US" sz="1150" i="1" dirty="0">
                <a:solidFill>
                  <a:srgbClr val="9C3B2E"/>
                </a:solidFill>
                <a:latin typeface="Calibri" pitchFamily="34" charset="0"/>
                <a:ea typeface="Calibri" pitchFamily="34" charset="-122"/>
                <a:cs typeface="Calibri" pitchFamily="34" charset="-120"/>
              </a:rPr>
              <a:t>Underfitting</a:t>
            </a:r>
            <a:endParaRPr lang="en-US" sz="1150" dirty="0"/>
          </a:p>
        </p:txBody>
      </p:sp>
      <p:sp>
        <p:nvSpPr>
          <p:cNvPr id="34" name="Shape 32"/>
          <p:cNvSpPr/>
          <p:nvPr/>
        </p:nvSpPr>
        <p:spPr>
          <a:xfrm>
            <a:off x="9134856" y="1600200"/>
            <a:ext cx="2697480" cy="3246120"/>
          </a:xfrm>
          <a:prstGeom prst="roundRect">
            <a:avLst>
              <a:gd name="adj" fmla="val 406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5" name="Shape 33"/>
          <p:cNvSpPr/>
          <p:nvPr/>
        </p:nvSpPr>
        <p:spPr>
          <a:xfrm>
            <a:off x="9797796" y="2103120"/>
            <a:ext cx="1371600" cy="1371600"/>
          </a:xfrm>
          <a:prstGeom prst="ellipse">
            <a:avLst/>
          </a:prstGeom>
          <a:solidFill>
            <a:srgbClr val="E9F0EA"/>
          </a:solidFill>
          <a:ln w="12700">
            <a:solidFill>
              <a:srgbClr val="FFFFFF"/>
            </a:solidFill>
            <a:prstDash val="solid"/>
          </a:ln>
        </p:spPr>
      </p:sp>
      <p:sp>
        <p:nvSpPr>
          <p:cNvPr id="36" name="Shape 34"/>
          <p:cNvSpPr/>
          <p:nvPr/>
        </p:nvSpPr>
        <p:spPr>
          <a:xfrm>
            <a:off x="10026396" y="2331720"/>
            <a:ext cx="914400" cy="914400"/>
          </a:xfrm>
          <a:prstGeom prst="ellipse">
            <a:avLst/>
          </a:prstGeom>
          <a:solidFill>
            <a:srgbClr val="C9DFCF"/>
          </a:solidFill>
          <a:ln w="12700">
            <a:solidFill>
              <a:srgbClr val="FFFFFF"/>
            </a:solidFill>
            <a:prstDash val="solid"/>
          </a:ln>
        </p:spPr>
      </p:sp>
      <p:sp>
        <p:nvSpPr>
          <p:cNvPr id="37" name="Shape 35"/>
          <p:cNvSpPr/>
          <p:nvPr/>
        </p:nvSpPr>
        <p:spPr>
          <a:xfrm>
            <a:off x="10254996" y="2560320"/>
            <a:ext cx="457200" cy="457200"/>
          </a:xfrm>
          <a:prstGeom prst="ellipse">
            <a:avLst/>
          </a:prstGeom>
          <a:solidFill>
            <a:srgbClr val="0F6B3C"/>
          </a:solidFill>
          <a:ln w="12700">
            <a:solidFill>
              <a:srgbClr val="FFFFFF"/>
            </a:solidFill>
            <a:prstDash val="solid"/>
          </a:ln>
        </p:spPr>
      </p:sp>
      <p:sp>
        <p:nvSpPr>
          <p:cNvPr id="38" name="Shape 36"/>
          <p:cNvSpPr/>
          <p:nvPr/>
        </p:nvSpPr>
        <p:spPr>
          <a:xfrm>
            <a:off x="10913364" y="2852928"/>
            <a:ext cx="146304" cy="146304"/>
          </a:xfrm>
          <a:prstGeom prst="ellipse">
            <a:avLst/>
          </a:prstGeom>
          <a:solidFill>
            <a:srgbClr val="1E8449"/>
          </a:solidFill>
          <a:ln w="12700">
            <a:solidFill>
              <a:srgbClr val="333333"/>
            </a:solidFill>
            <a:prstDash val="solid"/>
          </a:ln>
        </p:spPr>
      </p:sp>
      <p:sp>
        <p:nvSpPr>
          <p:cNvPr id="39" name="Shape 37"/>
          <p:cNvSpPr/>
          <p:nvPr/>
        </p:nvSpPr>
        <p:spPr>
          <a:xfrm>
            <a:off x="10547604" y="3218688"/>
            <a:ext cx="146304" cy="146304"/>
          </a:xfrm>
          <a:prstGeom prst="ellipse">
            <a:avLst/>
          </a:prstGeom>
          <a:solidFill>
            <a:srgbClr val="1E8449"/>
          </a:solidFill>
          <a:ln w="12700">
            <a:solidFill>
              <a:srgbClr val="333333"/>
            </a:solidFill>
            <a:prstDash val="solid"/>
          </a:ln>
        </p:spPr>
      </p:sp>
      <p:sp>
        <p:nvSpPr>
          <p:cNvPr id="40" name="Shape 38"/>
          <p:cNvSpPr/>
          <p:nvPr/>
        </p:nvSpPr>
        <p:spPr>
          <a:xfrm>
            <a:off x="10977372" y="3172968"/>
            <a:ext cx="146304" cy="146304"/>
          </a:xfrm>
          <a:prstGeom prst="ellipse">
            <a:avLst/>
          </a:prstGeom>
          <a:solidFill>
            <a:srgbClr val="1E8449"/>
          </a:solidFill>
          <a:ln w="12700">
            <a:solidFill>
              <a:srgbClr val="333333"/>
            </a:solidFill>
            <a:prstDash val="solid"/>
          </a:ln>
        </p:spPr>
      </p:sp>
      <p:sp>
        <p:nvSpPr>
          <p:cNvPr id="41" name="Shape 39"/>
          <p:cNvSpPr/>
          <p:nvPr/>
        </p:nvSpPr>
        <p:spPr>
          <a:xfrm>
            <a:off x="10684764" y="2944368"/>
            <a:ext cx="146304" cy="146304"/>
          </a:xfrm>
          <a:prstGeom prst="ellipse">
            <a:avLst/>
          </a:prstGeom>
          <a:solidFill>
            <a:srgbClr val="1E8449"/>
          </a:solidFill>
          <a:ln w="12700">
            <a:solidFill>
              <a:srgbClr val="333333"/>
            </a:solidFill>
            <a:prstDash val="solid"/>
          </a:ln>
        </p:spPr>
      </p:sp>
      <p:sp>
        <p:nvSpPr>
          <p:cNvPr id="42" name="Text 40"/>
          <p:cNvSpPr txBox="1"/>
          <p:nvPr/>
        </p:nvSpPr>
        <p:spPr>
          <a:xfrm>
            <a:off x="9363456" y="3703320"/>
            <a:ext cx="2240280" cy="548640"/>
          </a:xfrm>
          <a:prstGeom prst="rect">
            <a:avLst/>
          </a:prstGeom>
          <a:noFill/>
          <a:ln/>
        </p:spPr>
        <p:txBody>
          <a:bodyPr wrap="square" lIns="0" tIns="0" rIns="0" bIns="0" rtlCol="0" anchor="ctr"/>
          <a:lstStyle/>
          <a:p>
            <a:pPr algn="ctr" indent="0" marL="0">
              <a:lnSpc>
                <a:spcPts val="1600"/>
              </a:lnSpc>
              <a:buNone/>
            </a:pPr>
            <a:r>
              <a:rPr lang="en-US" sz="1250" b="1" dirty="0">
                <a:solidFill>
                  <a:srgbClr val="0F6B3C"/>
                </a:solidFill>
                <a:latin typeface="Calibri" pitchFamily="34" charset="0"/>
                <a:ea typeface="Calibri" pitchFamily="34" charset="-122"/>
                <a:cs typeface="Calibri" pitchFamily="34" charset="-120"/>
              </a:rPr>
              <a:t>High bias, high variance</a:t>
            </a:r>
            <a:endParaRPr lang="en-US" sz="1250" dirty="0"/>
          </a:p>
        </p:txBody>
      </p:sp>
      <p:sp>
        <p:nvSpPr>
          <p:cNvPr id="43" name="Text 41"/>
          <p:cNvSpPr txBox="1"/>
          <p:nvPr/>
        </p:nvSpPr>
        <p:spPr>
          <a:xfrm>
            <a:off x="9363456" y="4297680"/>
            <a:ext cx="2240280" cy="320040"/>
          </a:xfrm>
          <a:prstGeom prst="rect">
            <a:avLst/>
          </a:prstGeom>
          <a:noFill/>
          <a:ln/>
        </p:spPr>
        <p:txBody>
          <a:bodyPr wrap="square" lIns="0" tIns="0" rIns="0" bIns="0" rtlCol="0" anchor="ctr"/>
          <a:lstStyle/>
          <a:p>
            <a:pPr algn="ctr" indent="0" marL="0">
              <a:buNone/>
            </a:pPr>
            <a:r>
              <a:rPr lang="en-US" sz="1150" i="1" dirty="0">
                <a:solidFill>
                  <a:srgbClr val="1E8449"/>
                </a:solidFill>
                <a:latin typeface="Calibri" pitchFamily="34" charset="0"/>
                <a:ea typeface="Calibri" pitchFamily="34" charset="-122"/>
                <a:cs typeface="Calibri" pitchFamily="34" charset="-120"/>
              </a:rPr>
              <a:t>Worst case</a:t>
            </a:r>
            <a:endParaRPr lang="en-US" sz="1150" dirty="0"/>
          </a:p>
        </p:txBody>
      </p:sp>
      <p:sp>
        <p:nvSpPr>
          <p:cNvPr id="44" name="Shape 42"/>
          <p:cNvSpPr/>
          <p:nvPr/>
        </p:nvSpPr>
        <p:spPr>
          <a:xfrm>
            <a:off x="548640" y="5029200"/>
            <a:ext cx="11064240" cy="1097280"/>
          </a:xfrm>
          <a:prstGeom prst="roundRect">
            <a:avLst>
              <a:gd name="adj" fmla="val 10000"/>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45" name="Text 43"/>
          <p:cNvSpPr txBox="1"/>
          <p:nvPr/>
        </p:nvSpPr>
        <p:spPr>
          <a:xfrm>
            <a:off x="914400" y="5230368"/>
            <a:ext cx="10332720" cy="777240"/>
          </a:xfrm>
          <a:prstGeom prst="rect">
            <a:avLst/>
          </a:prstGeom>
          <a:noFill/>
          <a:ln/>
        </p:spPr>
        <p:txBody>
          <a:bodyPr wrap="square" lIns="0" tIns="0" rIns="0" bIns="0" rtlCol="0" anchor="ctr"/>
          <a:lstStyle/>
          <a:p>
            <a:pPr indent="0" marL="0">
              <a:lnSpc>
                <a:spcPts val="1700"/>
              </a:lnSpc>
              <a:buNone/>
            </a:pPr>
            <a:r>
              <a:rPr lang="en-US" sz="1250" dirty="0">
                <a:solidFill>
                  <a:srgbClr val="0F6B3C"/>
                </a:solidFill>
                <a:latin typeface="Calibri" pitchFamily="34" charset="0"/>
                <a:ea typeface="Calibri" pitchFamily="34" charset="-122"/>
                <a:cs typeface="Calibri" pitchFamily="34" charset="-120"/>
              </a:rPr>
              <a:t>Bias is error from wrong assumptions — the model is systematically off. Variance is sensitivity to the particular training sample — retrain on slightly different data and you get a very different model. Simpler models raise bias and lower variance; more flexible models do the reverse. Your job is to find the balance for your data.</a:t>
            </a:r>
            <a:endParaRPr lang="en-US" sz="1250" dirty="0"/>
          </a:p>
        </p:txBody>
      </p:sp>
      <p:sp>
        <p:nvSpPr>
          <p:cNvPr id="47" name="Text 4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48" name="Text 4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35</a:t>
            </a:r>
            <a:endParaRPr lang="en-US" sz="900" dirty="0"/>
          </a:p>
        </p:txBody>
      </p:sp>
      <p:pic>
        <p:nvPicPr>
          <p:cNvPr id="49" name="Picture 4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TRAIN, VALIDATION, TEST — AND CROSS-VALIDATION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Splitting Data Honestly</a:t>
            </a:r>
            <a:endParaRPr lang="en-US" sz="3000" dirty="0"/>
          </a:p>
        </p:txBody>
      </p:sp>
      <p:sp>
        <p:nvSpPr>
          <p:cNvPr id="4" name="Text 2"/>
          <p:cNvSpPr txBox="1"/>
          <p:nvPr/>
        </p:nvSpPr>
        <p:spPr>
          <a:xfrm>
            <a:off x="548640" y="1536192"/>
            <a:ext cx="54864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THE STANDARD SPLIT</a:t>
            </a:r>
            <a:endParaRPr lang="en-US" sz="1100" dirty="0"/>
          </a:p>
        </p:txBody>
      </p:sp>
      <p:sp>
        <p:nvSpPr>
          <p:cNvPr id="5" name="Shape 3"/>
          <p:cNvSpPr/>
          <p:nvPr/>
        </p:nvSpPr>
        <p:spPr>
          <a:xfrm>
            <a:off x="548640" y="1828800"/>
            <a:ext cx="5989320" cy="777240"/>
          </a:xfrm>
          <a:prstGeom prst="roundRect">
            <a:avLst>
              <a:gd name="adj" fmla="val 11765"/>
            </a:avLst>
          </a:prstGeom>
          <a:solidFill>
            <a:srgbClr val="0F6B3C"/>
          </a:solidFill>
          <a:ln w="12700">
            <a:solidFill>
              <a:srgbClr val="333333"/>
            </a:solidFill>
            <a:prstDash val="solid"/>
          </a:ln>
        </p:spPr>
      </p:sp>
      <p:sp>
        <p:nvSpPr>
          <p:cNvPr id="6" name="Text 4"/>
          <p:cNvSpPr txBox="1"/>
          <p:nvPr/>
        </p:nvSpPr>
        <p:spPr>
          <a:xfrm>
            <a:off x="548640" y="1874520"/>
            <a:ext cx="5989320" cy="4114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TRAINING  ·  60%</a:t>
            </a:r>
            <a:endParaRPr lang="en-US" sz="1250" dirty="0"/>
          </a:p>
        </p:txBody>
      </p:sp>
      <p:sp>
        <p:nvSpPr>
          <p:cNvPr id="7" name="Text 5"/>
          <p:cNvSpPr txBox="1"/>
          <p:nvPr/>
        </p:nvSpPr>
        <p:spPr>
          <a:xfrm>
            <a:off x="548640" y="2231136"/>
            <a:ext cx="5989320" cy="320040"/>
          </a:xfrm>
          <a:prstGeom prst="rect">
            <a:avLst/>
          </a:prstGeom>
          <a:noFill/>
          <a:ln/>
        </p:spPr>
        <p:txBody>
          <a:bodyPr wrap="square" lIns="0" tIns="0" rIns="0" bIns="0" rtlCol="0" anchor="ctr"/>
          <a:lstStyle/>
          <a:p>
            <a:pPr algn="ctr" indent="0" marL="0">
              <a:buNone/>
            </a:pPr>
            <a:r>
              <a:rPr lang="en-US" sz="1050" dirty="0">
                <a:solidFill>
                  <a:srgbClr val="E3EFE6"/>
                </a:solidFill>
                <a:latin typeface="Calibri" pitchFamily="34" charset="0"/>
                <a:ea typeface="Calibri" pitchFamily="34" charset="-122"/>
                <a:cs typeface="Calibri" pitchFamily="34" charset="-120"/>
              </a:rPr>
              <a:t>Fit the parameters</a:t>
            </a:r>
            <a:endParaRPr lang="en-US" sz="1050" dirty="0"/>
          </a:p>
        </p:txBody>
      </p:sp>
      <p:sp>
        <p:nvSpPr>
          <p:cNvPr id="8" name="Shape 6"/>
          <p:cNvSpPr/>
          <p:nvPr/>
        </p:nvSpPr>
        <p:spPr>
          <a:xfrm>
            <a:off x="6720840" y="1828800"/>
            <a:ext cx="2286000" cy="777240"/>
          </a:xfrm>
          <a:prstGeom prst="roundRect">
            <a:avLst>
              <a:gd name="adj" fmla="val 11765"/>
            </a:avLst>
          </a:prstGeom>
          <a:solidFill>
            <a:srgbClr val="0E7C61"/>
          </a:solidFill>
          <a:ln w="12700">
            <a:solidFill>
              <a:srgbClr val="333333"/>
            </a:solidFill>
            <a:prstDash val="solid"/>
          </a:ln>
        </p:spPr>
      </p:sp>
      <p:sp>
        <p:nvSpPr>
          <p:cNvPr id="9" name="Text 7"/>
          <p:cNvSpPr txBox="1"/>
          <p:nvPr/>
        </p:nvSpPr>
        <p:spPr>
          <a:xfrm>
            <a:off x="6720840" y="1874520"/>
            <a:ext cx="2286000" cy="4114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VALIDATION · 20%</a:t>
            </a:r>
            <a:endParaRPr lang="en-US" sz="1250" dirty="0"/>
          </a:p>
        </p:txBody>
      </p:sp>
      <p:sp>
        <p:nvSpPr>
          <p:cNvPr id="10" name="Text 8"/>
          <p:cNvSpPr txBox="1"/>
          <p:nvPr/>
        </p:nvSpPr>
        <p:spPr>
          <a:xfrm>
            <a:off x="6720840" y="2231136"/>
            <a:ext cx="2286000" cy="320040"/>
          </a:xfrm>
          <a:prstGeom prst="rect">
            <a:avLst/>
          </a:prstGeom>
          <a:noFill/>
          <a:ln/>
        </p:spPr>
        <p:txBody>
          <a:bodyPr wrap="square" lIns="0" tIns="0" rIns="0" bIns="0" rtlCol="0" anchor="ctr"/>
          <a:lstStyle/>
          <a:p>
            <a:pPr algn="ctr" indent="0" marL="0">
              <a:buNone/>
            </a:pPr>
            <a:r>
              <a:rPr lang="en-US" sz="1050" dirty="0">
                <a:solidFill>
                  <a:srgbClr val="E3EFE6"/>
                </a:solidFill>
                <a:latin typeface="Calibri" pitchFamily="34" charset="0"/>
                <a:ea typeface="Calibri" pitchFamily="34" charset="-122"/>
                <a:cs typeface="Calibri" pitchFamily="34" charset="-120"/>
              </a:rPr>
              <a:t>Tune hyperparameters</a:t>
            </a:r>
            <a:endParaRPr lang="en-US" sz="1050" dirty="0"/>
          </a:p>
        </p:txBody>
      </p:sp>
      <p:sp>
        <p:nvSpPr>
          <p:cNvPr id="11" name="Shape 9"/>
          <p:cNvSpPr/>
          <p:nvPr/>
        </p:nvSpPr>
        <p:spPr>
          <a:xfrm>
            <a:off x="9189720" y="1828800"/>
            <a:ext cx="2423160" cy="777240"/>
          </a:xfrm>
          <a:prstGeom prst="roundRect">
            <a:avLst>
              <a:gd name="adj" fmla="val 11765"/>
            </a:avLst>
          </a:prstGeom>
          <a:solidFill>
            <a:srgbClr val="C9A227"/>
          </a:solidFill>
          <a:ln w="12700">
            <a:solidFill>
              <a:srgbClr val="333333"/>
            </a:solidFill>
            <a:prstDash val="solid"/>
          </a:ln>
        </p:spPr>
      </p:sp>
      <p:sp>
        <p:nvSpPr>
          <p:cNvPr id="12" name="Text 10"/>
          <p:cNvSpPr txBox="1"/>
          <p:nvPr/>
        </p:nvSpPr>
        <p:spPr>
          <a:xfrm>
            <a:off x="9189720" y="1874520"/>
            <a:ext cx="2423160" cy="41148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TEST · 20%</a:t>
            </a:r>
            <a:endParaRPr lang="en-US" sz="1250" dirty="0"/>
          </a:p>
        </p:txBody>
      </p:sp>
      <p:sp>
        <p:nvSpPr>
          <p:cNvPr id="13" name="Text 11"/>
          <p:cNvSpPr txBox="1"/>
          <p:nvPr/>
        </p:nvSpPr>
        <p:spPr>
          <a:xfrm>
            <a:off x="9189720" y="2231136"/>
            <a:ext cx="2423160" cy="320040"/>
          </a:xfrm>
          <a:prstGeom prst="rect">
            <a:avLst/>
          </a:prstGeom>
          <a:noFill/>
          <a:ln/>
        </p:spPr>
        <p:txBody>
          <a:bodyPr wrap="square" lIns="0" tIns="0" rIns="0" bIns="0" rtlCol="0" anchor="ctr"/>
          <a:lstStyle/>
          <a:p>
            <a:pPr algn="ctr" indent="0" marL="0">
              <a:buNone/>
            </a:pPr>
            <a:r>
              <a:rPr lang="en-US" sz="1050" dirty="0">
                <a:solidFill>
                  <a:srgbClr val="0F6B3C"/>
                </a:solidFill>
                <a:latin typeface="Calibri" pitchFamily="34" charset="0"/>
                <a:ea typeface="Calibri" pitchFamily="34" charset="-122"/>
                <a:cs typeface="Calibri" pitchFamily="34" charset="-120"/>
              </a:rPr>
              <a:t>Report final score, once</a:t>
            </a:r>
            <a:endParaRPr lang="en-US" sz="1050" dirty="0"/>
          </a:p>
        </p:txBody>
      </p:sp>
      <p:sp>
        <p:nvSpPr>
          <p:cNvPr id="14" name="Text 12"/>
          <p:cNvSpPr txBox="1"/>
          <p:nvPr/>
        </p:nvSpPr>
        <p:spPr>
          <a:xfrm>
            <a:off x="548640" y="2724912"/>
            <a:ext cx="11064240" cy="411480"/>
          </a:xfrm>
          <a:prstGeom prst="rect">
            <a:avLst/>
          </a:prstGeom>
          <a:noFill/>
          <a:ln/>
        </p:spPr>
        <p:txBody>
          <a:bodyPr wrap="square" lIns="0" tIns="0" rIns="0" bIns="0" rtlCol="0" anchor="ctr"/>
          <a:lstStyle/>
          <a:p>
            <a:pPr indent="0" marL="0">
              <a:buNone/>
            </a:pPr>
            <a:r>
              <a:rPr lang="en-US" sz="1250" i="1" dirty="0">
                <a:solidFill>
                  <a:srgbClr val="5C6B60"/>
                </a:solidFill>
                <a:latin typeface="Calibri" pitchFamily="34" charset="0"/>
                <a:ea typeface="Calibri" pitchFamily="34" charset="-122"/>
                <a:cs typeface="Calibri" pitchFamily="34" charset="-120"/>
              </a:rPr>
              <a:t>The test set is opened once, at the very end. If you look at it, tune, and look again, it has quietly become a validation set and your reported accuracy is optimistic.</a:t>
            </a:r>
            <a:endParaRPr lang="en-US" sz="1250" dirty="0"/>
          </a:p>
        </p:txBody>
      </p:sp>
      <p:sp>
        <p:nvSpPr>
          <p:cNvPr id="15" name="Text 13"/>
          <p:cNvSpPr txBox="1"/>
          <p:nvPr/>
        </p:nvSpPr>
        <p:spPr>
          <a:xfrm>
            <a:off x="548640" y="3246120"/>
            <a:ext cx="5486400" cy="274320"/>
          </a:xfrm>
          <a:prstGeom prst="rect">
            <a:avLst/>
          </a:prstGeom>
          <a:noFill/>
          <a:ln/>
        </p:spPr>
        <p:txBody>
          <a:bodyPr wrap="square" lIns="0" tIns="0" rIns="0" bIns="0" rtlCol="0" anchor="ctr"/>
          <a:lstStyle/>
          <a:p>
            <a:pPr indent="0" marL="0">
              <a:buNone/>
            </a:pPr>
            <a:r>
              <a:rPr lang="en-US" sz="1100" b="1" spc="150" kern="0" dirty="0">
                <a:solidFill>
                  <a:srgbClr val="0E7C61"/>
                </a:solidFill>
                <a:latin typeface="Calibri" pitchFamily="34" charset="0"/>
                <a:ea typeface="Calibri" pitchFamily="34" charset="-122"/>
                <a:cs typeface="Calibri" pitchFamily="34" charset="-120"/>
              </a:rPr>
              <a:t>k-FOLD CROSS-VALIDATION  (k = 5)</a:t>
            </a:r>
            <a:endParaRPr lang="en-US" sz="1100" dirty="0"/>
          </a:p>
        </p:txBody>
      </p:sp>
      <p:sp>
        <p:nvSpPr>
          <p:cNvPr id="16" name="Text 14"/>
          <p:cNvSpPr txBox="1"/>
          <p:nvPr/>
        </p:nvSpPr>
        <p:spPr>
          <a:xfrm>
            <a:off x="548640" y="3639312"/>
            <a:ext cx="777240" cy="274320"/>
          </a:xfrm>
          <a:prstGeom prst="rect">
            <a:avLst/>
          </a:prstGeom>
          <a:noFill/>
          <a:ln/>
        </p:spPr>
        <p:txBody>
          <a:bodyPr wrap="square" lIns="0" tIns="0" rIns="0" bIns="0" rtlCol="0" anchor="ctr"/>
          <a:lstStyle/>
          <a:p>
            <a:pPr indent="0" marL="0">
              <a:buNone/>
            </a:pPr>
            <a:r>
              <a:rPr lang="en-US" sz="1100" dirty="0">
                <a:solidFill>
                  <a:srgbClr val="5C6B60"/>
                </a:solidFill>
                <a:latin typeface="Calibri" pitchFamily="34" charset="0"/>
                <a:ea typeface="Calibri" pitchFamily="34" charset="-122"/>
                <a:cs typeface="Calibri" pitchFamily="34" charset="-120"/>
              </a:rPr>
              <a:t>Fold 1</a:t>
            </a:r>
            <a:endParaRPr lang="en-US" sz="1100" dirty="0"/>
          </a:p>
        </p:txBody>
      </p:sp>
      <p:sp>
        <p:nvSpPr>
          <p:cNvPr id="17" name="Shape 15"/>
          <p:cNvSpPr/>
          <p:nvPr/>
        </p:nvSpPr>
        <p:spPr>
          <a:xfrm>
            <a:off x="1417320" y="3584448"/>
            <a:ext cx="1097280" cy="384048"/>
          </a:xfrm>
          <a:prstGeom prst="roundRect">
            <a:avLst>
              <a:gd name="adj" fmla="val 14286"/>
            </a:avLst>
          </a:prstGeom>
          <a:solidFill>
            <a:srgbClr val="0E7C61"/>
          </a:solidFill>
          <a:ln w="12700">
            <a:solidFill>
              <a:srgbClr val="0E7C61"/>
            </a:solidFill>
            <a:prstDash val="solid"/>
          </a:ln>
        </p:spPr>
      </p:sp>
      <p:sp>
        <p:nvSpPr>
          <p:cNvPr id="18" name="Text 16"/>
          <p:cNvSpPr txBox="1"/>
          <p:nvPr/>
        </p:nvSpPr>
        <p:spPr>
          <a:xfrm>
            <a:off x="1417320" y="3584448"/>
            <a:ext cx="10972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19" name="Shape 17"/>
          <p:cNvSpPr/>
          <p:nvPr/>
        </p:nvSpPr>
        <p:spPr>
          <a:xfrm>
            <a:off x="2624328" y="3584448"/>
            <a:ext cx="1097280" cy="384048"/>
          </a:xfrm>
          <a:prstGeom prst="roundRect">
            <a:avLst>
              <a:gd name="adj" fmla="val 14286"/>
            </a:avLst>
          </a:prstGeom>
          <a:solidFill>
            <a:srgbClr val="F2F6F2"/>
          </a:solidFill>
          <a:ln w="12700">
            <a:solidFill>
              <a:srgbClr val="D9E3DB"/>
            </a:solidFill>
            <a:prstDash val="solid"/>
          </a:ln>
        </p:spPr>
      </p:sp>
      <p:sp>
        <p:nvSpPr>
          <p:cNvPr id="20" name="Text 18"/>
          <p:cNvSpPr txBox="1"/>
          <p:nvPr/>
        </p:nvSpPr>
        <p:spPr>
          <a:xfrm>
            <a:off x="2624328" y="3584448"/>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3831336" y="3584448"/>
            <a:ext cx="1097280" cy="384048"/>
          </a:xfrm>
          <a:prstGeom prst="roundRect">
            <a:avLst>
              <a:gd name="adj" fmla="val 14286"/>
            </a:avLst>
          </a:prstGeom>
          <a:solidFill>
            <a:srgbClr val="F2F6F2"/>
          </a:solidFill>
          <a:ln w="12700">
            <a:solidFill>
              <a:srgbClr val="D9E3DB"/>
            </a:solidFill>
            <a:prstDash val="solid"/>
          </a:ln>
        </p:spPr>
      </p:sp>
      <p:sp>
        <p:nvSpPr>
          <p:cNvPr id="22" name="Text 20"/>
          <p:cNvSpPr txBox="1"/>
          <p:nvPr/>
        </p:nvSpPr>
        <p:spPr>
          <a:xfrm>
            <a:off x="3831336" y="3584448"/>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23" name="Shape 21"/>
          <p:cNvSpPr/>
          <p:nvPr/>
        </p:nvSpPr>
        <p:spPr>
          <a:xfrm>
            <a:off x="5038344" y="3584448"/>
            <a:ext cx="1097280" cy="384048"/>
          </a:xfrm>
          <a:prstGeom prst="roundRect">
            <a:avLst>
              <a:gd name="adj" fmla="val 14286"/>
            </a:avLst>
          </a:prstGeom>
          <a:solidFill>
            <a:srgbClr val="F2F6F2"/>
          </a:solidFill>
          <a:ln w="12700">
            <a:solidFill>
              <a:srgbClr val="D9E3DB"/>
            </a:solidFill>
            <a:prstDash val="solid"/>
          </a:ln>
        </p:spPr>
      </p:sp>
      <p:sp>
        <p:nvSpPr>
          <p:cNvPr id="24" name="Text 22"/>
          <p:cNvSpPr txBox="1"/>
          <p:nvPr/>
        </p:nvSpPr>
        <p:spPr>
          <a:xfrm>
            <a:off x="5038344" y="3584448"/>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25" name="Shape 23"/>
          <p:cNvSpPr/>
          <p:nvPr/>
        </p:nvSpPr>
        <p:spPr>
          <a:xfrm>
            <a:off x="6245352" y="3584448"/>
            <a:ext cx="1097280" cy="384048"/>
          </a:xfrm>
          <a:prstGeom prst="roundRect">
            <a:avLst>
              <a:gd name="adj" fmla="val 14286"/>
            </a:avLst>
          </a:prstGeom>
          <a:solidFill>
            <a:srgbClr val="F2F6F2"/>
          </a:solidFill>
          <a:ln w="12700">
            <a:solidFill>
              <a:srgbClr val="D9E3DB"/>
            </a:solidFill>
            <a:prstDash val="solid"/>
          </a:ln>
        </p:spPr>
      </p:sp>
      <p:sp>
        <p:nvSpPr>
          <p:cNvPr id="26" name="Text 24"/>
          <p:cNvSpPr txBox="1"/>
          <p:nvPr/>
        </p:nvSpPr>
        <p:spPr>
          <a:xfrm>
            <a:off x="6245352" y="3584448"/>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27" name="Text 25"/>
          <p:cNvSpPr txBox="1"/>
          <p:nvPr/>
        </p:nvSpPr>
        <p:spPr>
          <a:xfrm>
            <a:off x="548640" y="4114800"/>
            <a:ext cx="777240" cy="274320"/>
          </a:xfrm>
          <a:prstGeom prst="rect">
            <a:avLst/>
          </a:prstGeom>
          <a:noFill/>
          <a:ln/>
        </p:spPr>
        <p:txBody>
          <a:bodyPr wrap="square" lIns="0" tIns="0" rIns="0" bIns="0" rtlCol="0" anchor="ctr"/>
          <a:lstStyle/>
          <a:p>
            <a:pPr indent="0" marL="0">
              <a:buNone/>
            </a:pPr>
            <a:r>
              <a:rPr lang="en-US" sz="1100" dirty="0">
                <a:solidFill>
                  <a:srgbClr val="5C6B60"/>
                </a:solidFill>
                <a:latin typeface="Calibri" pitchFamily="34" charset="0"/>
                <a:ea typeface="Calibri" pitchFamily="34" charset="-122"/>
                <a:cs typeface="Calibri" pitchFamily="34" charset="-120"/>
              </a:rPr>
              <a:t>Fold 2</a:t>
            </a:r>
            <a:endParaRPr lang="en-US" sz="1100" dirty="0"/>
          </a:p>
        </p:txBody>
      </p:sp>
      <p:sp>
        <p:nvSpPr>
          <p:cNvPr id="28" name="Shape 26"/>
          <p:cNvSpPr/>
          <p:nvPr/>
        </p:nvSpPr>
        <p:spPr>
          <a:xfrm>
            <a:off x="1417320" y="4059936"/>
            <a:ext cx="1097280" cy="384048"/>
          </a:xfrm>
          <a:prstGeom prst="roundRect">
            <a:avLst>
              <a:gd name="adj" fmla="val 14286"/>
            </a:avLst>
          </a:prstGeom>
          <a:solidFill>
            <a:srgbClr val="F2F6F2"/>
          </a:solidFill>
          <a:ln w="12700">
            <a:solidFill>
              <a:srgbClr val="D9E3DB"/>
            </a:solidFill>
            <a:prstDash val="solid"/>
          </a:ln>
        </p:spPr>
      </p:sp>
      <p:sp>
        <p:nvSpPr>
          <p:cNvPr id="29" name="Text 27"/>
          <p:cNvSpPr txBox="1"/>
          <p:nvPr/>
        </p:nvSpPr>
        <p:spPr>
          <a:xfrm>
            <a:off x="1417320" y="4059936"/>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30" name="Shape 28"/>
          <p:cNvSpPr/>
          <p:nvPr/>
        </p:nvSpPr>
        <p:spPr>
          <a:xfrm>
            <a:off x="2624328" y="4059936"/>
            <a:ext cx="1097280" cy="384048"/>
          </a:xfrm>
          <a:prstGeom prst="roundRect">
            <a:avLst>
              <a:gd name="adj" fmla="val 14286"/>
            </a:avLst>
          </a:prstGeom>
          <a:solidFill>
            <a:srgbClr val="0E7C61"/>
          </a:solidFill>
          <a:ln w="12700">
            <a:solidFill>
              <a:srgbClr val="0E7C61"/>
            </a:solidFill>
            <a:prstDash val="solid"/>
          </a:ln>
        </p:spPr>
      </p:sp>
      <p:sp>
        <p:nvSpPr>
          <p:cNvPr id="31" name="Text 29"/>
          <p:cNvSpPr txBox="1"/>
          <p:nvPr/>
        </p:nvSpPr>
        <p:spPr>
          <a:xfrm>
            <a:off x="2624328" y="4059936"/>
            <a:ext cx="10972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32" name="Shape 30"/>
          <p:cNvSpPr/>
          <p:nvPr/>
        </p:nvSpPr>
        <p:spPr>
          <a:xfrm>
            <a:off x="3831336" y="4059936"/>
            <a:ext cx="1097280" cy="384048"/>
          </a:xfrm>
          <a:prstGeom prst="roundRect">
            <a:avLst>
              <a:gd name="adj" fmla="val 14286"/>
            </a:avLst>
          </a:prstGeom>
          <a:solidFill>
            <a:srgbClr val="F2F6F2"/>
          </a:solidFill>
          <a:ln w="12700">
            <a:solidFill>
              <a:srgbClr val="D9E3DB"/>
            </a:solidFill>
            <a:prstDash val="solid"/>
          </a:ln>
        </p:spPr>
      </p:sp>
      <p:sp>
        <p:nvSpPr>
          <p:cNvPr id="33" name="Text 31"/>
          <p:cNvSpPr txBox="1"/>
          <p:nvPr/>
        </p:nvSpPr>
        <p:spPr>
          <a:xfrm>
            <a:off x="3831336" y="4059936"/>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34" name="Shape 32"/>
          <p:cNvSpPr/>
          <p:nvPr/>
        </p:nvSpPr>
        <p:spPr>
          <a:xfrm>
            <a:off x="5038344" y="4059936"/>
            <a:ext cx="1097280" cy="384048"/>
          </a:xfrm>
          <a:prstGeom prst="roundRect">
            <a:avLst>
              <a:gd name="adj" fmla="val 14286"/>
            </a:avLst>
          </a:prstGeom>
          <a:solidFill>
            <a:srgbClr val="F2F6F2"/>
          </a:solidFill>
          <a:ln w="12700">
            <a:solidFill>
              <a:srgbClr val="D9E3DB"/>
            </a:solidFill>
            <a:prstDash val="solid"/>
          </a:ln>
        </p:spPr>
      </p:sp>
      <p:sp>
        <p:nvSpPr>
          <p:cNvPr id="35" name="Text 33"/>
          <p:cNvSpPr txBox="1"/>
          <p:nvPr/>
        </p:nvSpPr>
        <p:spPr>
          <a:xfrm>
            <a:off x="5038344" y="4059936"/>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36" name="Shape 34"/>
          <p:cNvSpPr/>
          <p:nvPr/>
        </p:nvSpPr>
        <p:spPr>
          <a:xfrm>
            <a:off x="6245352" y="4059936"/>
            <a:ext cx="1097280" cy="384048"/>
          </a:xfrm>
          <a:prstGeom prst="roundRect">
            <a:avLst>
              <a:gd name="adj" fmla="val 14286"/>
            </a:avLst>
          </a:prstGeom>
          <a:solidFill>
            <a:srgbClr val="F2F6F2"/>
          </a:solidFill>
          <a:ln w="12700">
            <a:solidFill>
              <a:srgbClr val="D9E3DB"/>
            </a:solidFill>
            <a:prstDash val="solid"/>
          </a:ln>
        </p:spPr>
      </p:sp>
      <p:sp>
        <p:nvSpPr>
          <p:cNvPr id="37" name="Text 35"/>
          <p:cNvSpPr txBox="1"/>
          <p:nvPr/>
        </p:nvSpPr>
        <p:spPr>
          <a:xfrm>
            <a:off x="6245352" y="4059936"/>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38" name="Text 36"/>
          <p:cNvSpPr txBox="1"/>
          <p:nvPr/>
        </p:nvSpPr>
        <p:spPr>
          <a:xfrm>
            <a:off x="548640" y="4590288"/>
            <a:ext cx="777240" cy="274320"/>
          </a:xfrm>
          <a:prstGeom prst="rect">
            <a:avLst/>
          </a:prstGeom>
          <a:noFill/>
          <a:ln/>
        </p:spPr>
        <p:txBody>
          <a:bodyPr wrap="square" lIns="0" tIns="0" rIns="0" bIns="0" rtlCol="0" anchor="ctr"/>
          <a:lstStyle/>
          <a:p>
            <a:pPr indent="0" marL="0">
              <a:buNone/>
            </a:pPr>
            <a:r>
              <a:rPr lang="en-US" sz="1100" dirty="0">
                <a:solidFill>
                  <a:srgbClr val="5C6B60"/>
                </a:solidFill>
                <a:latin typeface="Calibri" pitchFamily="34" charset="0"/>
                <a:ea typeface="Calibri" pitchFamily="34" charset="-122"/>
                <a:cs typeface="Calibri" pitchFamily="34" charset="-120"/>
              </a:rPr>
              <a:t>Fold 3</a:t>
            </a:r>
            <a:endParaRPr lang="en-US" sz="1100" dirty="0"/>
          </a:p>
        </p:txBody>
      </p:sp>
      <p:sp>
        <p:nvSpPr>
          <p:cNvPr id="39" name="Shape 37"/>
          <p:cNvSpPr/>
          <p:nvPr/>
        </p:nvSpPr>
        <p:spPr>
          <a:xfrm>
            <a:off x="1417320" y="4535424"/>
            <a:ext cx="1097280" cy="384048"/>
          </a:xfrm>
          <a:prstGeom prst="roundRect">
            <a:avLst>
              <a:gd name="adj" fmla="val 14286"/>
            </a:avLst>
          </a:prstGeom>
          <a:solidFill>
            <a:srgbClr val="F2F6F2"/>
          </a:solidFill>
          <a:ln w="12700">
            <a:solidFill>
              <a:srgbClr val="D9E3DB"/>
            </a:solidFill>
            <a:prstDash val="solid"/>
          </a:ln>
        </p:spPr>
      </p:sp>
      <p:sp>
        <p:nvSpPr>
          <p:cNvPr id="40" name="Text 38"/>
          <p:cNvSpPr txBox="1"/>
          <p:nvPr/>
        </p:nvSpPr>
        <p:spPr>
          <a:xfrm>
            <a:off x="1417320" y="4535424"/>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41" name="Shape 39"/>
          <p:cNvSpPr/>
          <p:nvPr/>
        </p:nvSpPr>
        <p:spPr>
          <a:xfrm>
            <a:off x="2624328" y="4535424"/>
            <a:ext cx="1097280" cy="384048"/>
          </a:xfrm>
          <a:prstGeom prst="roundRect">
            <a:avLst>
              <a:gd name="adj" fmla="val 14286"/>
            </a:avLst>
          </a:prstGeom>
          <a:solidFill>
            <a:srgbClr val="F2F6F2"/>
          </a:solidFill>
          <a:ln w="12700">
            <a:solidFill>
              <a:srgbClr val="D9E3DB"/>
            </a:solidFill>
            <a:prstDash val="solid"/>
          </a:ln>
        </p:spPr>
      </p:sp>
      <p:sp>
        <p:nvSpPr>
          <p:cNvPr id="42" name="Text 40"/>
          <p:cNvSpPr txBox="1"/>
          <p:nvPr/>
        </p:nvSpPr>
        <p:spPr>
          <a:xfrm>
            <a:off x="2624328" y="4535424"/>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43" name="Shape 41"/>
          <p:cNvSpPr/>
          <p:nvPr/>
        </p:nvSpPr>
        <p:spPr>
          <a:xfrm>
            <a:off x="3831336" y="4535424"/>
            <a:ext cx="1097280" cy="384048"/>
          </a:xfrm>
          <a:prstGeom prst="roundRect">
            <a:avLst>
              <a:gd name="adj" fmla="val 14286"/>
            </a:avLst>
          </a:prstGeom>
          <a:solidFill>
            <a:srgbClr val="0E7C61"/>
          </a:solidFill>
          <a:ln w="12700">
            <a:solidFill>
              <a:srgbClr val="0E7C61"/>
            </a:solidFill>
            <a:prstDash val="solid"/>
          </a:ln>
        </p:spPr>
      </p:sp>
      <p:sp>
        <p:nvSpPr>
          <p:cNvPr id="44" name="Text 42"/>
          <p:cNvSpPr txBox="1"/>
          <p:nvPr/>
        </p:nvSpPr>
        <p:spPr>
          <a:xfrm>
            <a:off x="3831336" y="4535424"/>
            <a:ext cx="10972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45" name="Shape 43"/>
          <p:cNvSpPr/>
          <p:nvPr/>
        </p:nvSpPr>
        <p:spPr>
          <a:xfrm>
            <a:off x="5038344" y="4535424"/>
            <a:ext cx="1097280" cy="384048"/>
          </a:xfrm>
          <a:prstGeom prst="roundRect">
            <a:avLst>
              <a:gd name="adj" fmla="val 14286"/>
            </a:avLst>
          </a:prstGeom>
          <a:solidFill>
            <a:srgbClr val="F2F6F2"/>
          </a:solidFill>
          <a:ln w="12700">
            <a:solidFill>
              <a:srgbClr val="D9E3DB"/>
            </a:solidFill>
            <a:prstDash val="solid"/>
          </a:ln>
        </p:spPr>
      </p:sp>
      <p:sp>
        <p:nvSpPr>
          <p:cNvPr id="46" name="Text 44"/>
          <p:cNvSpPr txBox="1"/>
          <p:nvPr/>
        </p:nvSpPr>
        <p:spPr>
          <a:xfrm>
            <a:off x="5038344" y="4535424"/>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47" name="Shape 45"/>
          <p:cNvSpPr/>
          <p:nvPr/>
        </p:nvSpPr>
        <p:spPr>
          <a:xfrm>
            <a:off x="6245352" y="4535424"/>
            <a:ext cx="1097280" cy="384048"/>
          </a:xfrm>
          <a:prstGeom prst="roundRect">
            <a:avLst>
              <a:gd name="adj" fmla="val 14286"/>
            </a:avLst>
          </a:prstGeom>
          <a:solidFill>
            <a:srgbClr val="F2F6F2"/>
          </a:solidFill>
          <a:ln w="12700">
            <a:solidFill>
              <a:srgbClr val="D9E3DB"/>
            </a:solidFill>
            <a:prstDash val="solid"/>
          </a:ln>
        </p:spPr>
      </p:sp>
      <p:sp>
        <p:nvSpPr>
          <p:cNvPr id="48" name="Text 46"/>
          <p:cNvSpPr txBox="1"/>
          <p:nvPr/>
        </p:nvSpPr>
        <p:spPr>
          <a:xfrm>
            <a:off x="6245352" y="4535424"/>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49" name="Text 47"/>
          <p:cNvSpPr txBox="1"/>
          <p:nvPr/>
        </p:nvSpPr>
        <p:spPr>
          <a:xfrm>
            <a:off x="548640" y="5065776"/>
            <a:ext cx="777240" cy="274320"/>
          </a:xfrm>
          <a:prstGeom prst="rect">
            <a:avLst/>
          </a:prstGeom>
          <a:noFill/>
          <a:ln/>
        </p:spPr>
        <p:txBody>
          <a:bodyPr wrap="square" lIns="0" tIns="0" rIns="0" bIns="0" rtlCol="0" anchor="ctr"/>
          <a:lstStyle/>
          <a:p>
            <a:pPr indent="0" marL="0">
              <a:buNone/>
            </a:pPr>
            <a:r>
              <a:rPr lang="en-US" sz="1100" dirty="0">
                <a:solidFill>
                  <a:srgbClr val="5C6B60"/>
                </a:solidFill>
                <a:latin typeface="Calibri" pitchFamily="34" charset="0"/>
                <a:ea typeface="Calibri" pitchFamily="34" charset="-122"/>
                <a:cs typeface="Calibri" pitchFamily="34" charset="-120"/>
              </a:rPr>
              <a:t>Fold 4</a:t>
            </a:r>
            <a:endParaRPr lang="en-US" sz="1100" dirty="0"/>
          </a:p>
        </p:txBody>
      </p:sp>
      <p:sp>
        <p:nvSpPr>
          <p:cNvPr id="50" name="Shape 48"/>
          <p:cNvSpPr/>
          <p:nvPr/>
        </p:nvSpPr>
        <p:spPr>
          <a:xfrm>
            <a:off x="1417320" y="5010912"/>
            <a:ext cx="1097280" cy="384048"/>
          </a:xfrm>
          <a:prstGeom prst="roundRect">
            <a:avLst>
              <a:gd name="adj" fmla="val 14286"/>
            </a:avLst>
          </a:prstGeom>
          <a:solidFill>
            <a:srgbClr val="F2F6F2"/>
          </a:solidFill>
          <a:ln w="12700">
            <a:solidFill>
              <a:srgbClr val="D9E3DB"/>
            </a:solidFill>
            <a:prstDash val="solid"/>
          </a:ln>
        </p:spPr>
      </p:sp>
      <p:sp>
        <p:nvSpPr>
          <p:cNvPr id="51" name="Text 49"/>
          <p:cNvSpPr txBox="1"/>
          <p:nvPr/>
        </p:nvSpPr>
        <p:spPr>
          <a:xfrm>
            <a:off x="1417320" y="5010912"/>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52" name="Shape 50"/>
          <p:cNvSpPr/>
          <p:nvPr/>
        </p:nvSpPr>
        <p:spPr>
          <a:xfrm>
            <a:off x="2624328" y="5010912"/>
            <a:ext cx="1097280" cy="384048"/>
          </a:xfrm>
          <a:prstGeom prst="roundRect">
            <a:avLst>
              <a:gd name="adj" fmla="val 14286"/>
            </a:avLst>
          </a:prstGeom>
          <a:solidFill>
            <a:srgbClr val="F2F6F2"/>
          </a:solidFill>
          <a:ln w="12700">
            <a:solidFill>
              <a:srgbClr val="D9E3DB"/>
            </a:solidFill>
            <a:prstDash val="solid"/>
          </a:ln>
        </p:spPr>
      </p:sp>
      <p:sp>
        <p:nvSpPr>
          <p:cNvPr id="53" name="Text 51"/>
          <p:cNvSpPr txBox="1"/>
          <p:nvPr/>
        </p:nvSpPr>
        <p:spPr>
          <a:xfrm>
            <a:off x="2624328" y="5010912"/>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54" name="Shape 52"/>
          <p:cNvSpPr/>
          <p:nvPr/>
        </p:nvSpPr>
        <p:spPr>
          <a:xfrm>
            <a:off x="3831336" y="5010912"/>
            <a:ext cx="1097280" cy="384048"/>
          </a:xfrm>
          <a:prstGeom prst="roundRect">
            <a:avLst>
              <a:gd name="adj" fmla="val 14286"/>
            </a:avLst>
          </a:prstGeom>
          <a:solidFill>
            <a:srgbClr val="F2F6F2"/>
          </a:solidFill>
          <a:ln w="12700">
            <a:solidFill>
              <a:srgbClr val="D9E3DB"/>
            </a:solidFill>
            <a:prstDash val="solid"/>
          </a:ln>
        </p:spPr>
      </p:sp>
      <p:sp>
        <p:nvSpPr>
          <p:cNvPr id="55" name="Text 53"/>
          <p:cNvSpPr txBox="1"/>
          <p:nvPr/>
        </p:nvSpPr>
        <p:spPr>
          <a:xfrm>
            <a:off x="3831336" y="5010912"/>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56" name="Shape 54"/>
          <p:cNvSpPr/>
          <p:nvPr/>
        </p:nvSpPr>
        <p:spPr>
          <a:xfrm>
            <a:off x="5038344" y="5010912"/>
            <a:ext cx="1097280" cy="384048"/>
          </a:xfrm>
          <a:prstGeom prst="roundRect">
            <a:avLst>
              <a:gd name="adj" fmla="val 14286"/>
            </a:avLst>
          </a:prstGeom>
          <a:solidFill>
            <a:srgbClr val="0E7C61"/>
          </a:solidFill>
          <a:ln w="12700">
            <a:solidFill>
              <a:srgbClr val="0E7C61"/>
            </a:solidFill>
            <a:prstDash val="solid"/>
          </a:ln>
        </p:spPr>
      </p:sp>
      <p:sp>
        <p:nvSpPr>
          <p:cNvPr id="57" name="Text 55"/>
          <p:cNvSpPr txBox="1"/>
          <p:nvPr/>
        </p:nvSpPr>
        <p:spPr>
          <a:xfrm>
            <a:off x="5038344" y="5010912"/>
            <a:ext cx="10972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58" name="Shape 56"/>
          <p:cNvSpPr/>
          <p:nvPr/>
        </p:nvSpPr>
        <p:spPr>
          <a:xfrm>
            <a:off x="6245352" y="5010912"/>
            <a:ext cx="1097280" cy="384048"/>
          </a:xfrm>
          <a:prstGeom prst="roundRect">
            <a:avLst>
              <a:gd name="adj" fmla="val 14286"/>
            </a:avLst>
          </a:prstGeom>
          <a:solidFill>
            <a:srgbClr val="F2F6F2"/>
          </a:solidFill>
          <a:ln w="12700">
            <a:solidFill>
              <a:srgbClr val="D9E3DB"/>
            </a:solidFill>
            <a:prstDash val="solid"/>
          </a:ln>
        </p:spPr>
      </p:sp>
      <p:sp>
        <p:nvSpPr>
          <p:cNvPr id="59" name="Text 57"/>
          <p:cNvSpPr txBox="1"/>
          <p:nvPr/>
        </p:nvSpPr>
        <p:spPr>
          <a:xfrm>
            <a:off x="6245352" y="5010912"/>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60" name="Text 58"/>
          <p:cNvSpPr txBox="1"/>
          <p:nvPr/>
        </p:nvSpPr>
        <p:spPr>
          <a:xfrm>
            <a:off x="548640" y="5541264"/>
            <a:ext cx="777240" cy="274320"/>
          </a:xfrm>
          <a:prstGeom prst="rect">
            <a:avLst/>
          </a:prstGeom>
          <a:noFill/>
          <a:ln/>
        </p:spPr>
        <p:txBody>
          <a:bodyPr wrap="square" lIns="0" tIns="0" rIns="0" bIns="0" rtlCol="0" anchor="ctr"/>
          <a:lstStyle/>
          <a:p>
            <a:pPr indent="0" marL="0">
              <a:buNone/>
            </a:pPr>
            <a:r>
              <a:rPr lang="en-US" sz="1100" dirty="0">
                <a:solidFill>
                  <a:srgbClr val="5C6B60"/>
                </a:solidFill>
                <a:latin typeface="Calibri" pitchFamily="34" charset="0"/>
                <a:ea typeface="Calibri" pitchFamily="34" charset="-122"/>
                <a:cs typeface="Calibri" pitchFamily="34" charset="-120"/>
              </a:rPr>
              <a:t>Fold 5</a:t>
            </a:r>
            <a:endParaRPr lang="en-US" sz="1100" dirty="0"/>
          </a:p>
        </p:txBody>
      </p:sp>
      <p:sp>
        <p:nvSpPr>
          <p:cNvPr id="61" name="Shape 59"/>
          <p:cNvSpPr/>
          <p:nvPr/>
        </p:nvSpPr>
        <p:spPr>
          <a:xfrm>
            <a:off x="1417320" y="5486400"/>
            <a:ext cx="1097280" cy="384048"/>
          </a:xfrm>
          <a:prstGeom prst="roundRect">
            <a:avLst>
              <a:gd name="adj" fmla="val 14286"/>
            </a:avLst>
          </a:prstGeom>
          <a:solidFill>
            <a:srgbClr val="F2F6F2"/>
          </a:solidFill>
          <a:ln w="12700">
            <a:solidFill>
              <a:srgbClr val="D9E3DB"/>
            </a:solidFill>
            <a:prstDash val="solid"/>
          </a:ln>
        </p:spPr>
      </p:sp>
      <p:sp>
        <p:nvSpPr>
          <p:cNvPr id="62" name="Text 60"/>
          <p:cNvSpPr txBox="1"/>
          <p:nvPr/>
        </p:nvSpPr>
        <p:spPr>
          <a:xfrm>
            <a:off x="1417320" y="5486400"/>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63" name="Shape 61"/>
          <p:cNvSpPr/>
          <p:nvPr/>
        </p:nvSpPr>
        <p:spPr>
          <a:xfrm>
            <a:off x="2624328" y="5486400"/>
            <a:ext cx="1097280" cy="384048"/>
          </a:xfrm>
          <a:prstGeom prst="roundRect">
            <a:avLst>
              <a:gd name="adj" fmla="val 14286"/>
            </a:avLst>
          </a:prstGeom>
          <a:solidFill>
            <a:srgbClr val="F2F6F2"/>
          </a:solidFill>
          <a:ln w="12700">
            <a:solidFill>
              <a:srgbClr val="D9E3DB"/>
            </a:solidFill>
            <a:prstDash val="solid"/>
          </a:ln>
        </p:spPr>
      </p:sp>
      <p:sp>
        <p:nvSpPr>
          <p:cNvPr id="64" name="Text 62"/>
          <p:cNvSpPr txBox="1"/>
          <p:nvPr/>
        </p:nvSpPr>
        <p:spPr>
          <a:xfrm>
            <a:off x="2624328" y="5486400"/>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65" name="Shape 63"/>
          <p:cNvSpPr/>
          <p:nvPr/>
        </p:nvSpPr>
        <p:spPr>
          <a:xfrm>
            <a:off x="3831336" y="5486400"/>
            <a:ext cx="1097280" cy="384048"/>
          </a:xfrm>
          <a:prstGeom prst="roundRect">
            <a:avLst>
              <a:gd name="adj" fmla="val 14286"/>
            </a:avLst>
          </a:prstGeom>
          <a:solidFill>
            <a:srgbClr val="F2F6F2"/>
          </a:solidFill>
          <a:ln w="12700">
            <a:solidFill>
              <a:srgbClr val="D9E3DB"/>
            </a:solidFill>
            <a:prstDash val="solid"/>
          </a:ln>
        </p:spPr>
      </p:sp>
      <p:sp>
        <p:nvSpPr>
          <p:cNvPr id="66" name="Text 64"/>
          <p:cNvSpPr txBox="1"/>
          <p:nvPr/>
        </p:nvSpPr>
        <p:spPr>
          <a:xfrm>
            <a:off x="3831336" y="5486400"/>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67" name="Shape 65"/>
          <p:cNvSpPr/>
          <p:nvPr/>
        </p:nvSpPr>
        <p:spPr>
          <a:xfrm>
            <a:off x="5038344" y="5486400"/>
            <a:ext cx="1097280" cy="384048"/>
          </a:xfrm>
          <a:prstGeom prst="roundRect">
            <a:avLst>
              <a:gd name="adj" fmla="val 14286"/>
            </a:avLst>
          </a:prstGeom>
          <a:solidFill>
            <a:srgbClr val="F2F6F2"/>
          </a:solidFill>
          <a:ln w="12700">
            <a:solidFill>
              <a:srgbClr val="D9E3DB"/>
            </a:solidFill>
            <a:prstDash val="solid"/>
          </a:ln>
        </p:spPr>
      </p:sp>
      <p:sp>
        <p:nvSpPr>
          <p:cNvPr id="68" name="Text 66"/>
          <p:cNvSpPr txBox="1"/>
          <p:nvPr/>
        </p:nvSpPr>
        <p:spPr>
          <a:xfrm>
            <a:off x="5038344" y="5486400"/>
            <a:ext cx="1097280" cy="384048"/>
          </a:xfrm>
          <a:prstGeom prst="rect">
            <a:avLst/>
          </a:prstGeom>
          <a:noFill/>
          <a:ln/>
        </p:spPr>
        <p:txBody>
          <a:bodyPr wrap="square" lIns="0" tIns="0" rIns="0" bIns="0" rtlCol="0" anchor="ctr"/>
          <a:lstStyle/>
          <a:p>
            <a:pPr algn="ctr" indent="0" marL="0">
              <a:buNone/>
            </a:pPr>
            <a:r>
              <a:rPr lang="en-US" sz="1050" dirty="0">
                <a:solidFill>
                  <a:srgbClr val="5C6B60"/>
                </a:solidFill>
                <a:latin typeface="Calibri" pitchFamily="34" charset="0"/>
                <a:ea typeface="Calibri" pitchFamily="34" charset="-122"/>
                <a:cs typeface="Calibri" pitchFamily="34" charset="-120"/>
              </a:rPr>
              <a:t>train</a:t>
            </a:r>
            <a:endParaRPr lang="en-US" sz="1050" dirty="0"/>
          </a:p>
        </p:txBody>
      </p:sp>
      <p:sp>
        <p:nvSpPr>
          <p:cNvPr id="69" name="Shape 67"/>
          <p:cNvSpPr/>
          <p:nvPr/>
        </p:nvSpPr>
        <p:spPr>
          <a:xfrm>
            <a:off x="6245352" y="5486400"/>
            <a:ext cx="1097280" cy="384048"/>
          </a:xfrm>
          <a:prstGeom prst="roundRect">
            <a:avLst>
              <a:gd name="adj" fmla="val 14286"/>
            </a:avLst>
          </a:prstGeom>
          <a:solidFill>
            <a:srgbClr val="0E7C61"/>
          </a:solidFill>
          <a:ln w="12700">
            <a:solidFill>
              <a:srgbClr val="0E7C61"/>
            </a:solidFill>
            <a:prstDash val="solid"/>
          </a:ln>
        </p:spPr>
      </p:sp>
      <p:sp>
        <p:nvSpPr>
          <p:cNvPr id="70" name="Text 68"/>
          <p:cNvSpPr txBox="1"/>
          <p:nvPr/>
        </p:nvSpPr>
        <p:spPr>
          <a:xfrm>
            <a:off x="6245352" y="5486400"/>
            <a:ext cx="109728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validate</a:t>
            </a:r>
            <a:endParaRPr lang="en-US" sz="1050" dirty="0"/>
          </a:p>
        </p:txBody>
      </p:sp>
      <p:sp>
        <p:nvSpPr>
          <p:cNvPr id="71" name="Shape 69"/>
          <p:cNvSpPr/>
          <p:nvPr/>
        </p:nvSpPr>
        <p:spPr>
          <a:xfrm>
            <a:off x="7772400" y="3584448"/>
            <a:ext cx="3840480" cy="2148840"/>
          </a:xfrm>
          <a:prstGeom prst="roundRect">
            <a:avLst>
              <a:gd name="adj" fmla="val 5106"/>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2" name="Text 70"/>
          <p:cNvSpPr txBox="1"/>
          <p:nvPr/>
        </p:nvSpPr>
        <p:spPr>
          <a:xfrm>
            <a:off x="8092440" y="3767328"/>
            <a:ext cx="3291840" cy="320040"/>
          </a:xfrm>
          <a:prstGeom prst="rect">
            <a:avLst/>
          </a:prstGeom>
          <a:noFill/>
          <a:ln/>
        </p:spPr>
        <p:txBody>
          <a:bodyPr wrap="square" lIns="0" tIns="0" rIns="0" bIns="0" rtlCol="0" anchor="ctr"/>
          <a:lstStyle/>
          <a:p>
            <a:pPr indent="0" marL="0">
              <a:buNone/>
            </a:pPr>
            <a:r>
              <a:rPr lang="en-US" sz="1600" b="1" dirty="0">
                <a:solidFill>
                  <a:srgbClr val="0E7C61"/>
                </a:solidFill>
                <a:latin typeface="Cambria" pitchFamily="34" charset="0"/>
                <a:ea typeface="Cambria" pitchFamily="34" charset="-122"/>
                <a:cs typeface="Cambria" pitchFamily="34" charset="-120"/>
              </a:rPr>
              <a:t>Why bother?</a:t>
            </a:r>
            <a:endParaRPr lang="en-US" sz="1600" dirty="0"/>
          </a:p>
        </p:txBody>
      </p:sp>
      <p:sp>
        <p:nvSpPr>
          <p:cNvPr id="73" name="Text 71"/>
          <p:cNvSpPr txBox="1"/>
          <p:nvPr/>
        </p:nvSpPr>
        <p:spPr>
          <a:xfrm>
            <a:off x="8092440" y="4114800"/>
            <a:ext cx="3291840" cy="1554480"/>
          </a:xfrm>
          <a:prstGeom prst="rect">
            <a:avLst/>
          </a:prstGeom>
          <a:noFill/>
          <a:ln/>
        </p:spPr>
        <p:txBody>
          <a:bodyPr wrap="square" lIns="0" tIns="0" rIns="0" bIns="0" rtlCol="0" anchor="t"/>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With a small dataset, a single split is a lottery — one unlucky partition and your estimate is meaningless.</a:t>
            </a:r>
            <a:endParaRPr lang="en-US" sz="1200" dirty="0"/>
          </a:p>
          <a:p>
            <a:pPr indent="0" marL="0">
              <a:lnSpc>
                <a:spcPts val="1600"/>
              </a:lnSpc>
              <a:buNone/>
            </a:pPr>
            <a:endParaRPr lang="en-US" sz="1200" dirty="0"/>
          </a:p>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k-fold rotates the validation block, trains k times, and averages. You get a more stable estimate plus a standard deviation.</a:t>
            </a:r>
            <a:endParaRPr lang="en-US" sz="1200" dirty="0"/>
          </a:p>
        </p:txBody>
      </p:sp>
      <p:sp>
        <p:nvSpPr>
          <p:cNvPr id="75" name="Text 72"/>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76" name="Text 73"/>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36</a:t>
            </a:r>
            <a:endParaRPr lang="en-US" sz="900" dirty="0"/>
          </a:p>
        </p:txBody>
      </p:sp>
      <p:pic>
        <p:nvPicPr>
          <p:cNvPr id="77" name="Picture 76"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TELL ME YOUR NEIGHBOURS AND I WILL TELL YOU WHO YOU ARE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Your First Algorithm: k-Nearest Neighbours</a:t>
            </a:r>
            <a:endParaRPr lang="en-US" sz="3000" dirty="0"/>
          </a:p>
        </p:txBody>
      </p:sp>
      <p:sp>
        <p:nvSpPr>
          <p:cNvPr id="4" name="Shape 2"/>
          <p:cNvSpPr/>
          <p:nvPr/>
        </p:nvSpPr>
        <p:spPr>
          <a:xfrm>
            <a:off x="548640" y="1600200"/>
            <a:ext cx="5394960" cy="4297680"/>
          </a:xfrm>
          <a:prstGeom prst="roundRect">
            <a:avLst>
              <a:gd name="adj" fmla="val 2553"/>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68680" y="1828800"/>
            <a:ext cx="4754880" cy="365760"/>
          </a:xfrm>
          <a:prstGeom prst="rect">
            <a:avLst/>
          </a:prstGeom>
          <a:noFill/>
          <a:ln/>
        </p:spPr>
        <p:txBody>
          <a:bodyPr wrap="square" lIns="0" tIns="0" rIns="0" bIns="0" rtlCol="0" anchor="ctr"/>
          <a:lstStyle/>
          <a:p>
            <a:pPr indent="0" marL="0">
              <a:buNone/>
            </a:pPr>
            <a:r>
              <a:rPr lang="en-US" sz="1900" b="1" dirty="0">
                <a:solidFill>
                  <a:srgbClr val="0F6B3C"/>
                </a:solidFill>
                <a:latin typeface="Cambria" pitchFamily="34" charset="0"/>
                <a:ea typeface="Cambria" pitchFamily="34" charset="-122"/>
                <a:cs typeface="Cambria" pitchFamily="34" charset="-120"/>
              </a:rPr>
              <a:t>The entire algorithm</a:t>
            </a:r>
            <a:endParaRPr lang="en-US" sz="1900" dirty="0"/>
          </a:p>
        </p:txBody>
      </p:sp>
      <p:sp>
        <p:nvSpPr>
          <p:cNvPr id="6" name="Shape 4"/>
          <p:cNvSpPr/>
          <p:nvPr/>
        </p:nvSpPr>
        <p:spPr>
          <a:xfrm>
            <a:off x="914400" y="2322576"/>
            <a:ext cx="384048" cy="384048"/>
          </a:xfrm>
          <a:prstGeom prst="ellipse">
            <a:avLst/>
          </a:prstGeom>
          <a:solidFill>
            <a:srgbClr val="C9A227"/>
          </a:solidFill>
          <a:ln w="12700">
            <a:solidFill>
              <a:srgbClr val="C9A227"/>
            </a:solidFill>
            <a:prstDash val="solid"/>
          </a:ln>
        </p:spPr>
      </p:sp>
      <p:sp>
        <p:nvSpPr>
          <p:cNvPr id="7" name="Text 5"/>
          <p:cNvSpPr txBox="1"/>
          <p:nvPr/>
        </p:nvSpPr>
        <p:spPr>
          <a:xfrm>
            <a:off x="914400" y="2322576"/>
            <a:ext cx="384048" cy="38404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44752" y="2267712"/>
            <a:ext cx="4206240" cy="685800"/>
          </a:xfrm>
          <a:prstGeom prst="rect">
            <a:avLst/>
          </a:prstGeom>
          <a:noFill/>
          <a:ln/>
        </p:spPr>
        <p:txBody>
          <a:bodyPr wrap="square" lIns="0" tIns="0" rIns="0" bIns="0" rtlCol="0" anchor="ctr"/>
          <a:lstStyle/>
          <a:p>
            <a:pPr indent="0" marL="0">
              <a:lnSpc>
                <a:spcPts val="1700"/>
              </a:lnSpc>
              <a:buNone/>
            </a:pPr>
            <a:r>
              <a:rPr lang="en-US" sz="1300" dirty="0">
                <a:solidFill>
                  <a:srgbClr val="1B2A20"/>
                </a:solidFill>
                <a:latin typeface="Calibri" pitchFamily="34" charset="0"/>
                <a:ea typeface="Calibri" pitchFamily="34" charset="-122"/>
                <a:cs typeface="Calibri" pitchFamily="34" charset="-120"/>
              </a:rPr>
              <a:t>Store the whole training set. That is all "training" is.</a:t>
            </a:r>
            <a:endParaRPr lang="en-US" sz="1300" dirty="0"/>
          </a:p>
        </p:txBody>
      </p:sp>
      <p:sp>
        <p:nvSpPr>
          <p:cNvPr id="9" name="Shape 7"/>
          <p:cNvSpPr/>
          <p:nvPr/>
        </p:nvSpPr>
        <p:spPr>
          <a:xfrm>
            <a:off x="914400" y="3163824"/>
            <a:ext cx="384048" cy="384048"/>
          </a:xfrm>
          <a:prstGeom prst="ellipse">
            <a:avLst/>
          </a:prstGeom>
          <a:solidFill>
            <a:srgbClr val="C9A227"/>
          </a:solidFill>
          <a:ln w="12700">
            <a:solidFill>
              <a:srgbClr val="C9A227"/>
            </a:solidFill>
            <a:prstDash val="solid"/>
          </a:ln>
        </p:spPr>
      </p:sp>
      <p:sp>
        <p:nvSpPr>
          <p:cNvPr id="10" name="Text 8"/>
          <p:cNvSpPr txBox="1"/>
          <p:nvPr/>
        </p:nvSpPr>
        <p:spPr>
          <a:xfrm>
            <a:off x="914400" y="3163824"/>
            <a:ext cx="384048" cy="38404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444752" y="3108960"/>
            <a:ext cx="4206240" cy="685800"/>
          </a:xfrm>
          <a:prstGeom prst="rect">
            <a:avLst/>
          </a:prstGeom>
          <a:noFill/>
          <a:ln/>
        </p:spPr>
        <p:txBody>
          <a:bodyPr wrap="square" lIns="0" tIns="0" rIns="0" bIns="0" rtlCol="0" anchor="ctr"/>
          <a:lstStyle/>
          <a:p>
            <a:pPr indent="0" marL="0">
              <a:lnSpc>
                <a:spcPts val="1700"/>
              </a:lnSpc>
              <a:buNone/>
            </a:pPr>
            <a:r>
              <a:rPr lang="en-US" sz="1300" dirty="0">
                <a:solidFill>
                  <a:srgbClr val="1B2A20"/>
                </a:solidFill>
                <a:latin typeface="Calibri" pitchFamily="34" charset="0"/>
                <a:ea typeface="Calibri" pitchFamily="34" charset="-122"/>
                <a:cs typeface="Calibri" pitchFamily="34" charset="-120"/>
              </a:rPr>
              <a:t>A new case arrives. Compute its distance to every stored example.</a:t>
            </a:r>
            <a:endParaRPr lang="en-US" sz="1300" dirty="0"/>
          </a:p>
        </p:txBody>
      </p:sp>
      <p:sp>
        <p:nvSpPr>
          <p:cNvPr id="12" name="Shape 10"/>
          <p:cNvSpPr/>
          <p:nvPr/>
        </p:nvSpPr>
        <p:spPr>
          <a:xfrm>
            <a:off x="914400" y="4005072"/>
            <a:ext cx="384048" cy="384048"/>
          </a:xfrm>
          <a:prstGeom prst="ellipse">
            <a:avLst/>
          </a:prstGeom>
          <a:solidFill>
            <a:srgbClr val="C9A227"/>
          </a:solidFill>
          <a:ln w="12700">
            <a:solidFill>
              <a:srgbClr val="C9A227"/>
            </a:solidFill>
            <a:prstDash val="solid"/>
          </a:ln>
        </p:spPr>
      </p:sp>
      <p:sp>
        <p:nvSpPr>
          <p:cNvPr id="13" name="Text 11"/>
          <p:cNvSpPr txBox="1"/>
          <p:nvPr/>
        </p:nvSpPr>
        <p:spPr>
          <a:xfrm>
            <a:off x="914400" y="4005072"/>
            <a:ext cx="384048" cy="38404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444752" y="3950208"/>
            <a:ext cx="4206240" cy="685800"/>
          </a:xfrm>
          <a:prstGeom prst="rect">
            <a:avLst/>
          </a:prstGeom>
          <a:noFill/>
          <a:ln/>
        </p:spPr>
        <p:txBody>
          <a:bodyPr wrap="square" lIns="0" tIns="0" rIns="0" bIns="0" rtlCol="0" anchor="ctr"/>
          <a:lstStyle/>
          <a:p>
            <a:pPr indent="0" marL="0">
              <a:lnSpc>
                <a:spcPts val="1700"/>
              </a:lnSpc>
              <a:buNone/>
            </a:pPr>
            <a:r>
              <a:rPr lang="en-US" sz="1300" dirty="0">
                <a:solidFill>
                  <a:srgbClr val="1B2A20"/>
                </a:solidFill>
                <a:latin typeface="Calibri" pitchFamily="34" charset="0"/>
                <a:ea typeface="Calibri" pitchFamily="34" charset="-122"/>
                <a:cs typeface="Calibri" pitchFamily="34" charset="-120"/>
              </a:rPr>
              <a:t>Take the k closest examples.</a:t>
            </a:r>
            <a:endParaRPr lang="en-US" sz="1300" dirty="0"/>
          </a:p>
        </p:txBody>
      </p:sp>
      <p:sp>
        <p:nvSpPr>
          <p:cNvPr id="15" name="Shape 13"/>
          <p:cNvSpPr/>
          <p:nvPr/>
        </p:nvSpPr>
        <p:spPr>
          <a:xfrm>
            <a:off x="914400" y="4846320"/>
            <a:ext cx="384048" cy="384048"/>
          </a:xfrm>
          <a:prstGeom prst="ellipse">
            <a:avLst/>
          </a:prstGeom>
          <a:solidFill>
            <a:srgbClr val="C9A227"/>
          </a:solidFill>
          <a:ln w="12700">
            <a:solidFill>
              <a:srgbClr val="C9A227"/>
            </a:solidFill>
            <a:prstDash val="solid"/>
          </a:ln>
        </p:spPr>
      </p:sp>
      <p:sp>
        <p:nvSpPr>
          <p:cNvPr id="16" name="Text 14"/>
          <p:cNvSpPr txBox="1"/>
          <p:nvPr/>
        </p:nvSpPr>
        <p:spPr>
          <a:xfrm>
            <a:off x="914400" y="4846320"/>
            <a:ext cx="384048" cy="384048"/>
          </a:xfrm>
          <a:prstGeom prst="rect">
            <a:avLst/>
          </a:prstGeom>
          <a:noFill/>
          <a:ln/>
        </p:spPr>
        <p:txBody>
          <a:bodyPr wrap="square" lIns="0" tIns="0" rIns="0" bIns="0" rtlCol="0" anchor="ctr"/>
          <a:lstStyle/>
          <a:p>
            <a:pPr algn="ctr" indent="0" marL="0">
              <a:buNone/>
            </a:pPr>
            <a:r>
              <a:rPr lang="en-US" sz="1300" b="1" dirty="0">
                <a:solidFill>
                  <a:srgbClr val="0F6B3C"/>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444752" y="4791456"/>
            <a:ext cx="4206240" cy="685800"/>
          </a:xfrm>
          <a:prstGeom prst="rect">
            <a:avLst/>
          </a:prstGeom>
          <a:noFill/>
          <a:ln/>
        </p:spPr>
        <p:txBody>
          <a:bodyPr wrap="square" lIns="0" tIns="0" rIns="0" bIns="0" rtlCol="0" anchor="ctr"/>
          <a:lstStyle/>
          <a:p>
            <a:pPr indent="0" marL="0">
              <a:lnSpc>
                <a:spcPts val="1700"/>
              </a:lnSpc>
              <a:buNone/>
            </a:pPr>
            <a:r>
              <a:rPr lang="en-US" sz="1300" dirty="0">
                <a:solidFill>
                  <a:srgbClr val="1B2A20"/>
                </a:solidFill>
                <a:latin typeface="Calibri" pitchFamily="34" charset="0"/>
                <a:ea typeface="Calibri" pitchFamily="34" charset="-122"/>
                <a:cs typeface="Calibri" pitchFamily="34" charset="-120"/>
              </a:rPr>
              <a:t>Classification: they vote, majority wins. Regression: average their values.</a:t>
            </a:r>
            <a:endParaRPr lang="en-US" sz="1300" dirty="0"/>
          </a:p>
        </p:txBody>
      </p:sp>
      <p:sp>
        <p:nvSpPr>
          <p:cNvPr id="18" name="Text 16"/>
          <p:cNvSpPr txBox="1"/>
          <p:nvPr/>
        </p:nvSpPr>
        <p:spPr>
          <a:xfrm>
            <a:off x="868680" y="5486400"/>
            <a:ext cx="4754880" cy="320040"/>
          </a:xfrm>
          <a:prstGeom prst="rect">
            <a:avLst/>
          </a:prstGeom>
          <a:noFill/>
          <a:ln/>
        </p:spPr>
        <p:txBody>
          <a:bodyPr wrap="square" lIns="0" tIns="0" rIns="0" bIns="0" rtlCol="0" anchor="ctr"/>
          <a:lstStyle/>
          <a:p>
            <a:pPr indent="0" marL="0">
              <a:buNone/>
            </a:pPr>
            <a:r>
              <a:rPr lang="en-US" sz="1300" b="1" dirty="0">
                <a:solidFill>
                  <a:srgbClr val="0F6B3C"/>
                </a:solidFill>
                <a:latin typeface="Courier New" pitchFamily="34" charset="0"/>
                <a:ea typeface="Courier New" pitchFamily="34" charset="-122"/>
                <a:cs typeface="Courier New" pitchFamily="34" charset="-120"/>
              </a:rPr>
              <a:t>Euclidean distance:   d(a, b) = √ Σ (aⱼ − bⱼ)²</a:t>
            </a:r>
            <a:endParaRPr lang="en-US" sz="1300" dirty="0"/>
          </a:p>
        </p:txBody>
      </p:sp>
      <p:sp>
        <p:nvSpPr>
          <p:cNvPr id="19" name="Shape 17"/>
          <p:cNvSpPr/>
          <p:nvPr/>
        </p:nvSpPr>
        <p:spPr>
          <a:xfrm>
            <a:off x="6217920" y="1600200"/>
            <a:ext cx="5394960" cy="2057400"/>
          </a:xfrm>
          <a:prstGeom prst="roundRect">
            <a:avLst>
              <a:gd name="adj" fmla="val 533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Text 18"/>
          <p:cNvSpPr txBox="1"/>
          <p:nvPr/>
        </p:nvSpPr>
        <p:spPr>
          <a:xfrm>
            <a:off x="6537960" y="1783080"/>
            <a:ext cx="4754880" cy="32004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Why we start here</a:t>
            </a:r>
            <a:endParaRPr lang="en-US" sz="1700" dirty="0"/>
          </a:p>
        </p:txBody>
      </p:sp>
      <p:sp>
        <p:nvSpPr>
          <p:cNvPr id="21" name="Text 19"/>
          <p:cNvSpPr txBox="1"/>
          <p:nvPr/>
        </p:nvSpPr>
        <p:spPr>
          <a:xfrm>
            <a:off x="6537960" y="2148840"/>
            <a:ext cx="4800600" cy="137160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No equations to derive, no parameters to fit — yet it uses every core concept: a hypothesis space, a distance metric, a hyperparameter (k), and a genuine risk of overfitting.</a:t>
            </a:r>
            <a:endParaRPr lang="en-US" sz="1250" dirty="0"/>
          </a:p>
        </p:txBody>
      </p:sp>
      <p:sp>
        <p:nvSpPr>
          <p:cNvPr id="22" name="Shape 20"/>
          <p:cNvSpPr/>
          <p:nvPr/>
        </p:nvSpPr>
        <p:spPr>
          <a:xfrm>
            <a:off x="6217920" y="3794760"/>
            <a:ext cx="5394960" cy="2103120"/>
          </a:xfrm>
          <a:prstGeom prst="roundRect">
            <a:avLst>
              <a:gd name="adj" fmla="val 5217"/>
            </a:avLst>
          </a:prstGeom>
          <a:solidFill>
            <a:srgbClr val="E9F0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3" name="Text 21"/>
          <p:cNvSpPr txBox="1"/>
          <p:nvPr/>
        </p:nvSpPr>
        <p:spPr>
          <a:xfrm>
            <a:off x="6537960" y="3977640"/>
            <a:ext cx="4754880" cy="32004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Watch out for</a:t>
            </a:r>
            <a:endParaRPr lang="en-US" sz="1700" dirty="0"/>
          </a:p>
        </p:txBody>
      </p:sp>
      <p:sp>
        <p:nvSpPr>
          <p:cNvPr id="24" name="Text 22"/>
          <p:cNvSpPr txBox="1"/>
          <p:nvPr/>
        </p:nvSpPr>
        <p:spPr>
          <a:xfrm>
            <a:off x="6537960" y="4343400"/>
            <a:ext cx="4800600" cy="146304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B2A20"/>
                </a:solidFill>
                <a:latin typeface="Calibri" pitchFamily="34" charset="0"/>
                <a:ea typeface="Calibri" pitchFamily="34" charset="-122"/>
                <a:cs typeface="Calibri" pitchFamily="34" charset="-120"/>
              </a:rPr>
              <a:t>Scale: income in shillings will swamp age in years — always standardise features first</a:t>
            </a:r>
            <a:endParaRPr lang="en-US" sz="1200" dirty="0"/>
          </a:p>
          <a:p>
            <a:pPr marL="342900" indent="-342900">
              <a:spcAft>
                <a:spcPts val="700"/>
              </a:spcAft>
              <a:buSzPct val="100000"/>
              <a:buChar char="•"/>
            </a:pPr>
            <a:r>
              <a:rPr lang="en-US" sz="1200" dirty="0">
                <a:solidFill>
                  <a:srgbClr val="1B2A20"/>
                </a:solidFill>
                <a:latin typeface="Calibri" pitchFamily="34" charset="0"/>
                <a:ea typeface="Calibri" pitchFamily="34" charset="-122"/>
                <a:cs typeface="Calibri" pitchFamily="34" charset="-120"/>
              </a:rPr>
              <a:t>Speed: prediction searches the whole dataset, so it is slow at scale</a:t>
            </a:r>
            <a:endParaRPr lang="en-US" sz="1200" dirty="0"/>
          </a:p>
          <a:p>
            <a:pPr marL="342900" indent="-342900">
              <a:spcAft>
                <a:spcPts val="700"/>
              </a:spcAft>
              <a:buSzPct val="100000"/>
              <a:buChar char="•"/>
            </a:pPr>
            <a:r>
              <a:rPr lang="en-US" sz="1200" dirty="0">
                <a:solidFill>
                  <a:srgbClr val="1B2A20"/>
                </a:solidFill>
                <a:latin typeface="Calibri" pitchFamily="34" charset="0"/>
                <a:ea typeface="Calibri" pitchFamily="34" charset="-122"/>
                <a:cs typeface="Calibri" pitchFamily="34" charset="-120"/>
              </a:rPr>
              <a:t>Irrelevant features: they distort every distance ("curse of dimensionality")</a:t>
            </a:r>
            <a:endParaRPr lang="en-US" sz="1200" dirty="0"/>
          </a:p>
        </p:txBody>
      </p:sp>
      <p:sp>
        <p:nvSpPr>
          <p:cNvPr id="26" name="Text 23"/>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7" name="Text 24"/>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37</a:t>
            </a:r>
            <a:endParaRPr lang="en-US" sz="900" dirty="0"/>
          </a:p>
        </p:txBody>
      </p:sp>
      <p:pic>
        <p:nvPicPr>
          <p:cNvPr id="28" name="Picture 27"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WILL THIS BORROWER REPAY?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k-NN By Hand</a:t>
            </a:r>
            <a:endParaRPr lang="en-US" sz="3000" dirty="0"/>
          </a:p>
        </p:txBody>
      </p:sp>
      <p:sp>
        <p:nvSpPr>
          <p:cNvPr id="4" name="Shape 2"/>
          <p:cNvSpPr/>
          <p:nvPr/>
        </p:nvSpPr>
        <p:spPr>
          <a:xfrm>
            <a:off x="548640" y="1536192"/>
            <a:ext cx="11064240" cy="566928"/>
          </a:xfrm>
          <a:prstGeom prst="roundRect">
            <a:avLst>
              <a:gd name="adj" fmla="val 19355"/>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914400" y="1536192"/>
            <a:ext cx="10332720" cy="566928"/>
          </a:xfrm>
          <a:prstGeom prst="rect">
            <a:avLst/>
          </a:prstGeom>
          <a:noFill/>
          <a:ln/>
        </p:spPr>
        <p:txBody>
          <a:bodyPr wrap="square" lIns="0" tIns="0" rIns="0" bIns="0" rtlCol="0" anchor="ctr"/>
          <a:lstStyle/>
          <a:p>
            <a:pPr indent="0" marL="0">
              <a:buNone/>
            </a:pPr>
            <a:r>
              <a:rPr lang="en-US" sz="1400" b="1" dirty="0">
                <a:solidFill>
                  <a:srgbClr val="0F6B3C"/>
                </a:solidFill>
                <a:latin typeface="Calibri" pitchFamily="34" charset="0"/>
                <a:ea typeface="Calibri" pitchFamily="34" charset="-122"/>
                <a:cs typeface="Calibri" pitchFamily="34" charset="-120"/>
              </a:rPr>
              <a:t>New applicant:   monthly M-Pesa inflow = Ksh 30,000   ·   months on network = 24   ·   k = 3</a:t>
            </a:r>
            <a:endParaRPr lang="en-US" sz="1400" dirty="0"/>
          </a:p>
        </p:txBody>
      </p:sp>
      <p:sp>
        <p:nvSpPr>
          <p:cNvPr id="6" name="Shape 4"/>
          <p:cNvSpPr/>
          <p:nvPr/>
        </p:nvSpPr>
        <p:spPr>
          <a:xfrm>
            <a:off x="548640" y="2286000"/>
            <a:ext cx="1417320" cy="475488"/>
          </a:xfrm>
          <a:prstGeom prst="rect">
            <a:avLst/>
          </a:prstGeom>
          <a:solidFill>
            <a:srgbClr val="0F6B3C"/>
          </a:solidFill>
          <a:ln w="12700">
            <a:solidFill>
              <a:srgbClr val="333333"/>
            </a:solidFill>
            <a:prstDash val="solid"/>
          </a:ln>
        </p:spPr>
      </p:sp>
      <p:sp>
        <p:nvSpPr>
          <p:cNvPr id="7" name="Text 5"/>
          <p:cNvSpPr txBox="1"/>
          <p:nvPr/>
        </p:nvSpPr>
        <p:spPr>
          <a:xfrm>
            <a:off x="594360" y="2286000"/>
            <a:ext cx="132588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Borrower</a:t>
            </a:r>
            <a:endParaRPr lang="en-US" sz="1100" dirty="0"/>
          </a:p>
        </p:txBody>
      </p:sp>
      <p:sp>
        <p:nvSpPr>
          <p:cNvPr id="8" name="Shape 6"/>
          <p:cNvSpPr/>
          <p:nvPr/>
        </p:nvSpPr>
        <p:spPr>
          <a:xfrm>
            <a:off x="1965960" y="2286000"/>
            <a:ext cx="1920240" cy="475488"/>
          </a:xfrm>
          <a:prstGeom prst="rect">
            <a:avLst/>
          </a:prstGeom>
          <a:solidFill>
            <a:srgbClr val="0F6B3C"/>
          </a:solidFill>
          <a:ln w="12700">
            <a:solidFill>
              <a:srgbClr val="333333"/>
            </a:solidFill>
            <a:prstDash val="solid"/>
          </a:ln>
        </p:spPr>
      </p:sp>
      <p:sp>
        <p:nvSpPr>
          <p:cNvPr id="9" name="Text 7"/>
          <p:cNvSpPr txBox="1"/>
          <p:nvPr/>
        </p:nvSpPr>
        <p:spPr>
          <a:xfrm>
            <a:off x="2011680" y="2286000"/>
            <a:ext cx="18288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Inflow (Ksh 000)</a:t>
            </a:r>
            <a:endParaRPr lang="en-US" sz="1100" dirty="0"/>
          </a:p>
        </p:txBody>
      </p:sp>
      <p:sp>
        <p:nvSpPr>
          <p:cNvPr id="10" name="Shape 8"/>
          <p:cNvSpPr/>
          <p:nvPr/>
        </p:nvSpPr>
        <p:spPr>
          <a:xfrm>
            <a:off x="3886200" y="2286000"/>
            <a:ext cx="2011680" cy="475488"/>
          </a:xfrm>
          <a:prstGeom prst="rect">
            <a:avLst/>
          </a:prstGeom>
          <a:solidFill>
            <a:srgbClr val="0F6B3C"/>
          </a:solidFill>
          <a:ln w="12700">
            <a:solidFill>
              <a:srgbClr val="333333"/>
            </a:solidFill>
            <a:prstDash val="solid"/>
          </a:ln>
        </p:spPr>
      </p:sp>
      <p:sp>
        <p:nvSpPr>
          <p:cNvPr id="11" name="Text 9"/>
          <p:cNvSpPr txBox="1"/>
          <p:nvPr/>
        </p:nvSpPr>
        <p:spPr>
          <a:xfrm>
            <a:off x="3931920" y="2286000"/>
            <a:ext cx="19202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Months on network</a:t>
            </a:r>
            <a:endParaRPr lang="en-US" sz="1100" dirty="0"/>
          </a:p>
        </p:txBody>
      </p:sp>
      <p:sp>
        <p:nvSpPr>
          <p:cNvPr id="12" name="Shape 10"/>
          <p:cNvSpPr/>
          <p:nvPr/>
        </p:nvSpPr>
        <p:spPr>
          <a:xfrm>
            <a:off x="5897880" y="2286000"/>
            <a:ext cx="1645920" cy="475488"/>
          </a:xfrm>
          <a:prstGeom prst="rect">
            <a:avLst/>
          </a:prstGeom>
          <a:solidFill>
            <a:srgbClr val="0F6B3C"/>
          </a:solidFill>
          <a:ln w="12700">
            <a:solidFill>
              <a:srgbClr val="333333"/>
            </a:solidFill>
            <a:prstDash val="solid"/>
          </a:ln>
        </p:spPr>
      </p:sp>
      <p:sp>
        <p:nvSpPr>
          <p:cNvPr id="13" name="Text 11"/>
          <p:cNvSpPr txBox="1"/>
          <p:nvPr/>
        </p:nvSpPr>
        <p:spPr>
          <a:xfrm>
            <a:off x="5943600" y="2286000"/>
            <a:ext cx="155448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p>
        </p:txBody>
      </p:sp>
      <p:sp>
        <p:nvSpPr>
          <p:cNvPr id="14" name="Shape 12"/>
          <p:cNvSpPr/>
          <p:nvPr/>
        </p:nvSpPr>
        <p:spPr>
          <a:xfrm>
            <a:off x="7543800" y="2286000"/>
            <a:ext cx="2514600" cy="475488"/>
          </a:xfrm>
          <a:prstGeom prst="rect">
            <a:avLst/>
          </a:prstGeom>
          <a:solidFill>
            <a:srgbClr val="0F6B3C"/>
          </a:solidFill>
          <a:ln w="12700">
            <a:solidFill>
              <a:srgbClr val="333333"/>
            </a:solidFill>
            <a:prstDash val="solid"/>
          </a:ln>
        </p:spPr>
      </p:sp>
      <p:sp>
        <p:nvSpPr>
          <p:cNvPr id="15" name="Text 13"/>
          <p:cNvSpPr txBox="1"/>
          <p:nvPr/>
        </p:nvSpPr>
        <p:spPr>
          <a:xfrm>
            <a:off x="7589520" y="2286000"/>
            <a:ext cx="242316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Distance to applicant</a:t>
            </a:r>
            <a:endParaRPr lang="en-US" sz="1100" dirty="0"/>
          </a:p>
        </p:txBody>
      </p:sp>
      <p:sp>
        <p:nvSpPr>
          <p:cNvPr id="16" name="Shape 14"/>
          <p:cNvSpPr/>
          <p:nvPr/>
        </p:nvSpPr>
        <p:spPr>
          <a:xfrm>
            <a:off x="10058400" y="2286000"/>
            <a:ext cx="1554480" cy="475488"/>
          </a:xfrm>
          <a:prstGeom prst="rect">
            <a:avLst/>
          </a:prstGeom>
          <a:solidFill>
            <a:srgbClr val="0F6B3C"/>
          </a:solidFill>
          <a:ln w="12700">
            <a:solidFill>
              <a:srgbClr val="333333"/>
            </a:solidFill>
            <a:prstDash val="solid"/>
          </a:ln>
        </p:spPr>
      </p:sp>
      <p:sp>
        <p:nvSpPr>
          <p:cNvPr id="17" name="Text 15"/>
          <p:cNvSpPr txBox="1"/>
          <p:nvPr/>
        </p:nvSpPr>
        <p:spPr>
          <a:xfrm>
            <a:off x="10104120" y="2286000"/>
            <a:ext cx="14630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Among 3 nearest?</a:t>
            </a:r>
            <a:endParaRPr lang="en-US" sz="1100" dirty="0"/>
          </a:p>
        </p:txBody>
      </p:sp>
      <p:sp>
        <p:nvSpPr>
          <p:cNvPr id="18" name="Shape 16"/>
          <p:cNvSpPr/>
          <p:nvPr/>
        </p:nvSpPr>
        <p:spPr>
          <a:xfrm>
            <a:off x="548640" y="2761488"/>
            <a:ext cx="1417320" cy="457200"/>
          </a:xfrm>
          <a:prstGeom prst="rect">
            <a:avLst/>
          </a:prstGeom>
          <a:solidFill>
            <a:srgbClr val="FBF3DC"/>
          </a:solidFill>
          <a:ln w="9525">
            <a:solidFill>
              <a:srgbClr val="D9E3DB"/>
            </a:solidFill>
            <a:prstDash val="solid"/>
          </a:ln>
        </p:spPr>
      </p:sp>
      <p:sp>
        <p:nvSpPr>
          <p:cNvPr id="19" name="Text 17"/>
          <p:cNvSpPr txBox="1"/>
          <p:nvPr/>
        </p:nvSpPr>
        <p:spPr>
          <a:xfrm>
            <a:off x="594360" y="2761488"/>
            <a:ext cx="1325880" cy="45720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A</a:t>
            </a:r>
            <a:endParaRPr lang="en-US" sz="1200" dirty="0"/>
          </a:p>
        </p:txBody>
      </p:sp>
      <p:sp>
        <p:nvSpPr>
          <p:cNvPr id="20" name="Shape 18"/>
          <p:cNvSpPr/>
          <p:nvPr/>
        </p:nvSpPr>
        <p:spPr>
          <a:xfrm>
            <a:off x="1965960" y="2761488"/>
            <a:ext cx="1920240" cy="457200"/>
          </a:xfrm>
          <a:prstGeom prst="rect">
            <a:avLst/>
          </a:prstGeom>
          <a:solidFill>
            <a:srgbClr val="FBF3DC"/>
          </a:solidFill>
          <a:ln w="9525">
            <a:solidFill>
              <a:srgbClr val="D9E3DB"/>
            </a:solidFill>
            <a:prstDash val="solid"/>
          </a:ln>
        </p:spPr>
      </p:sp>
      <p:sp>
        <p:nvSpPr>
          <p:cNvPr id="21" name="Text 19"/>
          <p:cNvSpPr txBox="1"/>
          <p:nvPr/>
        </p:nvSpPr>
        <p:spPr>
          <a:xfrm>
            <a:off x="2011680" y="2761488"/>
            <a:ext cx="182880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28</a:t>
            </a:r>
            <a:endParaRPr lang="en-US" sz="1200" dirty="0"/>
          </a:p>
        </p:txBody>
      </p:sp>
      <p:sp>
        <p:nvSpPr>
          <p:cNvPr id="22" name="Shape 20"/>
          <p:cNvSpPr/>
          <p:nvPr/>
        </p:nvSpPr>
        <p:spPr>
          <a:xfrm>
            <a:off x="3886200" y="2761488"/>
            <a:ext cx="2011680" cy="457200"/>
          </a:xfrm>
          <a:prstGeom prst="rect">
            <a:avLst/>
          </a:prstGeom>
          <a:solidFill>
            <a:srgbClr val="FBF3DC"/>
          </a:solidFill>
          <a:ln w="9525">
            <a:solidFill>
              <a:srgbClr val="D9E3DB"/>
            </a:solidFill>
            <a:prstDash val="solid"/>
          </a:ln>
        </p:spPr>
      </p:sp>
      <p:sp>
        <p:nvSpPr>
          <p:cNvPr id="23" name="Text 21"/>
          <p:cNvSpPr txBox="1"/>
          <p:nvPr/>
        </p:nvSpPr>
        <p:spPr>
          <a:xfrm>
            <a:off x="3931920" y="2761488"/>
            <a:ext cx="192024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22</a:t>
            </a:r>
            <a:endParaRPr lang="en-US" sz="1200" dirty="0"/>
          </a:p>
        </p:txBody>
      </p:sp>
      <p:sp>
        <p:nvSpPr>
          <p:cNvPr id="24" name="Shape 22"/>
          <p:cNvSpPr/>
          <p:nvPr/>
        </p:nvSpPr>
        <p:spPr>
          <a:xfrm>
            <a:off x="5897880" y="2761488"/>
            <a:ext cx="1645920" cy="457200"/>
          </a:xfrm>
          <a:prstGeom prst="rect">
            <a:avLst/>
          </a:prstGeom>
          <a:solidFill>
            <a:srgbClr val="FBF3DC"/>
          </a:solidFill>
          <a:ln w="9525">
            <a:solidFill>
              <a:srgbClr val="D9E3DB"/>
            </a:solidFill>
            <a:prstDash val="solid"/>
          </a:ln>
        </p:spPr>
      </p:sp>
      <p:sp>
        <p:nvSpPr>
          <p:cNvPr id="25" name="Text 23"/>
          <p:cNvSpPr txBox="1"/>
          <p:nvPr/>
        </p:nvSpPr>
        <p:spPr>
          <a:xfrm>
            <a:off x="5943600" y="2761488"/>
            <a:ext cx="155448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Repaid</a:t>
            </a:r>
            <a:endParaRPr lang="en-US" sz="1200" dirty="0"/>
          </a:p>
        </p:txBody>
      </p:sp>
      <p:sp>
        <p:nvSpPr>
          <p:cNvPr id="26" name="Shape 24"/>
          <p:cNvSpPr/>
          <p:nvPr/>
        </p:nvSpPr>
        <p:spPr>
          <a:xfrm>
            <a:off x="7543800" y="2761488"/>
            <a:ext cx="2514600" cy="457200"/>
          </a:xfrm>
          <a:prstGeom prst="rect">
            <a:avLst/>
          </a:prstGeom>
          <a:solidFill>
            <a:srgbClr val="FBF3DC"/>
          </a:solidFill>
          <a:ln w="9525">
            <a:solidFill>
              <a:srgbClr val="D9E3DB"/>
            </a:solidFill>
            <a:prstDash val="solid"/>
          </a:ln>
        </p:spPr>
      </p:sp>
      <p:sp>
        <p:nvSpPr>
          <p:cNvPr id="27" name="Text 25"/>
          <p:cNvSpPr txBox="1"/>
          <p:nvPr/>
        </p:nvSpPr>
        <p:spPr>
          <a:xfrm>
            <a:off x="7589520" y="2761488"/>
            <a:ext cx="2423160" cy="457200"/>
          </a:xfrm>
          <a:prstGeom prst="rect">
            <a:avLst/>
          </a:prstGeom>
          <a:noFill/>
          <a:ln/>
        </p:spPr>
        <p:txBody>
          <a:bodyPr wrap="square" lIns="0" tIns="0" rIns="0" bIns="0" rtlCol="0" anchor="ctr"/>
          <a:lstStyle/>
          <a:p>
            <a:pPr algn="ctr" indent="0" marL="0">
              <a:buNone/>
            </a:pPr>
            <a:r>
              <a:rPr lang="en-US" sz="1150" dirty="0">
                <a:solidFill>
                  <a:srgbClr val="0F6B3C"/>
                </a:solidFill>
                <a:latin typeface="Courier New" pitchFamily="34" charset="0"/>
                <a:ea typeface="Courier New" pitchFamily="34" charset="-122"/>
                <a:cs typeface="Courier New" pitchFamily="34" charset="-120"/>
              </a:rPr>
              <a:t>√(2² + 2²)  =  2.83</a:t>
            </a:r>
            <a:endParaRPr lang="en-US" sz="1150" dirty="0"/>
          </a:p>
        </p:txBody>
      </p:sp>
      <p:sp>
        <p:nvSpPr>
          <p:cNvPr id="28" name="Shape 26"/>
          <p:cNvSpPr/>
          <p:nvPr/>
        </p:nvSpPr>
        <p:spPr>
          <a:xfrm>
            <a:off x="10058400" y="2761488"/>
            <a:ext cx="1554480" cy="457200"/>
          </a:xfrm>
          <a:prstGeom prst="rect">
            <a:avLst/>
          </a:prstGeom>
          <a:solidFill>
            <a:srgbClr val="FBF3DC"/>
          </a:solidFill>
          <a:ln w="9525">
            <a:solidFill>
              <a:srgbClr val="D9E3DB"/>
            </a:solidFill>
            <a:prstDash val="solid"/>
          </a:ln>
        </p:spPr>
      </p:sp>
      <p:sp>
        <p:nvSpPr>
          <p:cNvPr id="29" name="Text 27"/>
          <p:cNvSpPr txBox="1"/>
          <p:nvPr/>
        </p:nvSpPr>
        <p:spPr>
          <a:xfrm>
            <a:off x="10104120" y="2761488"/>
            <a:ext cx="1463040" cy="45720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YES</a:t>
            </a:r>
            <a:endParaRPr lang="en-US" sz="1200" dirty="0"/>
          </a:p>
        </p:txBody>
      </p:sp>
      <p:sp>
        <p:nvSpPr>
          <p:cNvPr id="30" name="Shape 28"/>
          <p:cNvSpPr/>
          <p:nvPr/>
        </p:nvSpPr>
        <p:spPr>
          <a:xfrm>
            <a:off x="548640" y="3218688"/>
            <a:ext cx="1417320" cy="457200"/>
          </a:xfrm>
          <a:prstGeom prst="rect">
            <a:avLst/>
          </a:prstGeom>
          <a:solidFill>
            <a:srgbClr val="FBF3DC"/>
          </a:solidFill>
          <a:ln w="9525">
            <a:solidFill>
              <a:srgbClr val="D9E3DB"/>
            </a:solidFill>
            <a:prstDash val="solid"/>
          </a:ln>
        </p:spPr>
      </p:sp>
      <p:sp>
        <p:nvSpPr>
          <p:cNvPr id="31" name="Text 29"/>
          <p:cNvSpPr txBox="1"/>
          <p:nvPr/>
        </p:nvSpPr>
        <p:spPr>
          <a:xfrm>
            <a:off x="594360" y="3218688"/>
            <a:ext cx="1325880" cy="45720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B</a:t>
            </a:r>
            <a:endParaRPr lang="en-US" sz="1200" dirty="0"/>
          </a:p>
        </p:txBody>
      </p:sp>
      <p:sp>
        <p:nvSpPr>
          <p:cNvPr id="32" name="Shape 30"/>
          <p:cNvSpPr/>
          <p:nvPr/>
        </p:nvSpPr>
        <p:spPr>
          <a:xfrm>
            <a:off x="1965960" y="3218688"/>
            <a:ext cx="1920240" cy="457200"/>
          </a:xfrm>
          <a:prstGeom prst="rect">
            <a:avLst/>
          </a:prstGeom>
          <a:solidFill>
            <a:srgbClr val="FBF3DC"/>
          </a:solidFill>
          <a:ln w="9525">
            <a:solidFill>
              <a:srgbClr val="D9E3DB"/>
            </a:solidFill>
            <a:prstDash val="solid"/>
          </a:ln>
        </p:spPr>
      </p:sp>
      <p:sp>
        <p:nvSpPr>
          <p:cNvPr id="33" name="Text 31"/>
          <p:cNvSpPr txBox="1"/>
          <p:nvPr/>
        </p:nvSpPr>
        <p:spPr>
          <a:xfrm>
            <a:off x="2011680" y="3218688"/>
            <a:ext cx="182880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32</a:t>
            </a:r>
            <a:endParaRPr lang="en-US" sz="1200" dirty="0"/>
          </a:p>
        </p:txBody>
      </p:sp>
      <p:sp>
        <p:nvSpPr>
          <p:cNvPr id="34" name="Shape 32"/>
          <p:cNvSpPr/>
          <p:nvPr/>
        </p:nvSpPr>
        <p:spPr>
          <a:xfrm>
            <a:off x="3886200" y="3218688"/>
            <a:ext cx="2011680" cy="457200"/>
          </a:xfrm>
          <a:prstGeom prst="rect">
            <a:avLst/>
          </a:prstGeom>
          <a:solidFill>
            <a:srgbClr val="FBF3DC"/>
          </a:solidFill>
          <a:ln w="9525">
            <a:solidFill>
              <a:srgbClr val="D9E3DB"/>
            </a:solidFill>
            <a:prstDash val="solid"/>
          </a:ln>
        </p:spPr>
      </p:sp>
      <p:sp>
        <p:nvSpPr>
          <p:cNvPr id="35" name="Text 33"/>
          <p:cNvSpPr txBox="1"/>
          <p:nvPr/>
        </p:nvSpPr>
        <p:spPr>
          <a:xfrm>
            <a:off x="3931920" y="3218688"/>
            <a:ext cx="192024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27</a:t>
            </a:r>
            <a:endParaRPr lang="en-US" sz="1200" dirty="0"/>
          </a:p>
        </p:txBody>
      </p:sp>
      <p:sp>
        <p:nvSpPr>
          <p:cNvPr id="36" name="Shape 34"/>
          <p:cNvSpPr/>
          <p:nvPr/>
        </p:nvSpPr>
        <p:spPr>
          <a:xfrm>
            <a:off x="5897880" y="3218688"/>
            <a:ext cx="1645920" cy="457200"/>
          </a:xfrm>
          <a:prstGeom prst="rect">
            <a:avLst/>
          </a:prstGeom>
          <a:solidFill>
            <a:srgbClr val="FBF3DC"/>
          </a:solidFill>
          <a:ln w="9525">
            <a:solidFill>
              <a:srgbClr val="D9E3DB"/>
            </a:solidFill>
            <a:prstDash val="solid"/>
          </a:ln>
        </p:spPr>
      </p:sp>
      <p:sp>
        <p:nvSpPr>
          <p:cNvPr id="37" name="Text 35"/>
          <p:cNvSpPr txBox="1"/>
          <p:nvPr/>
        </p:nvSpPr>
        <p:spPr>
          <a:xfrm>
            <a:off x="5943600" y="3218688"/>
            <a:ext cx="155448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Repaid</a:t>
            </a:r>
            <a:endParaRPr lang="en-US" sz="1200" dirty="0"/>
          </a:p>
        </p:txBody>
      </p:sp>
      <p:sp>
        <p:nvSpPr>
          <p:cNvPr id="38" name="Shape 36"/>
          <p:cNvSpPr/>
          <p:nvPr/>
        </p:nvSpPr>
        <p:spPr>
          <a:xfrm>
            <a:off x="7543800" y="3218688"/>
            <a:ext cx="2514600" cy="457200"/>
          </a:xfrm>
          <a:prstGeom prst="rect">
            <a:avLst/>
          </a:prstGeom>
          <a:solidFill>
            <a:srgbClr val="FBF3DC"/>
          </a:solidFill>
          <a:ln w="9525">
            <a:solidFill>
              <a:srgbClr val="D9E3DB"/>
            </a:solidFill>
            <a:prstDash val="solid"/>
          </a:ln>
        </p:spPr>
      </p:sp>
      <p:sp>
        <p:nvSpPr>
          <p:cNvPr id="39" name="Text 37"/>
          <p:cNvSpPr txBox="1"/>
          <p:nvPr/>
        </p:nvSpPr>
        <p:spPr>
          <a:xfrm>
            <a:off x="7589520" y="3218688"/>
            <a:ext cx="2423160" cy="457200"/>
          </a:xfrm>
          <a:prstGeom prst="rect">
            <a:avLst/>
          </a:prstGeom>
          <a:noFill/>
          <a:ln/>
        </p:spPr>
        <p:txBody>
          <a:bodyPr wrap="square" lIns="0" tIns="0" rIns="0" bIns="0" rtlCol="0" anchor="ctr"/>
          <a:lstStyle/>
          <a:p>
            <a:pPr algn="ctr" indent="0" marL="0">
              <a:buNone/>
            </a:pPr>
            <a:r>
              <a:rPr lang="en-US" sz="1150" dirty="0">
                <a:solidFill>
                  <a:srgbClr val="0F6B3C"/>
                </a:solidFill>
                <a:latin typeface="Courier New" pitchFamily="34" charset="0"/>
                <a:ea typeface="Courier New" pitchFamily="34" charset="-122"/>
                <a:cs typeface="Courier New" pitchFamily="34" charset="-120"/>
              </a:rPr>
              <a:t>√(2² + 3²)  =  3.61</a:t>
            </a:r>
            <a:endParaRPr lang="en-US" sz="1150" dirty="0"/>
          </a:p>
        </p:txBody>
      </p:sp>
      <p:sp>
        <p:nvSpPr>
          <p:cNvPr id="40" name="Shape 38"/>
          <p:cNvSpPr/>
          <p:nvPr/>
        </p:nvSpPr>
        <p:spPr>
          <a:xfrm>
            <a:off x="10058400" y="3218688"/>
            <a:ext cx="1554480" cy="457200"/>
          </a:xfrm>
          <a:prstGeom prst="rect">
            <a:avLst/>
          </a:prstGeom>
          <a:solidFill>
            <a:srgbClr val="FBF3DC"/>
          </a:solidFill>
          <a:ln w="9525">
            <a:solidFill>
              <a:srgbClr val="D9E3DB"/>
            </a:solidFill>
            <a:prstDash val="solid"/>
          </a:ln>
        </p:spPr>
      </p:sp>
      <p:sp>
        <p:nvSpPr>
          <p:cNvPr id="41" name="Text 39"/>
          <p:cNvSpPr txBox="1"/>
          <p:nvPr/>
        </p:nvSpPr>
        <p:spPr>
          <a:xfrm>
            <a:off x="10104120" y="3218688"/>
            <a:ext cx="1463040" cy="45720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YES</a:t>
            </a:r>
            <a:endParaRPr lang="en-US" sz="1200" dirty="0"/>
          </a:p>
        </p:txBody>
      </p:sp>
      <p:sp>
        <p:nvSpPr>
          <p:cNvPr id="42" name="Shape 40"/>
          <p:cNvSpPr/>
          <p:nvPr/>
        </p:nvSpPr>
        <p:spPr>
          <a:xfrm>
            <a:off x="548640" y="3675888"/>
            <a:ext cx="1417320" cy="457200"/>
          </a:xfrm>
          <a:prstGeom prst="rect">
            <a:avLst/>
          </a:prstGeom>
          <a:solidFill>
            <a:srgbClr val="FFFFFF"/>
          </a:solidFill>
          <a:ln w="9525">
            <a:solidFill>
              <a:srgbClr val="D9E3DB"/>
            </a:solidFill>
            <a:prstDash val="solid"/>
          </a:ln>
        </p:spPr>
      </p:sp>
      <p:sp>
        <p:nvSpPr>
          <p:cNvPr id="43" name="Text 41"/>
          <p:cNvSpPr txBox="1"/>
          <p:nvPr/>
        </p:nvSpPr>
        <p:spPr>
          <a:xfrm>
            <a:off x="594360" y="3675888"/>
            <a:ext cx="132588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C</a:t>
            </a:r>
            <a:endParaRPr lang="en-US" sz="1200" dirty="0"/>
          </a:p>
        </p:txBody>
      </p:sp>
      <p:sp>
        <p:nvSpPr>
          <p:cNvPr id="44" name="Shape 42"/>
          <p:cNvSpPr/>
          <p:nvPr/>
        </p:nvSpPr>
        <p:spPr>
          <a:xfrm>
            <a:off x="1965960" y="3675888"/>
            <a:ext cx="1920240" cy="457200"/>
          </a:xfrm>
          <a:prstGeom prst="rect">
            <a:avLst/>
          </a:prstGeom>
          <a:solidFill>
            <a:srgbClr val="FFFFFF"/>
          </a:solidFill>
          <a:ln w="9525">
            <a:solidFill>
              <a:srgbClr val="D9E3DB"/>
            </a:solidFill>
            <a:prstDash val="solid"/>
          </a:ln>
        </p:spPr>
      </p:sp>
      <p:sp>
        <p:nvSpPr>
          <p:cNvPr id="45" name="Text 43"/>
          <p:cNvSpPr txBox="1"/>
          <p:nvPr/>
        </p:nvSpPr>
        <p:spPr>
          <a:xfrm>
            <a:off x="2011680" y="3675888"/>
            <a:ext cx="182880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12</a:t>
            </a:r>
            <a:endParaRPr lang="en-US" sz="1200" dirty="0"/>
          </a:p>
        </p:txBody>
      </p:sp>
      <p:sp>
        <p:nvSpPr>
          <p:cNvPr id="46" name="Shape 44"/>
          <p:cNvSpPr/>
          <p:nvPr/>
        </p:nvSpPr>
        <p:spPr>
          <a:xfrm>
            <a:off x="3886200" y="3675888"/>
            <a:ext cx="2011680" cy="457200"/>
          </a:xfrm>
          <a:prstGeom prst="rect">
            <a:avLst/>
          </a:prstGeom>
          <a:solidFill>
            <a:srgbClr val="FFFFFF"/>
          </a:solidFill>
          <a:ln w="9525">
            <a:solidFill>
              <a:srgbClr val="D9E3DB"/>
            </a:solidFill>
            <a:prstDash val="solid"/>
          </a:ln>
        </p:spPr>
      </p:sp>
      <p:sp>
        <p:nvSpPr>
          <p:cNvPr id="47" name="Text 45"/>
          <p:cNvSpPr txBox="1"/>
          <p:nvPr/>
        </p:nvSpPr>
        <p:spPr>
          <a:xfrm>
            <a:off x="3931920" y="3675888"/>
            <a:ext cx="192024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30</a:t>
            </a:r>
            <a:endParaRPr lang="en-US" sz="1200" dirty="0"/>
          </a:p>
        </p:txBody>
      </p:sp>
      <p:sp>
        <p:nvSpPr>
          <p:cNvPr id="48" name="Shape 46"/>
          <p:cNvSpPr/>
          <p:nvPr/>
        </p:nvSpPr>
        <p:spPr>
          <a:xfrm>
            <a:off x="5897880" y="3675888"/>
            <a:ext cx="1645920" cy="457200"/>
          </a:xfrm>
          <a:prstGeom prst="rect">
            <a:avLst/>
          </a:prstGeom>
          <a:solidFill>
            <a:srgbClr val="FFFFFF"/>
          </a:solidFill>
          <a:ln w="9525">
            <a:solidFill>
              <a:srgbClr val="D9E3DB"/>
            </a:solidFill>
            <a:prstDash val="solid"/>
          </a:ln>
        </p:spPr>
      </p:sp>
      <p:sp>
        <p:nvSpPr>
          <p:cNvPr id="49" name="Text 47"/>
          <p:cNvSpPr txBox="1"/>
          <p:nvPr/>
        </p:nvSpPr>
        <p:spPr>
          <a:xfrm>
            <a:off x="5943600" y="3675888"/>
            <a:ext cx="155448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Defaulted</a:t>
            </a:r>
            <a:endParaRPr lang="en-US" sz="1200" dirty="0"/>
          </a:p>
        </p:txBody>
      </p:sp>
      <p:sp>
        <p:nvSpPr>
          <p:cNvPr id="50" name="Shape 48"/>
          <p:cNvSpPr/>
          <p:nvPr/>
        </p:nvSpPr>
        <p:spPr>
          <a:xfrm>
            <a:off x="7543800" y="3675888"/>
            <a:ext cx="2514600" cy="457200"/>
          </a:xfrm>
          <a:prstGeom prst="rect">
            <a:avLst/>
          </a:prstGeom>
          <a:solidFill>
            <a:srgbClr val="FFFFFF"/>
          </a:solidFill>
          <a:ln w="9525">
            <a:solidFill>
              <a:srgbClr val="D9E3DB"/>
            </a:solidFill>
            <a:prstDash val="solid"/>
          </a:ln>
        </p:spPr>
      </p:sp>
      <p:sp>
        <p:nvSpPr>
          <p:cNvPr id="51" name="Text 49"/>
          <p:cNvSpPr txBox="1"/>
          <p:nvPr/>
        </p:nvSpPr>
        <p:spPr>
          <a:xfrm>
            <a:off x="7589520" y="3675888"/>
            <a:ext cx="2423160" cy="457200"/>
          </a:xfrm>
          <a:prstGeom prst="rect">
            <a:avLst/>
          </a:prstGeom>
          <a:noFill/>
          <a:ln/>
        </p:spPr>
        <p:txBody>
          <a:bodyPr wrap="square" lIns="0" tIns="0" rIns="0" bIns="0" rtlCol="0" anchor="ctr"/>
          <a:lstStyle/>
          <a:p>
            <a:pPr algn="ctr" indent="0" marL="0">
              <a:buNone/>
            </a:pPr>
            <a:r>
              <a:rPr lang="en-US" sz="1150" dirty="0">
                <a:solidFill>
                  <a:srgbClr val="5C6B60"/>
                </a:solidFill>
                <a:latin typeface="Courier New" pitchFamily="34" charset="0"/>
                <a:ea typeface="Courier New" pitchFamily="34" charset="-122"/>
                <a:cs typeface="Courier New" pitchFamily="34" charset="-120"/>
              </a:rPr>
              <a:t>√(18² + 6²)  =  18.97</a:t>
            </a:r>
            <a:endParaRPr lang="en-US" sz="1150" dirty="0"/>
          </a:p>
        </p:txBody>
      </p:sp>
      <p:sp>
        <p:nvSpPr>
          <p:cNvPr id="52" name="Shape 50"/>
          <p:cNvSpPr/>
          <p:nvPr/>
        </p:nvSpPr>
        <p:spPr>
          <a:xfrm>
            <a:off x="10058400" y="3675888"/>
            <a:ext cx="1554480" cy="457200"/>
          </a:xfrm>
          <a:prstGeom prst="rect">
            <a:avLst/>
          </a:prstGeom>
          <a:solidFill>
            <a:srgbClr val="FFFFFF"/>
          </a:solidFill>
          <a:ln w="9525">
            <a:solidFill>
              <a:srgbClr val="D9E3DB"/>
            </a:solidFill>
            <a:prstDash val="solid"/>
          </a:ln>
        </p:spPr>
      </p:sp>
      <p:sp>
        <p:nvSpPr>
          <p:cNvPr id="53" name="Text 51"/>
          <p:cNvSpPr txBox="1"/>
          <p:nvPr/>
        </p:nvSpPr>
        <p:spPr>
          <a:xfrm>
            <a:off x="10104120" y="3675888"/>
            <a:ext cx="146304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no</a:t>
            </a:r>
            <a:endParaRPr lang="en-US" sz="1200" dirty="0"/>
          </a:p>
        </p:txBody>
      </p:sp>
      <p:sp>
        <p:nvSpPr>
          <p:cNvPr id="54" name="Shape 52"/>
          <p:cNvSpPr/>
          <p:nvPr/>
        </p:nvSpPr>
        <p:spPr>
          <a:xfrm>
            <a:off x="548640" y="4133088"/>
            <a:ext cx="1417320" cy="457200"/>
          </a:xfrm>
          <a:prstGeom prst="rect">
            <a:avLst/>
          </a:prstGeom>
          <a:solidFill>
            <a:srgbClr val="FBF3DC"/>
          </a:solidFill>
          <a:ln w="9525">
            <a:solidFill>
              <a:srgbClr val="D9E3DB"/>
            </a:solidFill>
            <a:prstDash val="solid"/>
          </a:ln>
        </p:spPr>
      </p:sp>
      <p:sp>
        <p:nvSpPr>
          <p:cNvPr id="55" name="Text 53"/>
          <p:cNvSpPr txBox="1"/>
          <p:nvPr/>
        </p:nvSpPr>
        <p:spPr>
          <a:xfrm>
            <a:off x="594360" y="4133088"/>
            <a:ext cx="1325880" cy="45720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D</a:t>
            </a:r>
            <a:endParaRPr lang="en-US" sz="1200" dirty="0"/>
          </a:p>
        </p:txBody>
      </p:sp>
      <p:sp>
        <p:nvSpPr>
          <p:cNvPr id="56" name="Shape 54"/>
          <p:cNvSpPr/>
          <p:nvPr/>
        </p:nvSpPr>
        <p:spPr>
          <a:xfrm>
            <a:off x="1965960" y="4133088"/>
            <a:ext cx="1920240" cy="457200"/>
          </a:xfrm>
          <a:prstGeom prst="rect">
            <a:avLst/>
          </a:prstGeom>
          <a:solidFill>
            <a:srgbClr val="FBF3DC"/>
          </a:solidFill>
          <a:ln w="9525">
            <a:solidFill>
              <a:srgbClr val="D9E3DB"/>
            </a:solidFill>
            <a:prstDash val="solid"/>
          </a:ln>
        </p:spPr>
      </p:sp>
      <p:sp>
        <p:nvSpPr>
          <p:cNvPr id="57" name="Text 55"/>
          <p:cNvSpPr txBox="1"/>
          <p:nvPr/>
        </p:nvSpPr>
        <p:spPr>
          <a:xfrm>
            <a:off x="2011680" y="4133088"/>
            <a:ext cx="182880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45</a:t>
            </a:r>
            <a:endParaRPr lang="en-US" sz="1200" dirty="0"/>
          </a:p>
        </p:txBody>
      </p:sp>
      <p:sp>
        <p:nvSpPr>
          <p:cNvPr id="58" name="Shape 56"/>
          <p:cNvSpPr/>
          <p:nvPr/>
        </p:nvSpPr>
        <p:spPr>
          <a:xfrm>
            <a:off x="3886200" y="4133088"/>
            <a:ext cx="2011680" cy="457200"/>
          </a:xfrm>
          <a:prstGeom prst="rect">
            <a:avLst/>
          </a:prstGeom>
          <a:solidFill>
            <a:srgbClr val="FBF3DC"/>
          </a:solidFill>
          <a:ln w="9525">
            <a:solidFill>
              <a:srgbClr val="D9E3DB"/>
            </a:solidFill>
            <a:prstDash val="solid"/>
          </a:ln>
        </p:spPr>
      </p:sp>
      <p:sp>
        <p:nvSpPr>
          <p:cNvPr id="59" name="Text 57"/>
          <p:cNvSpPr txBox="1"/>
          <p:nvPr/>
        </p:nvSpPr>
        <p:spPr>
          <a:xfrm>
            <a:off x="3931920" y="4133088"/>
            <a:ext cx="192024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20</a:t>
            </a:r>
            <a:endParaRPr lang="en-US" sz="1200" dirty="0"/>
          </a:p>
        </p:txBody>
      </p:sp>
      <p:sp>
        <p:nvSpPr>
          <p:cNvPr id="60" name="Shape 58"/>
          <p:cNvSpPr/>
          <p:nvPr/>
        </p:nvSpPr>
        <p:spPr>
          <a:xfrm>
            <a:off x="5897880" y="4133088"/>
            <a:ext cx="1645920" cy="457200"/>
          </a:xfrm>
          <a:prstGeom prst="rect">
            <a:avLst/>
          </a:prstGeom>
          <a:solidFill>
            <a:srgbClr val="FBF3DC"/>
          </a:solidFill>
          <a:ln w="9525">
            <a:solidFill>
              <a:srgbClr val="D9E3DB"/>
            </a:solidFill>
            <a:prstDash val="solid"/>
          </a:ln>
        </p:spPr>
      </p:sp>
      <p:sp>
        <p:nvSpPr>
          <p:cNvPr id="61" name="Text 59"/>
          <p:cNvSpPr txBox="1"/>
          <p:nvPr/>
        </p:nvSpPr>
        <p:spPr>
          <a:xfrm>
            <a:off x="5943600" y="4133088"/>
            <a:ext cx="1554480" cy="457200"/>
          </a:xfrm>
          <a:prstGeom prst="rect">
            <a:avLst/>
          </a:prstGeom>
          <a:noFill/>
          <a:ln/>
        </p:spPr>
        <p:txBody>
          <a:bodyPr wrap="square" lIns="0" tIns="0" rIns="0" bIns="0" rtlCol="0" anchor="ctr"/>
          <a:lstStyle/>
          <a:p>
            <a:pPr algn="ctr" indent="0" marL="0">
              <a:buNone/>
            </a:pPr>
            <a:r>
              <a:rPr lang="en-US" sz="1200" dirty="0">
                <a:solidFill>
                  <a:srgbClr val="0F6B3C"/>
                </a:solidFill>
                <a:latin typeface="Calibri" pitchFamily="34" charset="0"/>
                <a:ea typeface="Calibri" pitchFamily="34" charset="-122"/>
                <a:cs typeface="Calibri" pitchFamily="34" charset="-120"/>
              </a:rPr>
              <a:t>Repaid</a:t>
            </a:r>
            <a:endParaRPr lang="en-US" sz="1200" dirty="0"/>
          </a:p>
        </p:txBody>
      </p:sp>
      <p:sp>
        <p:nvSpPr>
          <p:cNvPr id="62" name="Shape 60"/>
          <p:cNvSpPr/>
          <p:nvPr/>
        </p:nvSpPr>
        <p:spPr>
          <a:xfrm>
            <a:off x="7543800" y="4133088"/>
            <a:ext cx="2514600" cy="457200"/>
          </a:xfrm>
          <a:prstGeom prst="rect">
            <a:avLst/>
          </a:prstGeom>
          <a:solidFill>
            <a:srgbClr val="FBF3DC"/>
          </a:solidFill>
          <a:ln w="9525">
            <a:solidFill>
              <a:srgbClr val="D9E3DB"/>
            </a:solidFill>
            <a:prstDash val="solid"/>
          </a:ln>
        </p:spPr>
      </p:sp>
      <p:sp>
        <p:nvSpPr>
          <p:cNvPr id="63" name="Text 61"/>
          <p:cNvSpPr txBox="1"/>
          <p:nvPr/>
        </p:nvSpPr>
        <p:spPr>
          <a:xfrm>
            <a:off x="7589520" y="4133088"/>
            <a:ext cx="2423160" cy="457200"/>
          </a:xfrm>
          <a:prstGeom prst="rect">
            <a:avLst/>
          </a:prstGeom>
          <a:noFill/>
          <a:ln/>
        </p:spPr>
        <p:txBody>
          <a:bodyPr wrap="square" lIns="0" tIns="0" rIns="0" bIns="0" rtlCol="0" anchor="ctr"/>
          <a:lstStyle/>
          <a:p>
            <a:pPr algn="ctr" indent="0" marL="0">
              <a:buNone/>
            </a:pPr>
            <a:r>
              <a:rPr lang="en-US" sz="1150" dirty="0">
                <a:solidFill>
                  <a:srgbClr val="0F6B3C"/>
                </a:solidFill>
                <a:latin typeface="Courier New" pitchFamily="34" charset="0"/>
                <a:ea typeface="Courier New" pitchFamily="34" charset="-122"/>
                <a:cs typeface="Courier New" pitchFamily="34" charset="-120"/>
              </a:rPr>
              <a:t>√(15² + 4²)  =  15.52</a:t>
            </a:r>
            <a:endParaRPr lang="en-US" sz="1150" dirty="0"/>
          </a:p>
        </p:txBody>
      </p:sp>
      <p:sp>
        <p:nvSpPr>
          <p:cNvPr id="64" name="Shape 62"/>
          <p:cNvSpPr/>
          <p:nvPr/>
        </p:nvSpPr>
        <p:spPr>
          <a:xfrm>
            <a:off x="10058400" y="4133088"/>
            <a:ext cx="1554480" cy="457200"/>
          </a:xfrm>
          <a:prstGeom prst="rect">
            <a:avLst/>
          </a:prstGeom>
          <a:solidFill>
            <a:srgbClr val="FBF3DC"/>
          </a:solidFill>
          <a:ln w="9525">
            <a:solidFill>
              <a:srgbClr val="D9E3DB"/>
            </a:solidFill>
            <a:prstDash val="solid"/>
          </a:ln>
        </p:spPr>
      </p:sp>
      <p:sp>
        <p:nvSpPr>
          <p:cNvPr id="65" name="Text 63"/>
          <p:cNvSpPr txBox="1"/>
          <p:nvPr/>
        </p:nvSpPr>
        <p:spPr>
          <a:xfrm>
            <a:off x="10104120" y="4133088"/>
            <a:ext cx="1463040" cy="45720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YES</a:t>
            </a:r>
            <a:endParaRPr lang="en-US" sz="1200" dirty="0"/>
          </a:p>
        </p:txBody>
      </p:sp>
      <p:sp>
        <p:nvSpPr>
          <p:cNvPr id="66" name="Shape 64"/>
          <p:cNvSpPr/>
          <p:nvPr/>
        </p:nvSpPr>
        <p:spPr>
          <a:xfrm>
            <a:off x="548640" y="4590288"/>
            <a:ext cx="1417320" cy="457200"/>
          </a:xfrm>
          <a:prstGeom prst="rect">
            <a:avLst/>
          </a:prstGeom>
          <a:solidFill>
            <a:srgbClr val="FFFFFF"/>
          </a:solidFill>
          <a:ln w="9525">
            <a:solidFill>
              <a:srgbClr val="D9E3DB"/>
            </a:solidFill>
            <a:prstDash val="solid"/>
          </a:ln>
        </p:spPr>
      </p:sp>
      <p:sp>
        <p:nvSpPr>
          <p:cNvPr id="67" name="Text 65"/>
          <p:cNvSpPr txBox="1"/>
          <p:nvPr/>
        </p:nvSpPr>
        <p:spPr>
          <a:xfrm>
            <a:off x="594360" y="4590288"/>
            <a:ext cx="132588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E</a:t>
            </a:r>
            <a:endParaRPr lang="en-US" sz="1200" dirty="0"/>
          </a:p>
        </p:txBody>
      </p:sp>
      <p:sp>
        <p:nvSpPr>
          <p:cNvPr id="68" name="Shape 66"/>
          <p:cNvSpPr/>
          <p:nvPr/>
        </p:nvSpPr>
        <p:spPr>
          <a:xfrm>
            <a:off x="1965960" y="4590288"/>
            <a:ext cx="1920240" cy="457200"/>
          </a:xfrm>
          <a:prstGeom prst="rect">
            <a:avLst/>
          </a:prstGeom>
          <a:solidFill>
            <a:srgbClr val="FFFFFF"/>
          </a:solidFill>
          <a:ln w="9525">
            <a:solidFill>
              <a:srgbClr val="D9E3DB"/>
            </a:solidFill>
            <a:prstDash val="solid"/>
          </a:ln>
        </p:spPr>
      </p:sp>
      <p:sp>
        <p:nvSpPr>
          <p:cNvPr id="69" name="Text 67"/>
          <p:cNvSpPr txBox="1"/>
          <p:nvPr/>
        </p:nvSpPr>
        <p:spPr>
          <a:xfrm>
            <a:off x="2011680" y="4590288"/>
            <a:ext cx="182880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15</a:t>
            </a:r>
            <a:endParaRPr lang="en-US" sz="1200" dirty="0"/>
          </a:p>
        </p:txBody>
      </p:sp>
      <p:sp>
        <p:nvSpPr>
          <p:cNvPr id="70" name="Shape 68"/>
          <p:cNvSpPr/>
          <p:nvPr/>
        </p:nvSpPr>
        <p:spPr>
          <a:xfrm>
            <a:off x="3886200" y="4590288"/>
            <a:ext cx="2011680" cy="457200"/>
          </a:xfrm>
          <a:prstGeom prst="rect">
            <a:avLst/>
          </a:prstGeom>
          <a:solidFill>
            <a:srgbClr val="FFFFFF"/>
          </a:solidFill>
          <a:ln w="9525">
            <a:solidFill>
              <a:srgbClr val="D9E3DB"/>
            </a:solidFill>
            <a:prstDash val="solid"/>
          </a:ln>
        </p:spPr>
      </p:sp>
      <p:sp>
        <p:nvSpPr>
          <p:cNvPr id="71" name="Text 69"/>
          <p:cNvSpPr txBox="1"/>
          <p:nvPr/>
        </p:nvSpPr>
        <p:spPr>
          <a:xfrm>
            <a:off x="3931920" y="4590288"/>
            <a:ext cx="192024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8</a:t>
            </a:r>
            <a:endParaRPr lang="en-US" sz="1200" dirty="0"/>
          </a:p>
        </p:txBody>
      </p:sp>
      <p:sp>
        <p:nvSpPr>
          <p:cNvPr id="72" name="Shape 70"/>
          <p:cNvSpPr/>
          <p:nvPr/>
        </p:nvSpPr>
        <p:spPr>
          <a:xfrm>
            <a:off x="5897880" y="4590288"/>
            <a:ext cx="1645920" cy="457200"/>
          </a:xfrm>
          <a:prstGeom prst="rect">
            <a:avLst/>
          </a:prstGeom>
          <a:solidFill>
            <a:srgbClr val="FFFFFF"/>
          </a:solidFill>
          <a:ln w="9525">
            <a:solidFill>
              <a:srgbClr val="D9E3DB"/>
            </a:solidFill>
            <a:prstDash val="solid"/>
          </a:ln>
        </p:spPr>
      </p:sp>
      <p:sp>
        <p:nvSpPr>
          <p:cNvPr id="73" name="Text 71"/>
          <p:cNvSpPr txBox="1"/>
          <p:nvPr/>
        </p:nvSpPr>
        <p:spPr>
          <a:xfrm>
            <a:off x="5943600" y="4590288"/>
            <a:ext cx="155448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Defaulted</a:t>
            </a:r>
            <a:endParaRPr lang="en-US" sz="1200" dirty="0"/>
          </a:p>
        </p:txBody>
      </p:sp>
      <p:sp>
        <p:nvSpPr>
          <p:cNvPr id="74" name="Shape 72"/>
          <p:cNvSpPr/>
          <p:nvPr/>
        </p:nvSpPr>
        <p:spPr>
          <a:xfrm>
            <a:off x="7543800" y="4590288"/>
            <a:ext cx="2514600" cy="457200"/>
          </a:xfrm>
          <a:prstGeom prst="rect">
            <a:avLst/>
          </a:prstGeom>
          <a:solidFill>
            <a:srgbClr val="FFFFFF"/>
          </a:solidFill>
          <a:ln w="9525">
            <a:solidFill>
              <a:srgbClr val="D9E3DB"/>
            </a:solidFill>
            <a:prstDash val="solid"/>
          </a:ln>
        </p:spPr>
      </p:sp>
      <p:sp>
        <p:nvSpPr>
          <p:cNvPr id="75" name="Text 73"/>
          <p:cNvSpPr txBox="1"/>
          <p:nvPr/>
        </p:nvSpPr>
        <p:spPr>
          <a:xfrm>
            <a:off x="7589520" y="4590288"/>
            <a:ext cx="2423160" cy="457200"/>
          </a:xfrm>
          <a:prstGeom prst="rect">
            <a:avLst/>
          </a:prstGeom>
          <a:noFill/>
          <a:ln/>
        </p:spPr>
        <p:txBody>
          <a:bodyPr wrap="square" lIns="0" tIns="0" rIns="0" bIns="0" rtlCol="0" anchor="ctr"/>
          <a:lstStyle/>
          <a:p>
            <a:pPr algn="ctr" indent="0" marL="0">
              <a:buNone/>
            </a:pPr>
            <a:r>
              <a:rPr lang="en-US" sz="1150" dirty="0">
                <a:solidFill>
                  <a:srgbClr val="5C6B60"/>
                </a:solidFill>
                <a:latin typeface="Courier New" pitchFamily="34" charset="0"/>
                <a:ea typeface="Courier New" pitchFamily="34" charset="-122"/>
                <a:cs typeface="Courier New" pitchFamily="34" charset="-120"/>
              </a:rPr>
              <a:t>√(15² + 16²)  =  21.93</a:t>
            </a:r>
            <a:endParaRPr lang="en-US" sz="1150" dirty="0"/>
          </a:p>
        </p:txBody>
      </p:sp>
      <p:sp>
        <p:nvSpPr>
          <p:cNvPr id="76" name="Shape 74"/>
          <p:cNvSpPr/>
          <p:nvPr/>
        </p:nvSpPr>
        <p:spPr>
          <a:xfrm>
            <a:off x="10058400" y="4590288"/>
            <a:ext cx="1554480" cy="457200"/>
          </a:xfrm>
          <a:prstGeom prst="rect">
            <a:avLst/>
          </a:prstGeom>
          <a:solidFill>
            <a:srgbClr val="FFFFFF"/>
          </a:solidFill>
          <a:ln w="9525">
            <a:solidFill>
              <a:srgbClr val="D9E3DB"/>
            </a:solidFill>
            <a:prstDash val="solid"/>
          </a:ln>
        </p:spPr>
      </p:sp>
      <p:sp>
        <p:nvSpPr>
          <p:cNvPr id="77" name="Text 75"/>
          <p:cNvSpPr txBox="1"/>
          <p:nvPr/>
        </p:nvSpPr>
        <p:spPr>
          <a:xfrm>
            <a:off x="10104120" y="4590288"/>
            <a:ext cx="1463040" cy="457200"/>
          </a:xfrm>
          <a:prstGeom prst="rect">
            <a:avLst/>
          </a:prstGeom>
          <a:noFill/>
          <a:ln/>
        </p:spPr>
        <p:txBody>
          <a:bodyPr wrap="square" lIns="0" tIns="0" rIns="0" bIns="0" rtlCol="0" anchor="ctr"/>
          <a:lstStyle/>
          <a:p>
            <a:pPr algn="ctr" indent="0" marL="0">
              <a:buNone/>
            </a:pPr>
            <a:r>
              <a:rPr lang="en-US" sz="1200" dirty="0">
                <a:solidFill>
                  <a:srgbClr val="5C6B60"/>
                </a:solidFill>
                <a:latin typeface="Calibri" pitchFamily="34" charset="0"/>
                <a:ea typeface="Calibri" pitchFamily="34" charset="-122"/>
                <a:cs typeface="Calibri" pitchFamily="34" charset="-120"/>
              </a:rPr>
              <a:t>no</a:t>
            </a:r>
            <a:endParaRPr lang="en-US" sz="1200" dirty="0"/>
          </a:p>
        </p:txBody>
      </p:sp>
      <p:sp>
        <p:nvSpPr>
          <p:cNvPr id="78" name="Shape 76"/>
          <p:cNvSpPr/>
          <p:nvPr/>
        </p:nvSpPr>
        <p:spPr>
          <a:xfrm>
            <a:off x="548640" y="5212080"/>
            <a:ext cx="6766560" cy="914400"/>
          </a:xfrm>
          <a:prstGeom prst="roundRect">
            <a:avLst>
              <a:gd name="adj" fmla="val 12000"/>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9" name="Text 77"/>
          <p:cNvSpPr txBox="1"/>
          <p:nvPr/>
        </p:nvSpPr>
        <p:spPr>
          <a:xfrm>
            <a:off x="868680" y="5212080"/>
            <a:ext cx="6309360" cy="914400"/>
          </a:xfrm>
          <a:prstGeom prst="rect">
            <a:avLst/>
          </a:prstGeom>
          <a:noFill/>
          <a:ln/>
        </p:spPr>
        <p:txBody>
          <a:bodyPr wrap="square" lIns="0" tIns="0" rIns="0" bIns="0" rtlCol="0" anchor="ctr"/>
          <a:lstStyle/>
          <a:p>
            <a:pPr indent="0" marL="0">
              <a:lnSpc>
                <a:spcPts val="1800"/>
              </a:lnSpc>
              <a:buNone/>
            </a:pPr>
            <a:r>
              <a:rPr lang="en-US" sz="1350" b="1" dirty="0">
                <a:solidFill>
                  <a:srgbClr val="0E7C61"/>
                </a:solidFill>
                <a:latin typeface="Calibri" pitchFamily="34" charset="0"/>
                <a:ea typeface="Calibri" pitchFamily="34" charset="-122"/>
                <a:cs typeface="Calibri" pitchFamily="34" charset="-120"/>
              </a:rPr>
              <a:t>The 3 nearest neighbours are A, B and D → they vote 3–0 for Repaid → predict REPAID (confidence 3/3).</a:t>
            </a:r>
            <a:endParaRPr lang="en-US" sz="1350" dirty="0"/>
          </a:p>
        </p:txBody>
      </p:sp>
      <p:sp>
        <p:nvSpPr>
          <p:cNvPr id="80" name="Shape 78"/>
          <p:cNvSpPr/>
          <p:nvPr/>
        </p:nvSpPr>
        <p:spPr>
          <a:xfrm>
            <a:off x="7589520" y="5212080"/>
            <a:ext cx="4023360" cy="914400"/>
          </a:xfrm>
          <a:prstGeom prst="roundRect">
            <a:avLst>
              <a:gd name="adj" fmla="val 12000"/>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81" name="Text 79"/>
          <p:cNvSpPr txBox="1"/>
          <p:nvPr/>
        </p:nvSpPr>
        <p:spPr>
          <a:xfrm>
            <a:off x="7863840" y="5212080"/>
            <a:ext cx="3520440" cy="914400"/>
          </a:xfrm>
          <a:prstGeom prst="rect">
            <a:avLst/>
          </a:prstGeom>
          <a:noFill/>
          <a:ln/>
        </p:spPr>
        <p:txBody>
          <a:bodyPr wrap="square" lIns="0" tIns="0" rIns="0" bIns="0" rtlCol="0" anchor="ctr"/>
          <a:lstStyle/>
          <a:p>
            <a:pPr indent="0" marL="0">
              <a:lnSpc>
                <a:spcPts val="1500"/>
              </a:lnSpc>
              <a:buNone/>
            </a:pPr>
            <a:r>
              <a:rPr lang="en-US" sz="1150" i="1" dirty="0">
                <a:solidFill>
                  <a:srgbClr val="9C3B2E"/>
                </a:solidFill>
                <a:latin typeface="Calibri" pitchFamily="34" charset="0"/>
                <a:ea typeface="Calibri" pitchFamily="34" charset="-122"/>
                <a:cs typeface="Calibri" pitchFamily="34" charset="-120"/>
              </a:rPr>
              <a:t>Note the units problem: inflow is in thousands, tenure in months. Standardise before trusting these distances.</a:t>
            </a:r>
            <a:endParaRPr lang="en-US" sz="1150" dirty="0"/>
          </a:p>
        </p:txBody>
      </p:sp>
      <p:sp>
        <p:nvSpPr>
          <p:cNvPr id="83" name="Text 80"/>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84" name="Text 81"/>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38</a:t>
            </a:r>
            <a:endParaRPr lang="en-US" sz="900" dirty="0"/>
          </a:p>
        </p:txBody>
      </p:sp>
      <p:pic>
        <p:nvPicPr>
          <p:cNvPr id="85" name="Picture 84"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HYPERPARAMETER TUNING IN MINIATURE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Choosing k Is Choosing Your Position On The Trade-off</a:t>
            </a:r>
            <a:endParaRPr lang="en-US" sz="3000" dirty="0"/>
          </a:p>
        </p:txBody>
      </p:sp>
      <p:sp>
        <p:nvSpPr>
          <p:cNvPr id="4" name="Shape 2"/>
          <p:cNvSpPr/>
          <p:nvPr/>
        </p:nvSpPr>
        <p:spPr>
          <a:xfrm>
            <a:off x="548640" y="1600200"/>
            <a:ext cx="3566160" cy="2651760"/>
          </a:xfrm>
          <a:prstGeom prst="roundRect">
            <a:avLst>
              <a:gd name="adj" fmla="val 413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22960" y="1828800"/>
            <a:ext cx="3017520" cy="457200"/>
          </a:xfrm>
          <a:prstGeom prst="rect">
            <a:avLst/>
          </a:prstGeom>
          <a:noFill/>
          <a:ln/>
        </p:spPr>
        <p:txBody>
          <a:bodyPr wrap="square" lIns="0" tIns="0" rIns="0" bIns="0" rtlCol="0" anchor="ctr"/>
          <a:lstStyle/>
          <a:p>
            <a:pPr indent="0" marL="0">
              <a:buNone/>
            </a:pPr>
            <a:r>
              <a:rPr lang="en-US" sz="2000" b="1" dirty="0">
                <a:solidFill>
                  <a:srgbClr val="C9A227"/>
                </a:solidFill>
                <a:latin typeface="Courier New" pitchFamily="34" charset="0"/>
                <a:ea typeface="Courier New" pitchFamily="34" charset="-122"/>
                <a:cs typeface="Courier New" pitchFamily="34" charset="-120"/>
              </a:rPr>
              <a:t>k = 1</a:t>
            </a:r>
            <a:endParaRPr lang="en-US" sz="2000" dirty="0"/>
          </a:p>
        </p:txBody>
      </p:sp>
      <p:sp>
        <p:nvSpPr>
          <p:cNvPr id="6" name="Text 4"/>
          <p:cNvSpPr txBox="1"/>
          <p:nvPr/>
        </p:nvSpPr>
        <p:spPr>
          <a:xfrm>
            <a:off x="822960" y="2331720"/>
            <a:ext cx="3035808" cy="1143000"/>
          </a:xfrm>
          <a:prstGeom prst="rect">
            <a:avLst/>
          </a:prstGeom>
          <a:noFill/>
          <a:ln/>
        </p:spPr>
        <p:txBody>
          <a:bodyPr wrap="square" lIns="0" tIns="0" rIns="0" bIns="0" rtlCol="0" anchor="ctr"/>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Every training point is its own island. The decision boundary is jagged and follows every mislabelled record.</a:t>
            </a:r>
            <a:endParaRPr lang="en-US" sz="1250" dirty="0"/>
          </a:p>
        </p:txBody>
      </p:sp>
      <p:sp>
        <p:nvSpPr>
          <p:cNvPr id="7" name="Shape 5"/>
          <p:cNvSpPr/>
          <p:nvPr/>
        </p:nvSpPr>
        <p:spPr>
          <a:xfrm>
            <a:off x="822960" y="3566160"/>
            <a:ext cx="3017520" cy="411480"/>
          </a:xfrm>
          <a:prstGeom prst="roundRect">
            <a:avLst>
              <a:gd name="adj" fmla="val 17778"/>
            </a:avLst>
          </a:prstGeom>
          <a:solidFill>
            <a:srgbClr val="C9A227"/>
          </a:solidFill>
          <a:ln w="12700">
            <a:solidFill>
              <a:srgbClr val="333333"/>
            </a:solidFill>
            <a:prstDash val="solid"/>
          </a:ln>
        </p:spPr>
      </p:sp>
      <p:sp>
        <p:nvSpPr>
          <p:cNvPr id="8" name="Text 6"/>
          <p:cNvSpPr txBox="1"/>
          <p:nvPr/>
        </p:nvSpPr>
        <p:spPr>
          <a:xfrm>
            <a:off x="822960" y="3566160"/>
            <a:ext cx="3017520" cy="411480"/>
          </a:xfrm>
          <a:prstGeom prst="rect">
            <a:avLst/>
          </a:prstGeom>
          <a:noFill/>
          <a:ln/>
        </p:spPr>
        <p:txBody>
          <a:bodyPr wrap="square" lIns="0" tIns="0" rIns="0" bIns="0" rtlCol="0" anchor="ctr"/>
          <a:lstStyle/>
          <a:p>
            <a:pPr algn="ctr" indent="0" marL="0">
              <a:buNone/>
            </a:pPr>
            <a:r>
              <a:rPr lang="en-US" sz="1100" b="1" dirty="0">
                <a:solidFill>
                  <a:srgbClr val="0F6B3C"/>
                </a:solidFill>
                <a:latin typeface="Calibri" pitchFamily="34" charset="0"/>
                <a:ea typeface="Calibri" pitchFamily="34" charset="-122"/>
                <a:cs typeface="Calibri" pitchFamily="34" charset="-120"/>
              </a:rPr>
              <a:t>Low bias · high variance · overfits</a:t>
            </a:r>
            <a:endParaRPr lang="en-US" sz="1100" dirty="0"/>
          </a:p>
        </p:txBody>
      </p:sp>
      <p:sp>
        <p:nvSpPr>
          <p:cNvPr id="9" name="Shape 7"/>
          <p:cNvSpPr/>
          <p:nvPr/>
        </p:nvSpPr>
        <p:spPr>
          <a:xfrm>
            <a:off x="4297680" y="1600200"/>
            <a:ext cx="3566160" cy="2651760"/>
          </a:xfrm>
          <a:prstGeom prst="roundRect">
            <a:avLst>
              <a:gd name="adj" fmla="val 413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Text 8"/>
          <p:cNvSpPr txBox="1"/>
          <p:nvPr/>
        </p:nvSpPr>
        <p:spPr>
          <a:xfrm>
            <a:off x="4572000" y="1828800"/>
            <a:ext cx="3017520" cy="457200"/>
          </a:xfrm>
          <a:prstGeom prst="rect">
            <a:avLst/>
          </a:prstGeom>
          <a:noFill/>
          <a:ln/>
        </p:spPr>
        <p:txBody>
          <a:bodyPr wrap="square" lIns="0" tIns="0" rIns="0" bIns="0" rtlCol="0" anchor="ctr"/>
          <a:lstStyle/>
          <a:p>
            <a:pPr indent="0" marL="0">
              <a:buNone/>
            </a:pPr>
            <a:r>
              <a:rPr lang="en-US" sz="2000" b="1" dirty="0">
                <a:solidFill>
                  <a:srgbClr val="0E7C61"/>
                </a:solidFill>
                <a:latin typeface="Courier New" pitchFamily="34" charset="0"/>
                <a:ea typeface="Courier New" pitchFamily="34" charset="-122"/>
                <a:cs typeface="Courier New" pitchFamily="34" charset="-120"/>
              </a:rPr>
              <a:t>k ≈ √m</a:t>
            </a:r>
            <a:endParaRPr lang="en-US" sz="2000" dirty="0"/>
          </a:p>
        </p:txBody>
      </p:sp>
      <p:sp>
        <p:nvSpPr>
          <p:cNvPr id="11" name="Text 9"/>
          <p:cNvSpPr txBox="1"/>
          <p:nvPr/>
        </p:nvSpPr>
        <p:spPr>
          <a:xfrm>
            <a:off x="4572000" y="2331720"/>
            <a:ext cx="3035808" cy="1143000"/>
          </a:xfrm>
          <a:prstGeom prst="rect">
            <a:avLst/>
          </a:prstGeom>
          <a:noFill/>
          <a:ln/>
        </p:spPr>
        <p:txBody>
          <a:bodyPr wrap="square" lIns="0" tIns="0" rIns="0" bIns="0" rtlCol="0" anchor="ctr"/>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A common rule of thumb, but only a starting point. Validate it — do not quote it as law.</a:t>
            </a:r>
            <a:endParaRPr lang="en-US" sz="1250" dirty="0"/>
          </a:p>
        </p:txBody>
      </p:sp>
      <p:sp>
        <p:nvSpPr>
          <p:cNvPr id="12" name="Shape 10"/>
          <p:cNvSpPr/>
          <p:nvPr/>
        </p:nvSpPr>
        <p:spPr>
          <a:xfrm>
            <a:off x="4572000" y="3566160"/>
            <a:ext cx="3017520" cy="411480"/>
          </a:xfrm>
          <a:prstGeom prst="roundRect">
            <a:avLst>
              <a:gd name="adj" fmla="val 17778"/>
            </a:avLst>
          </a:prstGeom>
          <a:solidFill>
            <a:srgbClr val="0E7C61"/>
          </a:solidFill>
          <a:ln w="12700">
            <a:solidFill>
              <a:srgbClr val="333333"/>
            </a:solidFill>
            <a:prstDash val="solid"/>
          </a:ln>
        </p:spPr>
      </p:sp>
      <p:sp>
        <p:nvSpPr>
          <p:cNvPr id="13" name="Text 11"/>
          <p:cNvSpPr txBox="1"/>
          <p:nvPr/>
        </p:nvSpPr>
        <p:spPr>
          <a:xfrm>
            <a:off x="4572000" y="3566160"/>
            <a:ext cx="30175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sensible place to begin the search</a:t>
            </a:r>
            <a:endParaRPr lang="en-US" sz="1100" dirty="0"/>
          </a:p>
        </p:txBody>
      </p:sp>
      <p:sp>
        <p:nvSpPr>
          <p:cNvPr id="14" name="Shape 12"/>
          <p:cNvSpPr/>
          <p:nvPr/>
        </p:nvSpPr>
        <p:spPr>
          <a:xfrm>
            <a:off x="8046720" y="1600200"/>
            <a:ext cx="3566160" cy="2651760"/>
          </a:xfrm>
          <a:prstGeom prst="roundRect">
            <a:avLst>
              <a:gd name="adj" fmla="val 4138"/>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Text 13"/>
          <p:cNvSpPr txBox="1"/>
          <p:nvPr/>
        </p:nvSpPr>
        <p:spPr>
          <a:xfrm>
            <a:off x="8321040" y="1828800"/>
            <a:ext cx="3017520" cy="457200"/>
          </a:xfrm>
          <a:prstGeom prst="rect">
            <a:avLst/>
          </a:prstGeom>
          <a:noFill/>
          <a:ln/>
        </p:spPr>
        <p:txBody>
          <a:bodyPr wrap="square" lIns="0" tIns="0" rIns="0" bIns="0" rtlCol="0" anchor="ctr"/>
          <a:lstStyle/>
          <a:p>
            <a:pPr indent="0" marL="0">
              <a:buNone/>
            </a:pPr>
            <a:r>
              <a:rPr lang="en-US" sz="2000" b="1" dirty="0">
                <a:solidFill>
                  <a:srgbClr val="9C3B2E"/>
                </a:solidFill>
                <a:latin typeface="Courier New" pitchFamily="34" charset="0"/>
                <a:ea typeface="Courier New" pitchFamily="34" charset="-122"/>
                <a:cs typeface="Courier New" pitchFamily="34" charset="-120"/>
              </a:rPr>
              <a:t>k = m</a:t>
            </a:r>
            <a:endParaRPr lang="en-US" sz="2000" dirty="0"/>
          </a:p>
        </p:txBody>
      </p:sp>
      <p:sp>
        <p:nvSpPr>
          <p:cNvPr id="16" name="Text 14"/>
          <p:cNvSpPr txBox="1"/>
          <p:nvPr/>
        </p:nvSpPr>
        <p:spPr>
          <a:xfrm>
            <a:off x="8321040" y="2331720"/>
            <a:ext cx="3035808" cy="1143000"/>
          </a:xfrm>
          <a:prstGeom prst="rect">
            <a:avLst/>
          </a:prstGeom>
          <a:noFill/>
          <a:ln/>
        </p:spPr>
        <p:txBody>
          <a:bodyPr wrap="square" lIns="0" tIns="0" rIns="0" bIns="0" rtlCol="0" anchor="ctr"/>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Every prediction is the majority class of the whole dataset. The model ignores the input entirely.</a:t>
            </a:r>
            <a:endParaRPr lang="en-US" sz="1250" dirty="0"/>
          </a:p>
        </p:txBody>
      </p:sp>
      <p:sp>
        <p:nvSpPr>
          <p:cNvPr id="17" name="Shape 15"/>
          <p:cNvSpPr/>
          <p:nvPr/>
        </p:nvSpPr>
        <p:spPr>
          <a:xfrm>
            <a:off x="8321040" y="3566160"/>
            <a:ext cx="3017520" cy="411480"/>
          </a:xfrm>
          <a:prstGeom prst="roundRect">
            <a:avLst>
              <a:gd name="adj" fmla="val 17778"/>
            </a:avLst>
          </a:prstGeom>
          <a:solidFill>
            <a:srgbClr val="9C3B2E"/>
          </a:solidFill>
          <a:ln w="12700">
            <a:solidFill>
              <a:srgbClr val="333333"/>
            </a:solidFill>
            <a:prstDash val="solid"/>
          </a:ln>
        </p:spPr>
      </p:sp>
      <p:sp>
        <p:nvSpPr>
          <p:cNvPr id="18" name="Text 16"/>
          <p:cNvSpPr txBox="1"/>
          <p:nvPr/>
        </p:nvSpPr>
        <p:spPr>
          <a:xfrm>
            <a:off x="8321040" y="3566160"/>
            <a:ext cx="30175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 bias · low variance · underfits</a:t>
            </a:r>
            <a:endParaRPr lang="en-US" sz="1100" dirty="0"/>
          </a:p>
        </p:txBody>
      </p:sp>
      <p:sp>
        <p:nvSpPr>
          <p:cNvPr id="19" name="Shape 17"/>
          <p:cNvSpPr/>
          <p:nvPr/>
        </p:nvSpPr>
        <p:spPr>
          <a:xfrm>
            <a:off x="548640" y="4434840"/>
            <a:ext cx="11064240" cy="1691640"/>
          </a:xfrm>
          <a:prstGeom prst="roundRect">
            <a:avLst>
              <a:gd name="adj" fmla="val 6486"/>
            </a:avLst>
          </a:prstGeom>
          <a:solidFill>
            <a:srgbClr val="E9F0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Text 18"/>
          <p:cNvSpPr txBox="1"/>
          <p:nvPr/>
        </p:nvSpPr>
        <p:spPr>
          <a:xfrm>
            <a:off x="914400" y="4617720"/>
            <a:ext cx="10332720" cy="320040"/>
          </a:xfrm>
          <a:prstGeom prst="rect">
            <a:avLst/>
          </a:prstGeom>
          <a:noFill/>
          <a:ln/>
        </p:spPr>
        <p:txBody>
          <a:bodyPr wrap="square" lIns="0" tIns="0" rIns="0" bIns="0" rtlCol="0" anchor="ctr"/>
          <a:lstStyle/>
          <a:p>
            <a:pPr indent="0" marL="0">
              <a:buNone/>
            </a:pPr>
            <a:r>
              <a:rPr lang="en-US" sz="1700" b="1" dirty="0">
                <a:solidFill>
                  <a:srgbClr val="0F6B3C"/>
                </a:solidFill>
                <a:latin typeface="Cambria" pitchFamily="34" charset="0"/>
                <a:ea typeface="Cambria" pitchFamily="34" charset="-122"/>
                <a:cs typeface="Cambria" pitchFamily="34" charset="-120"/>
              </a:rPr>
              <a:t>So how do you actually choose?</a:t>
            </a:r>
            <a:endParaRPr lang="en-US" sz="1700" dirty="0"/>
          </a:p>
        </p:txBody>
      </p:sp>
      <p:sp>
        <p:nvSpPr>
          <p:cNvPr id="21" name="Text 19"/>
          <p:cNvSpPr txBox="1"/>
          <p:nvPr/>
        </p:nvSpPr>
        <p:spPr>
          <a:xfrm>
            <a:off x="914400" y="4983480"/>
            <a:ext cx="10332720" cy="1051560"/>
          </a:xfrm>
          <a:prstGeom prst="rect">
            <a:avLst/>
          </a:prstGeom>
          <a:noFill/>
          <a:ln/>
        </p:spPr>
        <p:txBody>
          <a:bodyPr wrap="square" lIns="0" tIns="0" rIns="0" bIns="0" rtlCol="0" anchor="t"/>
          <a:lstStyle/>
          <a:p>
            <a:pPr indent="0" marL="0">
              <a:lnSpc>
                <a:spcPts val="1700"/>
              </a:lnSpc>
              <a:buNone/>
            </a:pPr>
            <a:r>
              <a:rPr lang="en-US" sz="1250" dirty="0">
                <a:solidFill>
                  <a:srgbClr val="1B2A20"/>
                </a:solidFill>
                <a:latin typeface="Calibri" pitchFamily="34" charset="0"/>
                <a:ea typeface="Calibri" pitchFamily="34" charset="-122"/>
                <a:cs typeface="Calibri" pitchFamily="34" charset="-120"/>
              </a:rPr>
              <a:t>Try a range of values — k = 1, 3, 5, 7, …, 25 — and score each one with cross-validation on the training data. Plot validation accuracy against k, pick the k at the peak, then evaluate that single model once on the test set. This procedure is called a grid search, and it generalises to every hyperparameter you will meet: tree depth, learning rate, number of clusters, regularisation strength.</a:t>
            </a:r>
            <a:endParaRPr lang="en-US" sz="1250" dirty="0"/>
          </a:p>
        </p:txBody>
      </p:sp>
      <p:sp>
        <p:nvSpPr>
          <p:cNvPr id="23" name="Text 20"/>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4" name="Text 21"/>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39</a:t>
            </a:r>
            <a:endParaRPr lang="en-US" sz="900" dirty="0"/>
          </a:p>
        </p:txBody>
      </p:sp>
      <p:pic>
        <p:nvPicPr>
          <p:cNvPr id="25" name="Picture 24"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IMBALANCED-DATA TRAP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Why Accuracy Can Be A Lie</a:t>
            </a:r>
            <a:endParaRPr lang="en-US" sz="3000" dirty="0"/>
          </a:p>
        </p:txBody>
      </p:sp>
      <p:sp>
        <p:nvSpPr>
          <p:cNvPr id="4" name="Shape 2"/>
          <p:cNvSpPr/>
          <p:nvPr/>
        </p:nvSpPr>
        <p:spPr>
          <a:xfrm>
            <a:off x="548640" y="1554480"/>
            <a:ext cx="11064240" cy="1143000"/>
          </a:xfrm>
          <a:prstGeom prst="roundRect">
            <a:avLst>
              <a:gd name="adj" fmla="val 9600"/>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914400" y="1554480"/>
            <a:ext cx="10332720" cy="1143000"/>
          </a:xfrm>
          <a:prstGeom prst="rect">
            <a:avLst/>
          </a:prstGeom>
          <a:noFill/>
          <a:ln/>
        </p:spPr>
        <p:txBody>
          <a:bodyPr wrap="square" lIns="0" tIns="0" rIns="0" bIns="0" rtlCol="0" anchor="ctr"/>
          <a:lstStyle/>
          <a:p>
            <a:pPr indent="0" marL="0">
              <a:lnSpc>
                <a:spcPts val="2400"/>
              </a:lnSpc>
              <a:buNone/>
            </a:pPr>
            <a:r>
              <a:rPr lang="en-US" sz="1800" b="1" dirty="0">
                <a:solidFill>
                  <a:srgbClr val="0F6B3C"/>
                </a:solidFill>
                <a:latin typeface="Cambria" pitchFamily="34" charset="0"/>
                <a:ea typeface="Cambria" pitchFamily="34" charset="-122"/>
                <a:cs typeface="Cambria" pitchFamily="34" charset="-120"/>
              </a:rPr>
              <a:t>Scenario: 10,000 mobile-money transactions. 100 of them are fraudulent (1%). Your model must catch the fraud.</a:t>
            </a:r>
            <a:endParaRPr lang="en-US" sz="1800" dirty="0"/>
          </a:p>
        </p:txBody>
      </p:sp>
      <p:sp>
        <p:nvSpPr>
          <p:cNvPr id="6" name="Shape 4"/>
          <p:cNvSpPr/>
          <p:nvPr/>
        </p:nvSpPr>
        <p:spPr>
          <a:xfrm>
            <a:off x="548640" y="2880360"/>
            <a:ext cx="5394960" cy="3108960"/>
          </a:xfrm>
          <a:prstGeom prst="roundRect">
            <a:avLst>
              <a:gd name="adj" fmla="val 3529"/>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7" name="Text 5"/>
          <p:cNvSpPr txBox="1"/>
          <p:nvPr/>
        </p:nvSpPr>
        <p:spPr>
          <a:xfrm>
            <a:off x="868680" y="3108960"/>
            <a:ext cx="4754880" cy="365760"/>
          </a:xfrm>
          <a:prstGeom prst="rect">
            <a:avLst/>
          </a:prstGeom>
          <a:noFill/>
          <a:ln/>
        </p:spPr>
        <p:txBody>
          <a:bodyPr wrap="square" lIns="0" tIns="0" rIns="0" bIns="0" rtlCol="0" anchor="ctr"/>
          <a:lstStyle/>
          <a:p>
            <a:pPr indent="0" marL="0">
              <a:buNone/>
            </a:pPr>
            <a:r>
              <a:rPr lang="en-US" sz="1700" b="1" dirty="0">
                <a:solidFill>
                  <a:srgbClr val="9C3B2E"/>
                </a:solidFill>
                <a:latin typeface="Cambria" pitchFamily="34" charset="0"/>
                <a:ea typeface="Cambria" pitchFamily="34" charset="-122"/>
                <a:cs typeface="Cambria" pitchFamily="34" charset="-120"/>
              </a:rPr>
              <a:t>Model A: "nothing is ever fraud"</a:t>
            </a:r>
            <a:endParaRPr lang="en-US" sz="1700" dirty="0"/>
          </a:p>
        </p:txBody>
      </p:sp>
      <p:sp>
        <p:nvSpPr>
          <p:cNvPr id="8" name="Text 6"/>
          <p:cNvSpPr txBox="1"/>
          <p:nvPr/>
        </p:nvSpPr>
        <p:spPr>
          <a:xfrm>
            <a:off x="868680" y="3520440"/>
            <a:ext cx="4754880" cy="777240"/>
          </a:xfrm>
          <a:prstGeom prst="rect">
            <a:avLst/>
          </a:prstGeom>
          <a:noFill/>
          <a:ln/>
        </p:spPr>
        <p:txBody>
          <a:bodyPr wrap="square" lIns="0" tIns="0" rIns="0" bIns="0" rtlCol="0" anchor="ctr"/>
          <a:lstStyle/>
          <a:p>
            <a:pPr indent="0" marL="0">
              <a:buNone/>
            </a:pPr>
            <a:r>
              <a:rPr lang="en-US" sz="4600" b="1" dirty="0">
                <a:solidFill>
                  <a:srgbClr val="9C3B2E"/>
                </a:solidFill>
                <a:latin typeface="Cambria" pitchFamily="34" charset="0"/>
                <a:ea typeface="Cambria" pitchFamily="34" charset="-122"/>
                <a:cs typeface="Cambria" pitchFamily="34" charset="-120"/>
              </a:rPr>
              <a:t>99.0%</a:t>
            </a:r>
            <a:endParaRPr lang="en-US" sz="4600" dirty="0"/>
          </a:p>
        </p:txBody>
      </p:sp>
      <p:sp>
        <p:nvSpPr>
          <p:cNvPr id="9" name="Text 7"/>
          <p:cNvSpPr txBox="1"/>
          <p:nvPr/>
        </p:nvSpPr>
        <p:spPr>
          <a:xfrm>
            <a:off x="868680" y="4315968"/>
            <a:ext cx="4754880" cy="274320"/>
          </a:xfrm>
          <a:prstGeom prst="rect">
            <a:avLst/>
          </a:prstGeom>
          <a:noFill/>
          <a:ln/>
        </p:spPr>
        <p:txBody>
          <a:bodyPr wrap="square" lIns="0" tIns="0" rIns="0" bIns="0" rtlCol="0" anchor="ctr"/>
          <a:lstStyle/>
          <a:p>
            <a:pPr indent="0" marL="0">
              <a:buNone/>
            </a:pPr>
            <a:r>
              <a:rPr lang="en-US" sz="1200" dirty="0">
                <a:solidFill>
                  <a:srgbClr val="5C6B60"/>
                </a:solidFill>
                <a:latin typeface="Calibri" pitchFamily="34" charset="0"/>
                <a:ea typeface="Calibri" pitchFamily="34" charset="-122"/>
                <a:cs typeface="Calibri" pitchFamily="34" charset="-120"/>
              </a:rPr>
              <a:t>accuracy</a:t>
            </a:r>
            <a:endParaRPr lang="en-US" sz="1200" dirty="0"/>
          </a:p>
        </p:txBody>
      </p:sp>
      <p:sp>
        <p:nvSpPr>
          <p:cNvPr id="10" name="Text 8"/>
          <p:cNvSpPr txBox="1"/>
          <p:nvPr/>
        </p:nvSpPr>
        <p:spPr>
          <a:xfrm>
            <a:off x="868680" y="4663440"/>
            <a:ext cx="4800600" cy="1097280"/>
          </a:xfrm>
          <a:prstGeom prst="rect">
            <a:avLst/>
          </a:prstGeom>
          <a:noFill/>
          <a:ln/>
        </p:spPr>
        <p:txBody>
          <a:bodyPr wrap="square" lIns="0" tIns="0" rIns="0" bIns="0" rtlCol="0" anchor="t"/>
          <a:lstStyle/>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It is one line of code, it needs no data, and it catches exactly zero fraudulent transactions. Every victim still loses their money.</a:t>
            </a:r>
            <a:endParaRPr lang="en-US" sz="1300" dirty="0"/>
          </a:p>
        </p:txBody>
      </p:sp>
      <p:sp>
        <p:nvSpPr>
          <p:cNvPr id="11" name="Shape 9"/>
          <p:cNvSpPr/>
          <p:nvPr/>
        </p:nvSpPr>
        <p:spPr>
          <a:xfrm>
            <a:off x="6217920" y="2880360"/>
            <a:ext cx="5394960" cy="3108960"/>
          </a:xfrm>
          <a:prstGeom prst="roundRect">
            <a:avLst>
              <a:gd name="adj" fmla="val 3529"/>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2" name="Text 10"/>
          <p:cNvSpPr txBox="1"/>
          <p:nvPr/>
        </p:nvSpPr>
        <p:spPr>
          <a:xfrm>
            <a:off x="6537960" y="3108960"/>
            <a:ext cx="4754880" cy="365760"/>
          </a:xfrm>
          <a:prstGeom prst="rect">
            <a:avLst/>
          </a:prstGeom>
          <a:noFill/>
          <a:ln/>
        </p:spPr>
        <p:txBody>
          <a:bodyPr wrap="square" lIns="0" tIns="0" rIns="0" bIns="0" rtlCol="0" anchor="ctr"/>
          <a:lstStyle/>
          <a:p>
            <a:pPr indent="0" marL="0">
              <a:buNone/>
            </a:pPr>
            <a:r>
              <a:rPr lang="en-US" sz="1700" b="1" dirty="0">
                <a:solidFill>
                  <a:srgbClr val="0E7C61"/>
                </a:solidFill>
                <a:latin typeface="Cambria" pitchFamily="34" charset="0"/>
                <a:ea typeface="Cambria" pitchFamily="34" charset="-122"/>
                <a:cs typeface="Cambria" pitchFamily="34" charset="-120"/>
              </a:rPr>
              <a:t>Model B: a real fraud classifier</a:t>
            </a:r>
            <a:endParaRPr lang="en-US" sz="1700" dirty="0"/>
          </a:p>
        </p:txBody>
      </p:sp>
      <p:sp>
        <p:nvSpPr>
          <p:cNvPr id="13" name="Text 11"/>
          <p:cNvSpPr txBox="1"/>
          <p:nvPr/>
        </p:nvSpPr>
        <p:spPr>
          <a:xfrm>
            <a:off x="6537960" y="3520440"/>
            <a:ext cx="4754880" cy="777240"/>
          </a:xfrm>
          <a:prstGeom prst="rect">
            <a:avLst/>
          </a:prstGeom>
          <a:noFill/>
          <a:ln/>
        </p:spPr>
        <p:txBody>
          <a:bodyPr wrap="square" lIns="0" tIns="0" rIns="0" bIns="0" rtlCol="0" anchor="ctr"/>
          <a:lstStyle/>
          <a:p>
            <a:pPr indent="0" marL="0">
              <a:buNone/>
            </a:pPr>
            <a:r>
              <a:rPr lang="en-US" sz="4600" b="1" dirty="0">
                <a:solidFill>
                  <a:srgbClr val="0E7C61"/>
                </a:solidFill>
                <a:latin typeface="Cambria" pitchFamily="34" charset="0"/>
                <a:ea typeface="Cambria" pitchFamily="34" charset="-122"/>
                <a:cs typeface="Cambria" pitchFamily="34" charset="-120"/>
              </a:rPr>
              <a:t>97.7%</a:t>
            </a:r>
            <a:endParaRPr lang="en-US" sz="4600" dirty="0"/>
          </a:p>
        </p:txBody>
      </p:sp>
      <p:sp>
        <p:nvSpPr>
          <p:cNvPr id="14" name="Text 12"/>
          <p:cNvSpPr txBox="1"/>
          <p:nvPr/>
        </p:nvSpPr>
        <p:spPr>
          <a:xfrm>
            <a:off x="6537960" y="4315968"/>
            <a:ext cx="4754880" cy="274320"/>
          </a:xfrm>
          <a:prstGeom prst="rect">
            <a:avLst/>
          </a:prstGeom>
          <a:noFill/>
          <a:ln/>
        </p:spPr>
        <p:txBody>
          <a:bodyPr wrap="square" lIns="0" tIns="0" rIns="0" bIns="0" rtlCol="0" anchor="ctr"/>
          <a:lstStyle/>
          <a:p>
            <a:pPr indent="0" marL="0">
              <a:buNone/>
            </a:pPr>
            <a:r>
              <a:rPr lang="en-US" sz="1200" dirty="0">
                <a:solidFill>
                  <a:srgbClr val="5C6B60"/>
                </a:solidFill>
                <a:latin typeface="Calibri" pitchFamily="34" charset="0"/>
                <a:ea typeface="Calibri" pitchFamily="34" charset="-122"/>
                <a:cs typeface="Calibri" pitchFamily="34" charset="-120"/>
              </a:rPr>
              <a:t>accuracy</a:t>
            </a:r>
            <a:endParaRPr lang="en-US" sz="1200" dirty="0"/>
          </a:p>
        </p:txBody>
      </p:sp>
      <p:sp>
        <p:nvSpPr>
          <p:cNvPr id="15" name="Text 13"/>
          <p:cNvSpPr txBox="1"/>
          <p:nvPr/>
        </p:nvSpPr>
        <p:spPr>
          <a:xfrm>
            <a:off x="6537960" y="4663440"/>
            <a:ext cx="4800600" cy="1097280"/>
          </a:xfrm>
          <a:prstGeom prst="rect">
            <a:avLst/>
          </a:prstGeom>
          <a:noFill/>
          <a:ln/>
        </p:spPr>
        <p:txBody>
          <a:bodyPr wrap="square" lIns="0" tIns="0" rIns="0" bIns="0" rtlCol="0" anchor="t"/>
          <a:lstStyle/>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A lower accuracy score — but it catches 70 of the 100 frauds. On the metric that matters, it is enormously better.</a:t>
            </a:r>
            <a:endParaRPr lang="en-US" sz="1300" dirty="0"/>
          </a:p>
        </p:txBody>
      </p:sp>
      <p:sp>
        <p:nvSpPr>
          <p:cNvPr id="17" name="Text 1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18" name="Text 1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40</a:t>
            </a:r>
            <a:endParaRPr lang="en-US" sz="900" dirty="0"/>
          </a:p>
        </p:txBody>
      </p:sp>
      <p:pic>
        <p:nvPicPr>
          <p:cNvPr id="19" name="Picture 1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FOUR NUMBERS THAT TELL THE TRUTH</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Confusion Matrix</a:t>
            </a:r>
            <a:endParaRPr lang="en-US" sz="3000" dirty="0"/>
          </a:p>
        </p:txBody>
      </p:sp>
      <p:sp>
        <p:nvSpPr>
          <p:cNvPr id="4" name="Text 2"/>
          <p:cNvSpPr txBox="1"/>
          <p:nvPr/>
        </p:nvSpPr>
        <p:spPr>
          <a:xfrm>
            <a:off x="2148840" y="1737360"/>
            <a:ext cx="4389120" cy="274320"/>
          </a:xfrm>
          <a:prstGeom prst="rect">
            <a:avLst/>
          </a:prstGeom>
          <a:noFill/>
          <a:ln/>
        </p:spPr>
        <p:txBody>
          <a:bodyPr wrap="square" lIns="0" tIns="0" rIns="0" bIns="0" rtlCol="0" anchor="ctr"/>
          <a:lstStyle/>
          <a:p>
            <a:pPr algn="ctr" indent="0" marL="0">
              <a:buNone/>
            </a:pPr>
            <a:r>
              <a:rPr lang="en-US" sz="1100" b="1" spc="150" kern="0" dirty="0">
                <a:solidFill>
                  <a:srgbClr val="5C6B60"/>
                </a:solidFill>
                <a:latin typeface="Calibri" pitchFamily="34" charset="0"/>
                <a:ea typeface="Calibri" pitchFamily="34" charset="-122"/>
                <a:cs typeface="Calibri" pitchFamily="34" charset="-120"/>
              </a:rPr>
              <a:t>PREDICTED</a:t>
            </a:r>
            <a:endParaRPr lang="en-US" sz="1100" dirty="0"/>
          </a:p>
        </p:txBody>
      </p:sp>
      <p:sp>
        <p:nvSpPr>
          <p:cNvPr id="5" name="Text 3"/>
          <p:cNvSpPr txBox="1"/>
          <p:nvPr/>
        </p:nvSpPr>
        <p:spPr>
          <a:xfrm>
            <a:off x="2148840" y="1993392"/>
            <a:ext cx="2194560" cy="27432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Fraud</a:t>
            </a:r>
            <a:endParaRPr lang="en-US" sz="1200" dirty="0"/>
          </a:p>
        </p:txBody>
      </p:sp>
      <p:sp>
        <p:nvSpPr>
          <p:cNvPr id="6" name="Text 4"/>
          <p:cNvSpPr txBox="1"/>
          <p:nvPr/>
        </p:nvSpPr>
        <p:spPr>
          <a:xfrm>
            <a:off x="4343400" y="1993392"/>
            <a:ext cx="2194560" cy="274320"/>
          </a:xfrm>
          <a:prstGeom prst="rect">
            <a:avLst/>
          </a:prstGeom>
          <a:noFill/>
          <a:ln/>
        </p:spPr>
        <p:txBody>
          <a:bodyPr wrap="square" lIns="0" tIns="0" rIns="0" bIns="0" rtlCol="0" anchor="ctr"/>
          <a:lstStyle/>
          <a:p>
            <a:pPr algn="ctr" indent="0" marL="0">
              <a:buNone/>
            </a:pPr>
            <a:r>
              <a:rPr lang="en-US" sz="1200" b="1" dirty="0">
                <a:solidFill>
                  <a:srgbClr val="0F6B3C"/>
                </a:solidFill>
                <a:latin typeface="Calibri" pitchFamily="34" charset="0"/>
                <a:ea typeface="Calibri" pitchFamily="34" charset="-122"/>
                <a:cs typeface="Calibri" pitchFamily="34" charset="-120"/>
              </a:rPr>
              <a:t>Not fraud</a:t>
            </a:r>
            <a:endParaRPr lang="en-US" sz="1200" dirty="0"/>
          </a:p>
        </p:txBody>
      </p:sp>
      <p:sp>
        <p:nvSpPr>
          <p:cNvPr id="7" name="Text 5"/>
          <p:cNvSpPr txBox="1"/>
          <p:nvPr/>
        </p:nvSpPr>
        <p:spPr>
          <a:xfrm>
            <a:off x="457200" y="3108960"/>
            <a:ext cx="777240" cy="274320"/>
          </a:xfrm>
          <a:prstGeom prst="rect">
            <a:avLst/>
          </a:prstGeom>
          <a:noFill/>
          <a:ln/>
        </p:spPr>
        <p:txBody>
          <a:bodyPr wrap="square" lIns="0" tIns="0" rIns="0" bIns="0" rtlCol="0" anchor="ctr"/>
          <a:lstStyle/>
          <a:p>
            <a:pPr algn="r" indent="0" marL="0">
              <a:buNone/>
            </a:pPr>
            <a:r>
              <a:rPr lang="en-US" sz="1100" b="1" spc="120" kern="0" dirty="0">
                <a:solidFill>
                  <a:srgbClr val="5C6B60"/>
                </a:solidFill>
                <a:latin typeface="Calibri" pitchFamily="34" charset="0"/>
                <a:ea typeface="Calibri" pitchFamily="34" charset="-122"/>
                <a:cs typeface="Calibri" pitchFamily="34" charset="-120"/>
              </a:rPr>
              <a:t>ACTUAL</a:t>
            </a:r>
            <a:endParaRPr lang="en-US" sz="1100" dirty="0"/>
          </a:p>
        </p:txBody>
      </p:sp>
      <p:sp>
        <p:nvSpPr>
          <p:cNvPr id="8" name="Text 6"/>
          <p:cNvSpPr txBox="1"/>
          <p:nvPr/>
        </p:nvSpPr>
        <p:spPr>
          <a:xfrm>
            <a:off x="1234440" y="2697480"/>
            <a:ext cx="822960" cy="320040"/>
          </a:xfrm>
          <a:prstGeom prst="rect">
            <a:avLst/>
          </a:prstGeom>
          <a:noFill/>
          <a:ln/>
        </p:spPr>
        <p:txBody>
          <a:bodyPr wrap="square" lIns="0" tIns="0" rIns="0" bIns="0" rtlCol="0" anchor="ctr"/>
          <a:lstStyle/>
          <a:p>
            <a:pPr algn="r" indent="0" marL="0">
              <a:buNone/>
            </a:pPr>
            <a:r>
              <a:rPr lang="en-US" sz="1200" b="1" dirty="0">
                <a:solidFill>
                  <a:srgbClr val="0F6B3C"/>
                </a:solidFill>
                <a:latin typeface="Calibri" pitchFamily="34" charset="0"/>
                <a:ea typeface="Calibri" pitchFamily="34" charset="-122"/>
                <a:cs typeface="Calibri" pitchFamily="34" charset="-120"/>
              </a:rPr>
              <a:t>Fraud</a:t>
            </a:r>
            <a:endParaRPr lang="en-US" sz="1200" dirty="0"/>
          </a:p>
        </p:txBody>
      </p:sp>
      <p:sp>
        <p:nvSpPr>
          <p:cNvPr id="9" name="Text 7"/>
          <p:cNvSpPr txBox="1"/>
          <p:nvPr/>
        </p:nvSpPr>
        <p:spPr>
          <a:xfrm>
            <a:off x="1051560" y="3840480"/>
            <a:ext cx="1005840" cy="320040"/>
          </a:xfrm>
          <a:prstGeom prst="rect">
            <a:avLst/>
          </a:prstGeom>
          <a:noFill/>
          <a:ln/>
        </p:spPr>
        <p:txBody>
          <a:bodyPr wrap="square" lIns="0" tIns="0" rIns="0" bIns="0" rtlCol="0" anchor="ctr"/>
          <a:lstStyle/>
          <a:p>
            <a:pPr algn="r" indent="0" marL="0">
              <a:buNone/>
            </a:pPr>
            <a:r>
              <a:rPr lang="en-US" sz="1200" b="1" dirty="0">
                <a:solidFill>
                  <a:srgbClr val="0F6B3C"/>
                </a:solidFill>
                <a:latin typeface="Calibri" pitchFamily="34" charset="0"/>
                <a:ea typeface="Calibri" pitchFamily="34" charset="-122"/>
                <a:cs typeface="Calibri" pitchFamily="34" charset="-120"/>
              </a:rPr>
              <a:t>Not fraud</a:t>
            </a:r>
            <a:endParaRPr lang="en-US" sz="1200" dirty="0"/>
          </a:p>
        </p:txBody>
      </p:sp>
      <p:sp>
        <p:nvSpPr>
          <p:cNvPr id="10" name="Shape 8"/>
          <p:cNvSpPr/>
          <p:nvPr/>
        </p:nvSpPr>
        <p:spPr>
          <a:xfrm>
            <a:off x="2176272" y="2313432"/>
            <a:ext cx="2139696" cy="1088136"/>
          </a:xfrm>
          <a:prstGeom prst="roundRect">
            <a:avLst>
              <a:gd name="adj" fmla="val 6723"/>
            </a:avLst>
          </a:prstGeom>
          <a:solidFill>
            <a:srgbClr val="F2F6F2"/>
          </a:solidFill>
          <a:ln w="19050">
            <a:solidFill>
              <a:srgbClr val="0E7C61"/>
            </a:solidFill>
            <a:prstDash val="solid"/>
          </a:ln>
        </p:spPr>
      </p:sp>
      <p:sp>
        <p:nvSpPr>
          <p:cNvPr id="11" name="Text 9"/>
          <p:cNvSpPr txBox="1"/>
          <p:nvPr/>
        </p:nvSpPr>
        <p:spPr>
          <a:xfrm>
            <a:off x="2286000" y="2395728"/>
            <a:ext cx="1920240" cy="411480"/>
          </a:xfrm>
          <a:prstGeom prst="rect">
            <a:avLst/>
          </a:prstGeom>
          <a:noFill/>
          <a:ln/>
        </p:spPr>
        <p:txBody>
          <a:bodyPr wrap="square" lIns="0" tIns="0" rIns="0" bIns="0" rtlCol="0" anchor="ctr"/>
          <a:lstStyle/>
          <a:p>
            <a:pPr indent="0" marL="0">
              <a:buNone/>
            </a:pPr>
            <a:r>
              <a:rPr lang="en-US" sz="2400" b="1" dirty="0">
                <a:solidFill>
                  <a:srgbClr val="0E7C61"/>
                </a:solidFill>
                <a:latin typeface="Cambria" pitchFamily="34" charset="0"/>
                <a:ea typeface="Cambria" pitchFamily="34" charset="-122"/>
                <a:cs typeface="Cambria" pitchFamily="34" charset="-120"/>
              </a:rPr>
              <a:t>70</a:t>
            </a:r>
            <a:endParaRPr lang="en-US" sz="2400" dirty="0"/>
          </a:p>
        </p:txBody>
      </p:sp>
      <p:sp>
        <p:nvSpPr>
          <p:cNvPr id="12" name="Text 10"/>
          <p:cNvSpPr txBox="1"/>
          <p:nvPr/>
        </p:nvSpPr>
        <p:spPr>
          <a:xfrm>
            <a:off x="2286000" y="2816352"/>
            <a:ext cx="1920240" cy="256032"/>
          </a:xfrm>
          <a:prstGeom prst="rect">
            <a:avLst/>
          </a:prstGeom>
          <a:noFill/>
          <a:ln/>
        </p:spPr>
        <p:txBody>
          <a:bodyPr wrap="square" lIns="0" tIns="0" rIns="0" bIns="0" rtlCol="0" anchor="ctr"/>
          <a:lstStyle/>
          <a:p>
            <a:pPr indent="0" marL="0">
              <a:buNone/>
            </a:pPr>
            <a:r>
              <a:rPr lang="en-US" sz="1150" b="1" dirty="0">
                <a:solidFill>
                  <a:srgbClr val="0F6B3C"/>
                </a:solidFill>
                <a:latin typeface="Calibri" pitchFamily="34" charset="0"/>
                <a:ea typeface="Calibri" pitchFamily="34" charset="-122"/>
                <a:cs typeface="Calibri" pitchFamily="34" charset="-120"/>
              </a:rPr>
              <a:t>True Positives</a:t>
            </a:r>
            <a:endParaRPr lang="en-US" sz="1150" dirty="0"/>
          </a:p>
        </p:txBody>
      </p:sp>
      <p:sp>
        <p:nvSpPr>
          <p:cNvPr id="13" name="Text 11"/>
          <p:cNvSpPr txBox="1"/>
          <p:nvPr/>
        </p:nvSpPr>
        <p:spPr>
          <a:xfrm>
            <a:off x="2286000" y="3054096"/>
            <a:ext cx="1920240" cy="320040"/>
          </a:xfrm>
          <a:prstGeom prst="rect">
            <a:avLst/>
          </a:prstGeom>
          <a:noFill/>
          <a:ln/>
        </p:spPr>
        <p:txBody>
          <a:bodyPr wrap="square" lIns="0" tIns="0" rIns="0" bIns="0" rtlCol="0" anchor="ctr"/>
          <a:lstStyle/>
          <a:p>
            <a:pPr indent="0" marL="0">
              <a:lnSpc>
                <a:spcPts val="1200"/>
              </a:lnSpc>
              <a:buNone/>
            </a:pPr>
            <a:r>
              <a:rPr lang="en-US" sz="1000" dirty="0">
                <a:solidFill>
                  <a:srgbClr val="5C6B60"/>
                </a:solidFill>
                <a:latin typeface="Calibri" pitchFamily="34" charset="0"/>
                <a:ea typeface="Calibri" pitchFamily="34" charset="-122"/>
                <a:cs typeface="Calibri" pitchFamily="34" charset="-120"/>
              </a:rPr>
              <a:t>Fraud caught</a:t>
            </a:r>
            <a:endParaRPr lang="en-US" sz="1000" dirty="0"/>
          </a:p>
        </p:txBody>
      </p:sp>
      <p:sp>
        <p:nvSpPr>
          <p:cNvPr id="14" name="Shape 12"/>
          <p:cNvSpPr/>
          <p:nvPr/>
        </p:nvSpPr>
        <p:spPr>
          <a:xfrm>
            <a:off x="4370832" y="2313432"/>
            <a:ext cx="2139696" cy="1088136"/>
          </a:xfrm>
          <a:prstGeom prst="roundRect">
            <a:avLst>
              <a:gd name="adj" fmla="val 6723"/>
            </a:avLst>
          </a:prstGeom>
          <a:solidFill>
            <a:srgbClr val="F2F6F2"/>
          </a:solidFill>
          <a:ln w="19050">
            <a:solidFill>
              <a:srgbClr val="9C3B2E"/>
            </a:solidFill>
            <a:prstDash val="solid"/>
          </a:ln>
        </p:spPr>
      </p:sp>
      <p:sp>
        <p:nvSpPr>
          <p:cNvPr id="15" name="Text 13"/>
          <p:cNvSpPr txBox="1"/>
          <p:nvPr/>
        </p:nvSpPr>
        <p:spPr>
          <a:xfrm>
            <a:off x="4480560" y="2395728"/>
            <a:ext cx="1920240" cy="411480"/>
          </a:xfrm>
          <a:prstGeom prst="rect">
            <a:avLst/>
          </a:prstGeom>
          <a:noFill/>
          <a:ln/>
        </p:spPr>
        <p:txBody>
          <a:bodyPr wrap="square" lIns="0" tIns="0" rIns="0" bIns="0" rtlCol="0" anchor="ctr"/>
          <a:lstStyle/>
          <a:p>
            <a:pPr indent="0" marL="0">
              <a:buNone/>
            </a:pPr>
            <a:r>
              <a:rPr lang="en-US" sz="2400" b="1" dirty="0">
                <a:solidFill>
                  <a:srgbClr val="9C3B2E"/>
                </a:solidFill>
                <a:latin typeface="Cambria" pitchFamily="34" charset="0"/>
                <a:ea typeface="Cambria" pitchFamily="34" charset="-122"/>
                <a:cs typeface="Cambria" pitchFamily="34" charset="-120"/>
              </a:rPr>
              <a:t>30</a:t>
            </a:r>
            <a:endParaRPr lang="en-US" sz="2400" dirty="0"/>
          </a:p>
        </p:txBody>
      </p:sp>
      <p:sp>
        <p:nvSpPr>
          <p:cNvPr id="16" name="Text 14"/>
          <p:cNvSpPr txBox="1"/>
          <p:nvPr/>
        </p:nvSpPr>
        <p:spPr>
          <a:xfrm>
            <a:off x="4480560" y="2816352"/>
            <a:ext cx="1920240" cy="256032"/>
          </a:xfrm>
          <a:prstGeom prst="rect">
            <a:avLst/>
          </a:prstGeom>
          <a:noFill/>
          <a:ln/>
        </p:spPr>
        <p:txBody>
          <a:bodyPr wrap="square" lIns="0" tIns="0" rIns="0" bIns="0" rtlCol="0" anchor="ctr"/>
          <a:lstStyle/>
          <a:p>
            <a:pPr indent="0" marL="0">
              <a:buNone/>
            </a:pPr>
            <a:r>
              <a:rPr lang="en-US" sz="1150" b="1" dirty="0">
                <a:solidFill>
                  <a:srgbClr val="0F6B3C"/>
                </a:solidFill>
                <a:latin typeface="Calibri" pitchFamily="34" charset="0"/>
                <a:ea typeface="Calibri" pitchFamily="34" charset="-122"/>
                <a:cs typeface="Calibri" pitchFamily="34" charset="-120"/>
              </a:rPr>
              <a:t>False Negatives</a:t>
            </a:r>
            <a:endParaRPr lang="en-US" sz="1150" dirty="0"/>
          </a:p>
        </p:txBody>
      </p:sp>
      <p:sp>
        <p:nvSpPr>
          <p:cNvPr id="17" name="Text 15"/>
          <p:cNvSpPr txBox="1"/>
          <p:nvPr/>
        </p:nvSpPr>
        <p:spPr>
          <a:xfrm>
            <a:off x="4480560" y="3054096"/>
            <a:ext cx="1920240" cy="320040"/>
          </a:xfrm>
          <a:prstGeom prst="rect">
            <a:avLst/>
          </a:prstGeom>
          <a:noFill/>
          <a:ln/>
        </p:spPr>
        <p:txBody>
          <a:bodyPr wrap="square" lIns="0" tIns="0" rIns="0" bIns="0" rtlCol="0" anchor="ctr"/>
          <a:lstStyle/>
          <a:p>
            <a:pPr indent="0" marL="0">
              <a:lnSpc>
                <a:spcPts val="1200"/>
              </a:lnSpc>
              <a:buNone/>
            </a:pPr>
            <a:r>
              <a:rPr lang="en-US" sz="1000" dirty="0">
                <a:solidFill>
                  <a:srgbClr val="5C6B60"/>
                </a:solidFill>
                <a:latin typeface="Calibri" pitchFamily="34" charset="0"/>
                <a:ea typeface="Calibri" pitchFamily="34" charset="-122"/>
                <a:cs typeface="Calibri" pitchFamily="34" charset="-120"/>
              </a:rPr>
              <a:t>Fraud missed — victims lose money</a:t>
            </a:r>
            <a:endParaRPr lang="en-US" sz="1000" dirty="0"/>
          </a:p>
        </p:txBody>
      </p:sp>
      <p:sp>
        <p:nvSpPr>
          <p:cNvPr id="18" name="Shape 16"/>
          <p:cNvSpPr/>
          <p:nvPr/>
        </p:nvSpPr>
        <p:spPr>
          <a:xfrm>
            <a:off x="2176272" y="3456432"/>
            <a:ext cx="2139696" cy="1088136"/>
          </a:xfrm>
          <a:prstGeom prst="roundRect">
            <a:avLst>
              <a:gd name="adj" fmla="val 6723"/>
            </a:avLst>
          </a:prstGeom>
          <a:solidFill>
            <a:srgbClr val="F2F6F2"/>
          </a:solidFill>
          <a:ln w="19050">
            <a:solidFill>
              <a:srgbClr val="C9A227"/>
            </a:solidFill>
            <a:prstDash val="solid"/>
          </a:ln>
        </p:spPr>
      </p:sp>
      <p:sp>
        <p:nvSpPr>
          <p:cNvPr id="19" name="Text 17"/>
          <p:cNvSpPr txBox="1"/>
          <p:nvPr/>
        </p:nvSpPr>
        <p:spPr>
          <a:xfrm>
            <a:off x="2286000" y="3538728"/>
            <a:ext cx="1920240" cy="411480"/>
          </a:xfrm>
          <a:prstGeom prst="rect">
            <a:avLst/>
          </a:prstGeom>
          <a:noFill/>
          <a:ln/>
        </p:spPr>
        <p:txBody>
          <a:bodyPr wrap="square" lIns="0" tIns="0" rIns="0" bIns="0" rtlCol="0" anchor="ctr"/>
          <a:lstStyle/>
          <a:p>
            <a:pPr indent="0" marL="0">
              <a:buNone/>
            </a:pPr>
            <a:r>
              <a:rPr lang="en-US" sz="2400" b="1" dirty="0">
                <a:solidFill>
                  <a:srgbClr val="C9A227"/>
                </a:solidFill>
                <a:latin typeface="Cambria" pitchFamily="34" charset="0"/>
                <a:ea typeface="Cambria" pitchFamily="34" charset="-122"/>
                <a:cs typeface="Cambria" pitchFamily="34" charset="-120"/>
              </a:rPr>
              <a:t>200</a:t>
            </a:r>
            <a:endParaRPr lang="en-US" sz="2400" dirty="0"/>
          </a:p>
        </p:txBody>
      </p:sp>
      <p:sp>
        <p:nvSpPr>
          <p:cNvPr id="20" name="Text 18"/>
          <p:cNvSpPr txBox="1"/>
          <p:nvPr/>
        </p:nvSpPr>
        <p:spPr>
          <a:xfrm>
            <a:off x="2286000" y="3959352"/>
            <a:ext cx="1920240" cy="256032"/>
          </a:xfrm>
          <a:prstGeom prst="rect">
            <a:avLst/>
          </a:prstGeom>
          <a:noFill/>
          <a:ln/>
        </p:spPr>
        <p:txBody>
          <a:bodyPr wrap="square" lIns="0" tIns="0" rIns="0" bIns="0" rtlCol="0" anchor="ctr"/>
          <a:lstStyle/>
          <a:p>
            <a:pPr indent="0" marL="0">
              <a:buNone/>
            </a:pPr>
            <a:r>
              <a:rPr lang="en-US" sz="1150" b="1" dirty="0">
                <a:solidFill>
                  <a:srgbClr val="0F6B3C"/>
                </a:solidFill>
                <a:latin typeface="Calibri" pitchFamily="34" charset="0"/>
                <a:ea typeface="Calibri" pitchFamily="34" charset="-122"/>
                <a:cs typeface="Calibri" pitchFamily="34" charset="-120"/>
              </a:rPr>
              <a:t>False Positives</a:t>
            </a:r>
            <a:endParaRPr lang="en-US" sz="1150" dirty="0"/>
          </a:p>
        </p:txBody>
      </p:sp>
      <p:sp>
        <p:nvSpPr>
          <p:cNvPr id="21" name="Text 19"/>
          <p:cNvSpPr txBox="1"/>
          <p:nvPr/>
        </p:nvSpPr>
        <p:spPr>
          <a:xfrm>
            <a:off x="2286000" y="4197096"/>
            <a:ext cx="1920240" cy="320040"/>
          </a:xfrm>
          <a:prstGeom prst="rect">
            <a:avLst/>
          </a:prstGeom>
          <a:noFill/>
          <a:ln/>
        </p:spPr>
        <p:txBody>
          <a:bodyPr wrap="square" lIns="0" tIns="0" rIns="0" bIns="0" rtlCol="0" anchor="ctr"/>
          <a:lstStyle/>
          <a:p>
            <a:pPr indent="0" marL="0">
              <a:lnSpc>
                <a:spcPts val="1200"/>
              </a:lnSpc>
              <a:buNone/>
            </a:pPr>
            <a:r>
              <a:rPr lang="en-US" sz="1000" dirty="0">
                <a:solidFill>
                  <a:srgbClr val="5C6B60"/>
                </a:solidFill>
                <a:latin typeface="Calibri" pitchFamily="34" charset="0"/>
                <a:ea typeface="Calibri" pitchFamily="34" charset="-122"/>
                <a:cs typeface="Calibri" pitchFamily="34" charset="-120"/>
              </a:rPr>
              <a:t>Genuine payments blocked</a:t>
            </a:r>
            <a:endParaRPr lang="en-US" sz="1000" dirty="0"/>
          </a:p>
        </p:txBody>
      </p:sp>
      <p:sp>
        <p:nvSpPr>
          <p:cNvPr id="22" name="Shape 20"/>
          <p:cNvSpPr/>
          <p:nvPr/>
        </p:nvSpPr>
        <p:spPr>
          <a:xfrm>
            <a:off x="4370832" y="3456432"/>
            <a:ext cx="2139696" cy="1088136"/>
          </a:xfrm>
          <a:prstGeom prst="roundRect">
            <a:avLst>
              <a:gd name="adj" fmla="val 6723"/>
            </a:avLst>
          </a:prstGeom>
          <a:solidFill>
            <a:srgbClr val="F2F6F2"/>
          </a:solidFill>
          <a:ln w="19050">
            <a:solidFill>
              <a:srgbClr val="1E8449"/>
            </a:solidFill>
            <a:prstDash val="solid"/>
          </a:ln>
        </p:spPr>
      </p:sp>
      <p:sp>
        <p:nvSpPr>
          <p:cNvPr id="23" name="Text 21"/>
          <p:cNvSpPr txBox="1"/>
          <p:nvPr/>
        </p:nvSpPr>
        <p:spPr>
          <a:xfrm>
            <a:off x="4480560" y="3538728"/>
            <a:ext cx="1920240" cy="411480"/>
          </a:xfrm>
          <a:prstGeom prst="rect">
            <a:avLst/>
          </a:prstGeom>
          <a:noFill/>
          <a:ln/>
        </p:spPr>
        <p:txBody>
          <a:bodyPr wrap="square" lIns="0" tIns="0" rIns="0" bIns="0" rtlCol="0" anchor="ctr"/>
          <a:lstStyle/>
          <a:p>
            <a:pPr indent="0" marL="0">
              <a:buNone/>
            </a:pPr>
            <a:r>
              <a:rPr lang="en-US" sz="2400" b="1" dirty="0">
                <a:solidFill>
                  <a:srgbClr val="1E8449"/>
                </a:solidFill>
                <a:latin typeface="Cambria" pitchFamily="34" charset="0"/>
                <a:ea typeface="Cambria" pitchFamily="34" charset="-122"/>
                <a:cs typeface="Cambria" pitchFamily="34" charset="-120"/>
              </a:rPr>
              <a:t>9,700</a:t>
            </a:r>
            <a:endParaRPr lang="en-US" sz="2400" dirty="0"/>
          </a:p>
        </p:txBody>
      </p:sp>
      <p:sp>
        <p:nvSpPr>
          <p:cNvPr id="24" name="Text 22"/>
          <p:cNvSpPr txBox="1"/>
          <p:nvPr/>
        </p:nvSpPr>
        <p:spPr>
          <a:xfrm>
            <a:off x="4480560" y="3959352"/>
            <a:ext cx="1920240" cy="256032"/>
          </a:xfrm>
          <a:prstGeom prst="rect">
            <a:avLst/>
          </a:prstGeom>
          <a:noFill/>
          <a:ln/>
        </p:spPr>
        <p:txBody>
          <a:bodyPr wrap="square" lIns="0" tIns="0" rIns="0" bIns="0" rtlCol="0" anchor="ctr"/>
          <a:lstStyle/>
          <a:p>
            <a:pPr indent="0" marL="0">
              <a:buNone/>
            </a:pPr>
            <a:r>
              <a:rPr lang="en-US" sz="1150" b="1" dirty="0">
                <a:solidFill>
                  <a:srgbClr val="0F6B3C"/>
                </a:solidFill>
                <a:latin typeface="Calibri" pitchFamily="34" charset="0"/>
                <a:ea typeface="Calibri" pitchFamily="34" charset="-122"/>
                <a:cs typeface="Calibri" pitchFamily="34" charset="-120"/>
              </a:rPr>
              <a:t>True Negatives</a:t>
            </a:r>
            <a:endParaRPr lang="en-US" sz="1150" dirty="0"/>
          </a:p>
        </p:txBody>
      </p:sp>
      <p:sp>
        <p:nvSpPr>
          <p:cNvPr id="25" name="Text 23"/>
          <p:cNvSpPr txBox="1"/>
          <p:nvPr/>
        </p:nvSpPr>
        <p:spPr>
          <a:xfrm>
            <a:off x="4480560" y="4197096"/>
            <a:ext cx="1920240" cy="320040"/>
          </a:xfrm>
          <a:prstGeom prst="rect">
            <a:avLst/>
          </a:prstGeom>
          <a:noFill/>
          <a:ln/>
        </p:spPr>
        <p:txBody>
          <a:bodyPr wrap="square" lIns="0" tIns="0" rIns="0" bIns="0" rtlCol="0" anchor="ctr"/>
          <a:lstStyle/>
          <a:p>
            <a:pPr indent="0" marL="0">
              <a:lnSpc>
                <a:spcPts val="1200"/>
              </a:lnSpc>
              <a:buNone/>
            </a:pPr>
            <a:r>
              <a:rPr lang="en-US" sz="1000" dirty="0">
                <a:solidFill>
                  <a:srgbClr val="5C6B60"/>
                </a:solidFill>
                <a:latin typeface="Calibri" pitchFamily="34" charset="0"/>
                <a:ea typeface="Calibri" pitchFamily="34" charset="-122"/>
                <a:cs typeface="Calibri" pitchFamily="34" charset="-120"/>
              </a:rPr>
              <a:t>Correctly allowed through</a:t>
            </a:r>
            <a:endParaRPr lang="en-US" sz="1000" dirty="0"/>
          </a:p>
        </p:txBody>
      </p:sp>
      <p:sp>
        <p:nvSpPr>
          <p:cNvPr id="26" name="Shape 24"/>
          <p:cNvSpPr/>
          <p:nvPr/>
        </p:nvSpPr>
        <p:spPr>
          <a:xfrm>
            <a:off x="6675120" y="1737360"/>
            <a:ext cx="4937760" cy="4297680"/>
          </a:xfrm>
          <a:prstGeom prst="roundRect">
            <a:avLst>
              <a:gd name="adj" fmla="val 255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7" name="Text 25"/>
          <p:cNvSpPr txBox="1"/>
          <p:nvPr/>
        </p:nvSpPr>
        <p:spPr>
          <a:xfrm>
            <a:off x="6995160" y="1965960"/>
            <a:ext cx="4297680" cy="365760"/>
          </a:xfrm>
          <a:prstGeom prst="rect">
            <a:avLst/>
          </a:prstGeom>
          <a:noFill/>
          <a:ln/>
        </p:spPr>
        <p:txBody>
          <a:bodyPr wrap="square" lIns="0" tIns="0" rIns="0" bIns="0" rtlCol="0" anchor="ctr"/>
          <a:lstStyle/>
          <a:p>
            <a:pPr indent="0" marL="0">
              <a:buNone/>
            </a:pPr>
            <a:r>
              <a:rPr lang="en-US" sz="1800" b="1" dirty="0">
                <a:solidFill>
                  <a:srgbClr val="0F6B3C"/>
                </a:solidFill>
                <a:latin typeface="Cambria" pitchFamily="34" charset="0"/>
                <a:ea typeface="Cambria" pitchFamily="34" charset="-122"/>
                <a:cs typeface="Cambria" pitchFamily="34" charset="-120"/>
              </a:rPr>
              <a:t>The two errors are not equal</a:t>
            </a:r>
            <a:endParaRPr lang="en-US" sz="1800" dirty="0"/>
          </a:p>
        </p:txBody>
      </p:sp>
      <p:sp>
        <p:nvSpPr>
          <p:cNvPr id="28" name="Text 26"/>
          <p:cNvSpPr txBox="1"/>
          <p:nvPr/>
        </p:nvSpPr>
        <p:spPr>
          <a:xfrm>
            <a:off x="6995160" y="2377440"/>
            <a:ext cx="4343400" cy="1737360"/>
          </a:xfrm>
          <a:prstGeom prst="rect">
            <a:avLst/>
          </a:prstGeom>
          <a:noFill/>
          <a:ln/>
        </p:spPr>
        <p:txBody>
          <a:bodyPr wrap="square" lIns="0" tIns="0" rIns="0" bIns="0" rtlCol="0" anchor="t"/>
          <a:lstStyle/>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A false negative here means a customer is defrauded. A false positive means a legitimate payment is delayed and someone calls the support line.</a:t>
            </a:r>
            <a:endParaRPr lang="en-US" sz="1300" dirty="0"/>
          </a:p>
          <a:p>
            <a:pPr indent="0" marL="0">
              <a:lnSpc>
                <a:spcPts val="1800"/>
              </a:lnSpc>
              <a:buNone/>
            </a:pPr>
            <a:endParaRPr lang="en-US" sz="1300" dirty="0"/>
          </a:p>
          <a:p>
            <a:pPr indent="0" marL="0">
              <a:lnSpc>
                <a:spcPts val="1800"/>
              </a:lnSpc>
              <a:buNone/>
            </a:pPr>
            <a:r>
              <a:rPr lang="en-US" sz="1300" dirty="0">
                <a:solidFill>
                  <a:srgbClr val="1B2A20"/>
                </a:solidFill>
                <a:latin typeface="Calibri" pitchFamily="34" charset="0"/>
                <a:ea typeface="Calibri" pitchFamily="34" charset="-122"/>
                <a:cs typeface="Calibri" pitchFamily="34" charset="-120"/>
              </a:rPr>
              <a:t>Which is worse depends entirely on the application — and that is a business, medical or ethical judgement, not a statistical one.</a:t>
            </a:r>
            <a:endParaRPr lang="en-US" sz="1300" dirty="0"/>
          </a:p>
        </p:txBody>
      </p:sp>
      <p:sp>
        <p:nvSpPr>
          <p:cNvPr id="29" name="Shape 27"/>
          <p:cNvSpPr/>
          <p:nvPr/>
        </p:nvSpPr>
        <p:spPr>
          <a:xfrm>
            <a:off x="6995160" y="4114800"/>
            <a:ext cx="4297680" cy="10973"/>
          </a:xfrm>
          <a:prstGeom prst="rect">
            <a:avLst/>
          </a:prstGeom>
          <a:solidFill>
            <a:srgbClr val="D9E3DB"/>
          </a:solidFill>
          <a:ln w="12700">
            <a:solidFill>
              <a:srgbClr val="333333"/>
            </a:solidFill>
            <a:prstDash val="solid"/>
          </a:ln>
        </p:spPr>
      </p:sp>
      <p:sp>
        <p:nvSpPr>
          <p:cNvPr id="30" name="Text 28"/>
          <p:cNvSpPr txBox="1"/>
          <p:nvPr/>
        </p:nvSpPr>
        <p:spPr>
          <a:xfrm>
            <a:off x="6995160" y="4297680"/>
            <a:ext cx="4343400" cy="15544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B2A20"/>
                </a:solidFill>
                <a:latin typeface="Calibri" pitchFamily="34" charset="0"/>
                <a:ea typeface="Calibri" pitchFamily="34" charset="-122"/>
                <a:cs typeface="Calibri" pitchFamily="34" charset="-120"/>
              </a:rPr>
              <a:t>Cancer screening: a missed tumour is far worse than an extra test</a:t>
            </a:r>
            <a:endParaRPr lang="en-US" sz="1200" dirty="0"/>
          </a:p>
          <a:p>
            <a:pPr marL="342900" indent="-342900">
              <a:spcAft>
                <a:spcPts val="800"/>
              </a:spcAft>
              <a:buSzPct val="100000"/>
              <a:buChar char="•"/>
            </a:pPr>
            <a:r>
              <a:rPr lang="en-US" sz="1200" dirty="0">
                <a:solidFill>
                  <a:srgbClr val="1B2A20"/>
                </a:solidFill>
                <a:latin typeface="Calibri" pitchFamily="34" charset="0"/>
                <a:ea typeface="Calibri" pitchFamily="34" charset="-122"/>
                <a:cs typeface="Calibri" pitchFamily="34" charset="-120"/>
              </a:rPr>
              <a:t>Spam filtering: a lost job offer is far worse than one spam in the inbox</a:t>
            </a:r>
            <a:endParaRPr lang="en-US" sz="1200" dirty="0"/>
          </a:p>
          <a:p>
            <a:pPr marL="342900" indent="-342900">
              <a:spcAft>
                <a:spcPts val="800"/>
              </a:spcAft>
              <a:buSzPct val="100000"/>
              <a:buChar char="•"/>
            </a:pPr>
            <a:r>
              <a:rPr lang="en-US" sz="1200" dirty="0">
                <a:solidFill>
                  <a:srgbClr val="1B2A20"/>
                </a:solidFill>
                <a:latin typeface="Calibri" pitchFamily="34" charset="0"/>
                <a:ea typeface="Calibri" pitchFamily="34" charset="-122"/>
                <a:cs typeface="Calibri" pitchFamily="34" charset="-120"/>
              </a:rPr>
              <a:t>Loan approval: the cost falls on the applicant, not only the lender</a:t>
            </a:r>
            <a:endParaRPr lang="en-US" sz="1200" dirty="0"/>
          </a:p>
        </p:txBody>
      </p:sp>
      <p:sp>
        <p:nvSpPr>
          <p:cNvPr id="32" name="Text 29"/>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3" name="Text 30"/>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41</a:t>
            </a:r>
            <a:endParaRPr lang="en-US" sz="900" dirty="0"/>
          </a:p>
        </p:txBody>
      </p:sp>
      <p:pic>
        <p:nvPicPr>
          <p:cNvPr id="34" name="Picture 33"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METRICS THAT SURVIVE IMBALANCE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Precision, Recall and F1</a:t>
            </a:r>
            <a:endParaRPr lang="en-US" sz="3000" dirty="0"/>
          </a:p>
        </p:txBody>
      </p:sp>
      <p:sp>
        <p:nvSpPr>
          <p:cNvPr id="4" name="Shape 2"/>
          <p:cNvSpPr/>
          <p:nvPr/>
        </p:nvSpPr>
        <p:spPr>
          <a:xfrm>
            <a:off x="548640" y="1600200"/>
            <a:ext cx="3566160" cy="3063240"/>
          </a:xfrm>
          <a:prstGeom prst="roundRect">
            <a:avLst>
              <a:gd name="adj" fmla="val 358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22960" y="1828800"/>
            <a:ext cx="3017520" cy="320040"/>
          </a:xfrm>
          <a:prstGeom prst="rect">
            <a:avLst/>
          </a:prstGeom>
          <a:noFill/>
          <a:ln/>
        </p:spPr>
        <p:txBody>
          <a:bodyPr wrap="square" lIns="0" tIns="0" rIns="0" bIns="0" rtlCol="0" anchor="ctr"/>
          <a:lstStyle/>
          <a:p>
            <a:pPr indent="0" marL="0">
              <a:buNone/>
            </a:pPr>
            <a:r>
              <a:rPr lang="en-US" sz="1300" b="1" spc="150" kern="0" dirty="0">
                <a:solidFill>
                  <a:srgbClr val="0F6B3C"/>
                </a:solidFill>
                <a:latin typeface="Calibri" pitchFamily="34" charset="0"/>
                <a:ea typeface="Calibri" pitchFamily="34" charset="-122"/>
                <a:cs typeface="Calibri" pitchFamily="34" charset="-120"/>
              </a:rPr>
              <a:t>PRECISION</a:t>
            </a:r>
            <a:endParaRPr lang="en-US" sz="1300" dirty="0"/>
          </a:p>
        </p:txBody>
      </p:sp>
      <p:sp>
        <p:nvSpPr>
          <p:cNvPr id="6" name="Text 4"/>
          <p:cNvSpPr txBox="1"/>
          <p:nvPr/>
        </p:nvSpPr>
        <p:spPr>
          <a:xfrm>
            <a:off x="822960" y="2176272"/>
            <a:ext cx="3017520" cy="365760"/>
          </a:xfrm>
          <a:prstGeom prst="rect">
            <a:avLst/>
          </a:prstGeom>
          <a:noFill/>
          <a:ln/>
        </p:spPr>
        <p:txBody>
          <a:bodyPr wrap="square" lIns="0" tIns="0" rIns="0" bIns="0" rtlCol="0" anchor="ctr"/>
          <a:lstStyle/>
          <a:p>
            <a:pPr indent="0" marL="0">
              <a:buNone/>
            </a:pPr>
            <a:r>
              <a:rPr lang="en-US" sz="1500" b="1" dirty="0">
                <a:solidFill>
                  <a:srgbClr val="0F6B3C"/>
                </a:solidFill>
                <a:latin typeface="Courier New" pitchFamily="34" charset="0"/>
                <a:ea typeface="Courier New" pitchFamily="34" charset="-122"/>
                <a:cs typeface="Courier New" pitchFamily="34" charset="-120"/>
              </a:rPr>
              <a:t>TP / (TP + FP)</a:t>
            </a:r>
            <a:endParaRPr lang="en-US" sz="1500" dirty="0"/>
          </a:p>
        </p:txBody>
      </p:sp>
      <p:sp>
        <p:nvSpPr>
          <p:cNvPr id="7" name="Text 5"/>
          <p:cNvSpPr txBox="1"/>
          <p:nvPr/>
        </p:nvSpPr>
        <p:spPr>
          <a:xfrm>
            <a:off x="822960" y="2578608"/>
            <a:ext cx="3017520" cy="365760"/>
          </a:xfrm>
          <a:prstGeom prst="rect">
            <a:avLst/>
          </a:prstGeom>
          <a:noFill/>
          <a:ln/>
        </p:spPr>
        <p:txBody>
          <a:bodyPr wrap="square" lIns="0" tIns="0" rIns="0" bIns="0" rtlCol="0" anchor="ctr"/>
          <a:lstStyle/>
          <a:p>
            <a:pPr indent="0" marL="0">
              <a:buNone/>
            </a:pPr>
            <a:r>
              <a:rPr lang="en-US" sz="1500" b="1" dirty="0">
                <a:solidFill>
                  <a:srgbClr val="0F6B3C"/>
                </a:solidFill>
                <a:latin typeface="Calibri" pitchFamily="34" charset="0"/>
                <a:ea typeface="Calibri" pitchFamily="34" charset="-122"/>
                <a:cs typeface="Calibri" pitchFamily="34" charset="-120"/>
              </a:rPr>
              <a:t>70 / 270  =  25.9%</a:t>
            </a:r>
            <a:endParaRPr lang="en-US" sz="1500" dirty="0"/>
          </a:p>
        </p:txBody>
      </p:sp>
      <p:sp>
        <p:nvSpPr>
          <p:cNvPr id="8" name="Text 6"/>
          <p:cNvSpPr txBox="1"/>
          <p:nvPr/>
        </p:nvSpPr>
        <p:spPr>
          <a:xfrm>
            <a:off x="822960" y="3017520"/>
            <a:ext cx="3035808" cy="14630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Of everything the model flagged, how much was really fraud? Low precision means many false alarms.</a:t>
            </a:r>
            <a:endParaRPr lang="en-US" sz="1200" dirty="0"/>
          </a:p>
        </p:txBody>
      </p:sp>
      <p:sp>
        <p:nvSpPr>
          <p:cNvPr id="9" name="Shape 7"/>
          <p:cNvSpPr/>
          <p:nvPr/>
        </p:nvSpPr>
        <p:spPr>
          <a:xfrm>
            <a:off x="4297680" y="1600200"/>
            <a:ext cx="3566160" cy="3063240"/>
          </a:xfrm>
          <a:prstGeom prst="roundRect">
            <a:avLst>
              <a:gd name="adj" fmla="val 358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Text 8"/>
          <p:cNvSpPr txBox="1"/>
          <p:nvPr/>
        </p:nvSpPr>
        <p:spPr>
          <a:xfrm>
            <a:off x="4572000" y="1828800"/>
            <a:ext cx="3017520" cy="320040"/>
          </a:xfrm>
          <a:prstGeom prst="rect">
            <a:avLst/>
          </a:prstGeom>
          <a:noFill/>
          <a:ln/>
        </p:spPr>
        <p:txBody>
          <a:bodyPr wrap="square" lIns="0" tIns="0" rIns="0" bIns="0" rtlCol="0" anchor="ctr"/>
          <a:lstStyle/>
          <a:p>
            <a:pPr indent="0" marL="0">
              <a:buNone/>
            </a:pPr>
            <a:r>
              <a:rPr lang="en-US" sz="1300" b="1" spc="150" kern="0" dirty="0">
                <a:solidFill>
                  <a:srgbClr val="0E7C61"/>
                </a:solidFill>
                <a:latin typeface="Calibri" pitchFamily="34" charset="0"/>
                <a:ea typeface="Calibri" pitchFamily="34" charset="-122"/>
                <a:cs typeface="Calibri" pitchFamily="34" charset="-120"/>
              </a:rPr>
              <a:t>RECALL</a:t>
            </a:r>
            <a:endParaRPr lang="en-US" sz="1300" dirty="0"/>
          </a:p>
        </p:txBody>
      </p:sp>
      <p:sp>
        <p:nvSpPr>
          <p:cNvPr id="11" name="Text 9"/>
          <p:cNvSpPr txBox="1"/>
          <p:nvPr/>
        </p:nvSpPr>
        <p:spPr>
          <a:xfrm>
            <a:off x="4572000" y="2176272"/>
            <a:ext cx="3017520" cy="365760"/>
          </a:xfrm>
          <a:prstGeom prst="rect">
            <a:avLst/>
          </a:prstGeom>
          <a:noFill/>
          <a:ln/>
        </p:spPr>
        <p:txBody>
          <a:bodyPr wrap="square" lIns="0" tIns="0" rIns="0" bIns="0" rtlCol="0" anchor="ctr"/>
          <a:lstStyle/>
          <a:p>
            <a:pPr indent="0" marL="0">
              <a:buNone/>
            </a:pPr>
            <a:r>
              <a:rPr lang="en-US" sz="1500" b="1" dirty="0">
                <a:solidFill>
                  <a:srgbClr val="0F6B3C"/>
                </a:solidFill>
                <a:latin typeface="Courier New" pitchFamily="34" charset="0"/>
                <a:ea typeface="Courier New" pitchFamily="34" charset="-122"/>
                <a:cs typeface="Courier New" pitchFamily="34" charset="-120"/>
              </a:rPr>
              <a:t>TP / (TP + FN)</a:t>
            </a:r>
            <a:endParaRPr lang="en-US" sz="1500" dirty="0"/>
          </a:p>
        </p:txBody>
      </p:sp>
      <p:sp>
        <p:nvSpPr>
          <p:cNvPr id="12" name="Text 10"/>
          <p:cNvSpPr txBox="1"/>
          <p:nvPr/>
        </p:nvSpPr>
        <p:spPr>
          <a:xfrm>
            <a:off x="4572000" y="2578608"/>
            <a:ext cx="3017520" cy="365760"/>
          </a:xfrm>
          <a:prstGeom prst="rect">
            <a:avLst/>
          </a:prstGeom>
          <a:noFill/>
          <a:ln/>
        </p:spPr>
        <p:txBody>
          <a:bodyPr wrap="square" lIns="0" tIns="0" rIns="0" bIns="0" rtlCol="0" anchor="ctr"/>
          <a:lstStyle/>
          <a:p>
            <a:pPr indent="0" marL="0">
              <a:buNone/>
            </a:pPr>
            <a:r>
              <a:rPr lang="en-US" sz="1500" b="1" dirty="0">
                <a:solidFill>
                  <a:srgbClr val="0E7C61"/>
                </a:solidFill>
                <a:latin typeface="Calibri" pitchFamily="34" charset="0"/>
                <a:ea typeface="Calibri" pitchFamily="34" charset="-122"/>
                <a:cs typeface="Calibri" pitchFamily="34" charset="-120"/>
              </a:rPr>
              <a:t>70 / 100  =  70.0%</a:t>
            </a:r>
            <a:endParaRPr lang="en-US" sz="1500" dirty="0"/>
          </a:p>
        </p:txBody>
      </p:sp>
      <p:sp>
        <p:nvSpPr>
          <p:cNvPr id="13" name="Text 11"/>
          <p:cNvSpPr txBox="1"/>
          <p:nvPr/>
        </p:nvSpPr>
        <p:spPr>
          <a:xfrm>
            <a:off x="4572000" y="3017520"/>
            <a:ext cx="3035808" cy="14630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Of all the fraud that existed, how much did we catch? Low recall means real cases slipping through.</a:t>
            </a:r>
            <a:endParaRPr lang="en-US" sz="1200" dirty="0"/>
          </a:p>
        </p:txBody>
      </p:sp>
      <p:sp>
        <p:nvSpPr>
          <p:cNvPr id="14" name="Shape 12"/>
          <p:cNvSpPr/>
          <p:nvPr/>
        </p:nvSpPr>
        <p:spPr>
          <a:xfrm>
            <a:off x="8046720" y="1600200"/>
            <a:ext cx="3566160" cy="3063240"/>
          </a:xfrm>
          <a:prstGeom prst="roundRect">
            <a:avLst>
              <a:gd name="adj" fmla="val 3582"/>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Text 13"/>
          <p:cNvSpPr txBox="1"/>
          <p:nvPr/>
        </p:nvSpPr>
        <p:spPr>
          <a:xfrm>
            <a:off x="8321040" y="1828800"/>
            <a:ext cx="3017520" cy="320040"/>
          </a:xfrm>
          <a:prstGeom prst="rect">
            <a:avLst/>
          </a:prstGeom>
          <a:noFill/>
          <a:ln/>
        </p:spPr>
        <p:txBody>
          <a:bodyPr wrap="square" lIns="0" tIns="0" rIns="0" bIns="0" rtlCol="0" anchor="ctr"/>
          <a:lstStyle/>
          <a:p>
            <a:pPr indent="0" marL="0">
              <a:buNone/>
            </a:pPr>
            <a:r>
              <a:rPr lang="en-US" sz="1300" b="1" spc="150" kern="0" dirty="0">
                <a:solidFill>
                  <a:srgbClr val="C9A227"/>
                </a:solidFill>
                <a:latin typeface="Calibri" pitchFamily="34" charset="0"/>
                <a:ea typeface="Calibri" pitchFamily="34" charset="-122"/>
                <a:cs typeface="Calibri" pitchFamily="34" charset="-120"/>
              </a:rPr>
              <a:t>F1 SCORE</a:t>
            </a:r>
            <a:endParaRPr lang="en-US" sz="1300" dirty="0"/>
          </a:p>
        </p:txBody>
      </p:sp>
      <p:sp>
        <p:nvSpPr>
          <p:cNvPr id="16" name="Text 14"/>
          <p:cNvSpPr txBox="1"/>
          <p:nvPr/>
        </p:nvSpPr>
        <p:spPr>
          <a:xfrm>
            <a:off x="8321040" y="2176272"/>
            <a:ext cx="3017520" cy="365760"/>
          </a:xfrm>
          <a:prstGeom prst="rect">
            <a:avLst/>
          </a:prstGeom>
          <a:noFill/>
          <a:ln/>
        </p:spPr>
        <p:txBody>
          <a:bodyPr wrap="square" lIns="0" tIns="0" rIns="0" bIns="0" rtlCol="0" anchor="ctr"/>
          <a:lstStyle/>
          <a:p>
            <a:pPr indent="0" marL="0">
              <a:buNone/>
            </a:pPr>
            <a:r>
              <a:rPr lang="en-US" sz="1500" b="1" dirty="0">
                <a:solidFill>
                  <a:srgbClr val="0F6B3C"/>
                </a:solidFill>
                <a:latin typeface="Courier New" pitchFamily="34" charset="0"/>
                <a:ea typeface="Courier New" pitchFamily="34" charset="-122"/>
                <a:cs typeface="Courier New" pitchFamily="34" charset="-120"/>
              </a:rPr>
              <a:t>2·P·R / (P + R)</a:t>
            </a:r>
            <a:endParaRPr lang="en-US" sz="1500" dirty="0"/>
          </a:p>
        </p:txBody>
      </p:sp>
      <p:sp>
        <p:nvSpPr>
          <p:cNvPr id="17" name="Text 15"/>
          <p:cNvSpPr txBox="1"/>
          <p:nvPr/>
        </p:nvSpPr>
        <p:spPr>
          <a:xfrm>
            <a:off x="8321040" y="2578608"/>
            <a:ext cx="3017520" cy="36576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0.378</a:t>
            </a:r>
            <a:endParaRPr lang="en-US" sz="1500" dirty="0"/>
          </a:p>
        </p:txBody>
      </p:sp>
      <p:sp>
        <p:nvSpPr>
          <p:cNvPr id="18" name="Text 16"/>
          <p:cNvSpPr txBox="1"/>
          <p:nvPr/>
        </p:nvSpPr>
        <p:spPr>
          <a:xfrm>
            <a:off x="8321040" y="3017520"/>
            <a:ext cx="3035808" cy="14630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The harmonic mean. A single number that stays low unless BOTH precision and recall are decent.</a:t>
            </a:r>
            <a:endParaRPr lang="en-US" sz="1200" dirty="0"/>
          </a:p>
        </p:txBody>
      </p:sp>
      <p:sp>
        <p:nvSpPr>
          <p:cNvPr id="19" name="Shape 17"/>
          <p:cNvSpPr/>
          <p:nvPr/>
        </p:nvSpPr>
        <p:spPr>
          <a:xfrm>
            <a:off x="548640" y="4846320"/>
            <a:ext cx="5394960" cy="1280160"/>
          </a:xfrm>
          <a:prstGeom prst="roundRect">
            <a:avLst>
              <a:gd name="adj" fmla="val 8571"/>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Text 18"/>
          <p:cNvSpPr txBox="1"/>
          <p:nvPr/>
        </p:nvSpPr>
        <p:spPr>
          <a:xfrm>
            <a:off x="868680" y="5010912"/>
            <a:ext cx="4754880" cy="320040"/>
          </a:xfrm>
          <a:prstGeom prst="rect">
            <a:avLst/>
          </a:prstGeom>
          <a:noFill/>
          <a:ln/>
        </p:spPr>
        <p:txBody>
          <a:bodyPr wrap="square" lIns="0" tIns="0" rIns="0" bIns="0" rtlCol="0" anchor="ctr"/>
          <a:lstStyle/>
          <a:p>
            <a:pPr indent="0" marL="0">
              <a:buNone/>
            </a:pPr>
            <a:r>
              <a:rPr lang="en-US" sz="1500" b="1" dirty="0">
                <a:solidFill>
                  <a:srgbClr val="0E7C61"/>
                </a:solidFill>
                <a:latin typeface="Cambria" pitchFamily="34" charset="0"/>
                <a:ea typeface="Cambria" pitchFamily="34" charset="-122"/>
                <a:cs typeface="Cambria" pitchFamily="34" charset="-120"/>
              </a:rPr>
              <a:t>Optimise RECALL when a miss is expensive</a:t>
            </a:r>
            <a:endParaRPr lang="en-US" sz="1500" dirty="0"/>
          </a:p>
        </p:txBody>
      </p:sp>
      <p:sp>
        <p:nvSpPr>
          <p:cNvPr id="21" name="Text 19"/>
          <p:cNvSpPr txBox="1"/>
          <p:nvPr/>
        </p:nvSpPr>
        <p:spPr>
          <a:xfrm>
            <a:off x="868680" y="5349240"/>
            <a:ext cx="4800600" cy="5486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Disease screening, fraud detection, structural safety inspection, child-protection triage.</a:t>
            </a:r>
            <a:endParaRPr lang="en-US" sz="1200" dirty="0"/>
          </a:p>
        </p:txBody>
      </p:sp>
      <p:sp>
        <p:nvSpPr>
          <p:cNvPr id="22" name="Shape 20"/>
          <p:cNvSpPr/>
          <p:nvPr/>
        </p:nvSpPr>
        <p:spPr>
          <a:xfrm>
            <a:off x="6217920" y="4846320"/>
            <a:ext cx="5394960" cy="1280160"/>
          </a:xfrm>
          <a:prstGeom prst="roundRect">
            <a:avLst>
              <a:gd name="adj" fmla="val 8571"/>
            </a:avLst>
          </a:prstGeom>
          <a:solidFill>
            <a:srgbClr val="E9F0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3" name="Text 21"/>
          <p:cNvSpPr txBox="1"/>
          <p:nvPr/>
        </p:nvSpPr>
        <p:spPr>
          <a:xfrm>
            <a:off x="6537960" y="5010912"/>
            <a:ext cx="475488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Optimise PRECISION when a false alarm is expensive</a:t>
            </a:r>
            <a:endParaRPr lang="en-US" sz="1500" dirty="0"/>
          </a:p>
        </p:txBody>
      </p:sp>
      <p:sp>
        <p:nvSpPr>
          <p:cNvPr id="24" name="Text 22"/>
          <p:cNvSpPr txBox="1"/>
          <p:nvPr/>
        </p:nvSpPr>
        <p:spPr>
          <a:xfrm>
            <a:off x="6537960" y="5349240"/>
            <a:ext cx="4800600" cy="548640"/>
          </a:xfrm>
          <a:prstGeom prst="rect">
            <a:avLst/>
          </a:prstGeom>
          <a:noFill/>
          <a:ln/>
        </p:spPr>
        <p:txBody>
          <a:bodyPr wrap="square" lIns="0" tIns="0" rIns="0" bIns="0" rtlCol="0" anchor="ctr"/>
          <a:lstStyle/>
          <a:p>
            <a:pPr indent="0" marL="0">
              <a:lnSpc>
                <a:spcPts val="1600"/>
              </a:lnSpc>
              <a:buNone/>
            </a:pPr>
            <a:r>
              <a:rPr lang="en-US" sz="1200" dirty="0">
                <a:solidFill>
                  <a:srgbClr val="1B2A20"/>
                </a:solidFill>
                <a:latin typeface="Calibri" pitchFamily="34" charset="0"/>
                <a:ea typeface="Calibri" pitchFamily="34" charset="-122"/>
                <a:cs typeface="Calibri" pitchFamily="34" charset="-120"/>
              </a:rPr>
              <a:t>Spam filtering, blocking accounts, automated arrests, expensive follow-up interventions.</a:t>
            </a:r>
            <a:endParaRPr lang="en-US" sz="1200" dirty="0"/>
          </a:p>
        </p:txBody>
      </p:sp>
      <p:sp>
        <p:nvSpPr>
          <p:cNvPr id="26" name="Text 23"/>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7" name="Text 24"/>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42</a:t>
            </a:r>
            <a:endParaRPr lang="en-US" sz="900" dirty="0"/>
          </a:p>
        </p:txBody>
      </p:sp>
      <p:pic>
        <p:nvPicPr>
          <p:cNvPr id="28" name="Picture 27"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WHEN THE PREDICTION IS A NUMBER</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Metrics For Regression</a:t>
            </a:r>
            <a:endParaRPr lang="en-US" sz="3000" dirty="0"/>
          </a:p>
        </p:txBody>
      </p:sp>
      <p:sp>
        <p:nvSpPr>
          <p:cNvPr id="4" name="Shape 2"/>
          <p:cNvSpPr/>
          <p:nvPr/>
        </p:nvSpPr>
        <p:spPr>
          <a:xfrm>
            <a:off x="548640" y="1600200"/>
            <a:ext cx="3566160" cy="3291840"/>
          </a:xfrm>
          <a:prstGeom prst="roundRect">
            <a:avLst>
              <a:gd name="adj" fmla="val 333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Text 3"/>
          <p:cNvSpPr txBox="1"/>
          <p:nvPr/>
        </p:nvSpPr>
        <p:spPr>
          <a:xfrm>
            <a:off x="822960" y="1810512"/>
            <a:ext cx="3017520" cy="502920"/>
          </a:xfrm>
          <a:prstGeom prst="rect">
            <a:avLst/>
          </a:prstGeom>
          <a:noFill/>
          <a:ln/>
        </p:spPr>
        <p:txBody>
          <a:bodyPr wrap="square" lIns="0" tIns="0" rIns="0" bIns="0" rtlCol="0" anchor="ctr"/>
          <a:lstStyle/>
          <a:p>
            <a:pPr indent="0" marL="0">
              <a:buNone/>
            </a:pPr>
            <a:r>
              <a:rPr lang="en-US" sz="3000" b="1" dirty="0">
                <a:solidFill>
                  <a:srgbClr val="0F6B3C"/>
                </a:solidFill>
                <a:latin typeface="Cambria" pitchFamily="34" charset="0"/>
                <a:ea typeface="Cambria" pitchFamily="34" charset="-122"/>
                <a:cs typeface="Cambria" pitchFamily="34" charset="-120"/>
              </a:rPr>
              <a:t>MAE</a:t>
            </a:r>
            <a:endParaRPr lang="en-US" sz="3000" dirty="0"/>
          </a:p>
        </p:txBody>
      </p:sp>
      <p:sp>
        <p:nvSpPr>
          <p:cNvPr id="6" name="Text 4"/>
          <p:cNvSpPr txBox="1"/>
          <p:nvPr/>
        </p:nvSpPr>
        <p:spPr>
          <a:xfrm>
            <a:off x="822960" y="2331720"/>
            <a:ext cx="3017520" cy="320040"/>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Mean Absolute Error</a:t>
            </a:r>
            <a:endParaRPr lang="en-US" sz="1250" dirty="0"/>
          </a:p>
        </p:txBody>
      </p:sp>
      <p:sp>
        <p:nvSpPr>
          <p:cNvPr id="7" name="Text 5"/>
          <p:cNvSpPr txBox="1"/>
          <p:nvPr/>
        </p:nvSpPr>
        <p:spPr>
          <a:xfrm>
            <a:off x="822960" y="2697480"/>
            <a:ext cx="3035808" cy="14173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Average size of the error, in the original units. "On average we are 2.4 bags out." Easy to explain to a farmer.</a:t>
            </a:r>
            <a:endParaRPr lang="en-US" sz="1200" dirty="0"/>
          </a:p>
        </p:txBody>
      </p:sp>
      <p:sp>
        <p:nvSpPr>
          <p:cNvPr id="8" name="Shape 6"/>
          <p:cNvSpPr/>
          <p:nvPr/>
        </p:nvSpPr>
        <p:spPr>
          <a:xfrm>
            <a:off x="822960" y="4206240"/>
            <a:ext cx="3017520" cy="384048"/>
          </a:xfrm>
          <a:prstGeom prst="roundRect">
            <a:avLst>
              <a:gd name="adj" fmla="val 19048"/>
            </a:avLst>
          </a:prstGeom>
          <a:solidFill>
            <a:srgbClr val="0F6B3C"/>
          </a:solidFill>
          <a:ln w="12700">
            <a:solidFill>
              <a:srgbClr val="333333"/>
            </a:solidFill>
            <a:prstDash val="solid"/>
          </a:ln>
        </p:spPr>
      </p:sp>
      <p:sp>
        <p:nvSpPr>
          <p:cNvPr id="9" name="Text 7"/>
          <p:cNvSpPr txBox="1"/>
          <p:nvPr/>
        </p:nvSpPr>
        <p:spPr>
          <a:xfrm>
            <a:off x="822960" y="4206240"/>
            <a:ext cx="30175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Robust to outliers</a:t>
            </a:r>
            <a:endParaRPr lang="en-US" sz="1100" dirty="0"/>
          </a:p>
        </p:txBody>
      </p:sp>
      <p:sp>
        <p:nvSpPr>
          <p:cNvPr id="10" name="Shape 8"/>
          <p:cNvSpPr/>
          <p:nvPr/>
        </p:nvSpPr>
        <p:spPr>
          <a:xfrm>
            <a:off x="4297680" y="1600200"/>
            <a:ext cx="3566160" cy="3291840"/>
          </a:xfrm>
          <a:prstGeom prst="roundRect">
            <a:avLst>
              <a:gd name="adj" fmla="val 333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1" name="Text 9"/>
          <p:cNvSpPr txBox="1"/>
          <p:nvPr/>
        </p:nvSpPr>
        <p:spPr>
          <a:xfrm>
            <a:off x="4572000" y="1810512"/>
            <a:ext cx="3017520" cy="502920"/>
          </a:xfrm>
          <a:prstGeom prst="rect">
            <a:avLst/>
          </a:prstGeom>
          <a:noFill/>
          <a:ln/>
        </p:spPr>
        <p:txBody>
          <a:bodyPr wrap="square" lIns="0" tIns="0" rIns="0" bIns="0" rtlCol="0" anchor="ctr"/>
          <a:lstStyle/>
          <a:p>
            <a:pPr indent="0" marL="0">
              <a:buNone/>
            </a:pPr>
            <a:r>
              <a:rPr lang="en-US" sz="3000" b="1" dirty="0">
                <a:solidFill>
                  <a:srgbClr val="C9A227"/>
                </a:solidFill>
                <a:latin typeface="Cambria" pitchFamily="34" charset="0"/>
                <a:ea typeface="Cambria" pitchFamily="34" charset="-122"/>
                <a:cs typeface="Cambria" pitchFamily="34" charset="-120"/>
              </a:rPr>
              <a:t>RMSE</a:t>
            </a:r>
            <a:endParaRPr lang="en-US" sz="3000" dirty="0"/>
          </a:p>
        </p:txBody>
      </p:sp>
      <p:sp>
        <p:nvSpPr>
          <p:cNvPr id="12" name="Text 10"/>
          <p:cNvSpPr txBox="1"/>
          <p:nvPr/>
        </p:nvSpPr>
        <p:spPr>
          <a:xfrm>
            <a:off x="4572000" y="2331720"/>
            <a:ext cx="3017520" cy="320040"/>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Root Mean Squared Error</a:t>
            </a:r>
            <a:endParaRPr lang="en-US" sz="1250" dirty="0"/>
          </a:p>
        </p:txBody>
      </p:sp>
      <p:sp>
        <p:nvSpPr>
          <p:cNvPr id="13" name="Text 11"/>
          <p:cNvSpPr txBox="1"/>
          <p:nvPr/>
        </p:nvSpPr>
        <p:spPr>
          <a:xfrm>
            <a:off x="4572000" y="2697480"/>
            <a:ext cx="3035808" cy="14173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Square the errors before averaging, then take the root. Same units, but big misses are punished hard.</a:t>
            </a:r>
            <a:endParaRPr lang="en-US" sz="1200" dirty="0"/>
          </a:p>
        </p:txBody>
      </p:sp>
      <p:sp>
        <p:nvSpPr>
          <p:cNvPr id="14" name="Shape 12"/>
          <p:cNvSpPr/>
          <p:nvPr/>
        </p:nvSpPr>
        <p:spPr>
          <a:xfrm>
            <a:off x="4572000" y="4206240"/>
            <a:ext cx="3017520" cy="384048"/>
          </a:xfrm>
          <a:prstGeom prst="roundRect">
            <a:avLst>
              <a:gd name="adj" fmla="val 19048"/>
            </a:avLst>
          </a:prstGeom>
          <a:solidFill>
            <a:srgbClr val="C9A227"/>
          </a:solidFill>
          <a:ln w="12700">
            <a:solidFill>
              <a:srgbClr val="333333"/>
            </a:solidFill>
            <a:prstDash val="solid"/>
          </a:ln>
        </p:spPr>
      </p:sp>
      <p:sp>
        <p:nvSpPr>
          <p:cNvPr id="15" name="Text 13"/>
          <p:cNvSpPr txBox="1"/>
          <p:nvPr/>
        </p:nvSpPr>
        <p:spPr>
          <a:xfrm>
            <a:off x="4572000" y="4206240"/>
            <a:ext cx="3017520" cy="384048"/>
          </a:xfrm>
          <a:prstGeom prst="rect">
            <a:avLst/>
          </a:prstGeom>
          <a:noFill/>
          <a:ln/>
        </p:spPr>
        <p:txBody>
          <a:bodyPr wrap="square" lIns="0" tIns="0" rIns="0" bIns="0" rtlCol="0" anchor="ctr"/>
          <a:lstStyle/>
          <a:p>
            <a:pPr algn="ctr" indent="0" marL="0">
              <a:buNone/>
            </a:pPr>
            <a:r>
              <a:rPr lang="en-US" sz="1100" b="1" dirty="0">
                <a:solidFill>
                  <a:srgbClr val="0F6B3C"/>
                </a:solidFill>
                <a:latin typeface="Calibri" pitchFamily="34" charset="0"/>
                <a:ea typeface="Calibri" pitchFamily="34" charset="-122"/>
                <a:cs typeface="Calibri" pitchFamily="34" charset="-120"/>
              </a:rPr>
              <a:t>Sensitive to outliers</a:t>
            </a:r>
            <a:endParaRPr lang="en-US" sz="1100" dirty="0"/>
          </a:p>
        </p:txBody>
      </p:sp>
      <p:sp>
        <p:nvSpPr>
          <p:cNvPr id="16" name="Shape 14"/>
          <p:cNvSpPr/>
          <p:nvPr/>
        </p:nvSpPr>
        <p:spPr>
          <a:xfrm>
            <a:off x="8046720" y="1600200"/>
            <a:ext cx="3566160" cy="3291840"/>
          </a:xfrm>
          <a:prstGeom prst="roundRect">
            <a:avLst>
              <a:gd name="adj" fmla="val 333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7" name="Text 15"/>
          <p:cNvSpPr txBox="1"/>
          <p:nvPr/>
        </p:nvSpPr>
        <p:spPr>
          <a:xfrm>
            <a:off x="8321040" y="1810512"/>
            <a:ext cx="3017520" cy="502920"/>
          </a:xfrm>
          <a:prstGeom prst="rect">
            <a:avLst/>
          </a:prstGeom>
          <a:noFill/>
          <a:ln/>
        </p:spPr>
        <p:txBody>
          <a:bodyPr wrap="square" lIns="0" tIns="0" rIns="0" bIns="0" rtlCol="0" anchor="ctr"/>
          <a:lstStyle/>
          <a:p>
            <a:pPr indent="0" marL="0">
              <a:buNone/>
            </a:pPr>
            <a:r>
              <a:rPr lang="en-US" sz="3000" b="1" dirty="0">
                <a:solidFill>
                  <a:srgbClr val="0E7C61"/>
                </a:solidFill>
                <a:latin typeface="Cambria" pitchFamily="34" charset="0"/>
                <a:ea typeface="Cambria" pitchFamily="34" charset="-122"/>
                <a:cs typeface="Cambria" pitchFamily="34" charset="-120"/>
              </a:rPr>
              <a:t>R²</a:t>
            </a:r>
            <a:endParaRPr lang="en-US" sz="3000" dirty="0"/>
          </a:p>
        </p:txBody>
      </p:sp>
      <p:sp>
        <p:nvSpPr>
          <p:cNvPr id="18" name="Text 16"/>
          <p:cNvSpPr txBox="1"/>
          <p:nvPr/>
        </p:nvSpPr>
        <p:spPr>
          <a:xfrm>
            <a:off x="8321040" y="2331720"/>
            <a:ext cx="3017520" cy="320040"/>
          </a:xfrm>
          <a:prstGeom prst="rect">
            <a:avLst/>
          </a:prstGeom>
          <a:noFill/>
          <a:ln/>
        </p:spPr>
        <p:txBody>
          <a:bodyPr wrap="square" lIns="0" tIns="0" rIns="0" bIns="0" rtlCol="0" anchor="ctr"/>
          <a:lstStyle/>
          <a:p>
            <a:pPr indent="0" marL="0">
              <a:buNone/>
            </a:pPr>
            <a:r>
              <a:rPr lang="en-US" sz="1250" b="1" dirty="0">
                <a:solidFill>
                  <a:srgbClr val="0F6B3C"/>
                </a:solidFill>
                <a:latin typeface="Calibri" pitchFamily="34" charset="0"/>
                <a:ea typeface="Calibri" pitchFamily="34" charset="-122"/>
                <a:cs typeface="Calibri" pitchFamily="34" charset="-120"/>
              </a:rPr>
              <a:t>Coefficient of determination</a:t>
            </a:r>
            <a:endParaRPr lang="en-US" sz="1250" dirty="0"/>
          </a:p>
        </p:txBody>
      </p:sp>
      <p:sp>
        <p:nvSpPr>
          <p:cNvPr id="19" name="Text 17"/>
          <p:cNvSpPr txBox="1"/>
          <p:nvPr/>
        </p:nvSpPr>
        <p:spPr>
          <a:xfrm>
            <a:off x="8321040" y="2697480"/>
            <a:ext cx="3035808" cy="14173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The share of the variation in the target that the model explains. 1.0 is perfect; 0 is no better than always predicting the mean.</a:t>
            </a:r>
            <a:endParaRPr lang="en-US" sz="1200" dirty="0"/>
          </a:p>
        </p:txBody>
      </p:sp>
      <p:sp>
        <p:nvSpPr>
          <p:cNvPr id="20" name="Shape 18"/>
          <p:cNvSpPr/>
          <p:nvPr/>
        </p:nvSpPr>
        <p:spPr>
          <a:xfrm>
            <a:off x="8321040" y="4206240"/>
            <a:ext cx="3017520" cy="384048"/>
          </a:xfrm>
          <a:prstGeom prst="roundRect">
            <a:avLst>
              <a:gd name="adj" fmla="val 19048"/>
            </a:avLst>
          </a:prstGeom>
          <a:solidFill>
            <a:srgbClr val="0E7C61"/>
          </a:solidFill>
          <a:ln w="12700">
            <a:solidFill>
              <a:srgbClr val="333333"/>
            </a:solidFill>
            <a:prstDash val="solid"/>
          </a:ln>
        </p:spPr>
      </p:sp>
      <p:sp>
        <p:nvSpPr>
          <p:cNvPr id="21" name="Text 19"/>
          <p:cNvSpPr txBox="1"/>
          <p:nvPr/>
        </p:nvSpPr>
        <p:spPr>
          <a:xfrm>
            <a:off x="8321040" y="4206240"/>
            <a:ext cx="30175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Unitless — good for comparing</a:t>
            </a:r>
            <a:endParaRPr lang="en-US" sz="1100" dirty="0"/>
          </a:p>
        </p:txBody>
      </p:sp>
      <p:sp>
        <p:nvSpPr>
          <p:cNvPr id="22" name="Shape 20"/>
          <p:cNvSpPr/>
          <p:nvPr/>
        </p:nvSpPr>
        <p:spPr>
          <a:xfrm>
            <a:off x="548640" y="5074920"/>
            <a:ext cx="11064240" cy="1051560"/>
          </a:xfrm>
          <a:prstGeom prst="roundRect">
            <a:avLst>
              <a:gd name="adj" fmla="val 10435"/>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3" name="Text 21"/>
          <p:cNvSpPr txBox="1"/>
          <p:nvPr/>
        </p:nvSpPr>
        <p:spPr>
          <a:xfrm>
            <a:off x="914400" y="5257800"/>
            <a:ext cx="10332720" cy="731520"/>
          </a:xfrm>
          <a:prstGeom prst="rect">
            <a:avLst/>
          </a:prstGeom>
          <a:noFill/>
          <a:ln/>
        </p:spPr>
        <p:txBody>
          <a:bodyPr wrap="square" lIns="0" tIns="0" rIns="0" bIns="0" rtlCol="0" anchor="ctr"/>
          <a:lstStyle/>
          <a:p>
            <a:pPr indent="0" marL="0">
              <a:lnSpc>
                <a:spcPts val="1800"/>
              </a:lnSpc>
              <a:buNone/>
            </a:pPr>
            <a:r>
              <a:rPr lang="en-US" sz="1300" i="1" dirty="0">
                <a:solidFill>
                  <a:srgbClr val="0F6B3C"/>
                </a:solidFill>
                <a:latin typeface="Calibri" pitchFamily="34" charset="0"/>
                <a:ea typeface="Calibri" pitchFamily="34" charset="-122"/>
                <a:cs typeface="Calibri" pitchFamily="34" charset="-120"/>
              </a:rPr>
              <a:t>Always compare against a baseline. For regression, "always predict the mean yield" is the baseline; for classification, "always predict the most common class". A model that cannot beat that is not a model — it is a very expensive average.</a:t>
            </a:r>
            <a:endParaRPr lang="en-US" sz="1300" dirty="0"/>
          </a:p>
        </p:txBody>
      </p:sp>
      <p:sp>
        <p:nvSpPr>
          <p:cNvPr id="25" name="Text 22"/>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6" name="Text 23"/>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43</a:t>
            </a:r>
            <a:endParaRPr lang="en-US" sz="900" dirty="0"/>
          </a:p>
        </p:txBody>
      </p:sp>
      <p:pic>
        <p:nvPicPr>
          <p:cNvPr id="27" name="Picture 26"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EVERYTHING RUNS FREE, IN A BROWSER</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The Toolkit You Will Use</a:t>
            </a:r>
            <a:endParaRPr lang="en-US" sz="3000" dirty="0"/>
          </a:p>
        </p:txBody>
      </p:sp>
      <p:sp>
        <p:nvSpPr>
          <p:cNvPr id="4" name="Shape 2"/>
          <p:cNvSpPr/>
          <p:nvPr/>
        </p:nvSpPr>
        <p:spPr>
          <a:xfrm>
            <a:off x="548640" y="1572768"/>
            <a:ext cx="17830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1161288" y="1783080"/>
            <a:ext cx="548640" cy="548640"/>
          </a:xfrm>
          <a:prstGeom prst="ellipse">
            <a:avLst/>
          </a:prstGeom>
          <a:solidFill>
            <a:srgbClr val="0F6B3C"/>
          </a:solidFill>
          <a:ln w="12700">
            <a:solidFill>
              <a:srgbClr val="0F6B3C"/>
            </a:solidFill>
            <a:prstDash val="solid"/>
          </a:ln>
        </p:spPr>
      </p:sp>
      <p:pic>
        <p:nvPicPr>
          <p:cNvPr id="6" name="Image 0" descr="preencoded.png">    </p:cNvPr>
          <p:cNvPicPr>
            <a:picLocks noChangeAspect="1"/>
          </p:cNvPicPr>
          <p:nvPr/>
        </p:nvPicPr>
        <p:blipFill>
          <a:blip r:embed="rId1"/>
          <a:stretch>
            <a:fillRect/>
          </a:stretch>
        </p:blipFill>
        <p:spPr>
          <a:xfrm>
            <a:off x="1276502" y="1898294"/>
            <a:ext cx="318211" cy="318211"/>
          </a:xfrm>
          <a:prstGeom prst="rect">
            <a:avLst/>
          </a:prstGeom>
        </p:spPr>
      </p:pic>
      <p:sp>
        <p:nvSpPr>
          <p:cNvPr id="7" name="Text 4"/>
          <p:cNvSpPr txBox="1"/>
          <p:nvPr/>
        </p:nvSpPr>
        <p:spPr>
          <a:xfrm>
            <a:off x="640080" y="2404872"/>
            <a:ext cx="1600200" cy="27432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Python</a:t>
            </a:r>
            <a:endParaRPr lang="en-US" sz="1250" dirty="0"/>
          </a:p>
        </p:txBody>
      </p:sp>
      <p:sp>
        <p:nvSpPr>
          <p:cNvPr id="8" name="Text 5"/>
          <p:cNvSpPr txBox="1"/>
          <p:nvPr/>
        </p:nvSpPr>
        <p:spPr>
          <a:xfrm>
            <a:off x="640080" y="2679192"/>
            <a:ext cx="1618488" cy="502920"/>
          </a:xfrm>
          <a:prstGeom prst="rect">
            <a:avLst/>
          </a:prstGeom>
          <a:noFill/>
          <a:ln/>
        </p:spPr>
        <p:txBody>
          <a:bodyPr wrap="square" lIns="0" tIns="0" rIns="0" bIns="0" rtlCol="0" anchor="ctr"/>
          <a:lstStyle/>
          <a:p>
            <a:pPr algn="ctr" indent="0" marL="0">
              <a:lnSpc>
                <a:spcPts val="1300"/>
              </a:lnSpc>
              <a:buNone/>
            </a:pPr>
            <a:r>
              <a:rPr lang="en-US" sz="1000" dirty="0">
                <a:solidFill>
                  <a:srgbClr val="5C6B60"/>
                </a:solidFill>
                <a:latin typeface="Calibri" pitchFamily="34" charset="0"/>
                <a:ea typeface="Calibri" pitchFamily="34" charset="-122"/>
                <a:cs typeface="Calibri" pitchFamily="34" charset="-120"/>
              </a:rPr>
              <a:t>The lingua franca of ML</a:t>
            </a:r>
            <a:endParaRPr lang="en-US" sz="1000" dirty="0"/>
          </a:p>
        </p:txBody>
      </p:sp>
      <p:sp>
        <p:nvSpPr>
          <p:cNvPr id="9" name="Shape 6"/>
          <p:cNvSpPr/>
          <p:nvPr/>
        </p:nvSpPr>
        <p:spPr>
          <a:xfrm>
            <a:off x="2395728" y="1572768"/>
            <a:ext cx="17830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3008376" y="1783080"/>
            <a:ext cx="548640" cy="548640"/>
          </a:xfrm>
          <a:prstGeom prst="ellipse">
            <a:avLst/>
          </a:prstGeom>
          <a:solidFill>
            <a:srgbClr val="0F6B3C"/>
          </a:solidFill>
          <a:ln w="12700">
            <a:solidFill>
              <a:srgbClr val="0F6B3C"/>
            </a:solidFill>
            <a:prstDash val="solid"/>
          </a:ln>
        </p:spPr>
      </p:sp>
      <p:pic>
        <p:nvPicPr>
          <p:cNvPr id="11" name="Image 1" descr="preencoded.png">    </p:cNvPr>
          <p:cNvPicPr>
            <a:picLocks noChangeAspect="1"/>
          </p:cNvPicPr>
          <p:nvPr/>
        </p:nvPicPr>
        <p:blipFill>
          <a:blip r:embed="rId2"/>
          <a:stretch>
            <a:fillRect/>
          </a:stretch>
        </p:blipFill>
        <p:spPr>
          <a:xfrm>
            <a:off x="3123590" y="1898294"/>
            <a:ext cx="318211" cy="318211"/>
          </a:xfrm>
          <a:prstGeom prst="rect">
            <a:avLst/>
          </a:prstGeom>
        </p:spPr>
      </p:pic>
      <p:sp>
        <p:nvSpPr>
          <p:cNvPr id="12" name="Text 8"/>
          <p:cNvSpPr txBox="1"/>
          <p:nvPr/>
        </p:nvSpPr>
        <p:spPr>
          <a:xfrm>
            <a:off x="2487168" y="2404872"/>
            <a:ext cx="1600200" cy="27432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pandas</a:t>
            </a:r>
            <a:endParaRPr lang="en-US" sz="1250" dirty="0"/>
          </a:p>
        </p:txBody>
      </p:sp>
      <p:sp>
        <p:nvSpPr>
          <p:cNvPr id="13" name="Text 9"/>
          <p:cNvSpPr txBox="1"/>
          <p:nvPr/>
        </p:nvSpPr>
        <p:spPr>
          <a:xfrm>
            <a:off x="2487168" y="2679192"/>
            <a:ext cx="1618488" cy="502920"/>
          </a:xfrm>
          <a:prstGeom prst="rect">
            <a:avLst/>
          </a:prstGeom>
          <a:noFill/>
          <a:ln/>
        </p:spPr>
        <p:txBody>
          <a:bodyPr wrap="square" lIns="0" tIns="0" rIns="0" bIns="0" rtlCol="0" anchor="ctr"/>
          <a:lstStyle/>
          <a:p>
            <a:pPr algn="ctr" indent="0" marL="0">
              <a:lnSpc>
                <a:spcPts val="1300"/>
              </a:lnSpc>
              <a:buNone/>
            </a:pPr>
            <a:r>
              <a:rPr lang="en-US" sz="1000" dirty="0">
                <a:solidFill>
                  <a:srgbClr val="5C6B60"/>
                </a:solidFill>
                <a:latin typeface="Calibri" pitchFamily="34" charset="0"/>
                <a:ea typeface="Calibri" pitchFamily="34" charset="-122"/>
                <a:cs typeface="Calibri" pitchFamily="34" charset="-120"/>
              </a:rPr>
              <a:t>Load and clean tabular data</a:t>
            </a:r>
            <a:endParaRPr lang="en-US" sz="1000" dirty="0"/>
          </a:p>
        </p:txBody>
      </p:sp>
      <p:sp>
        <p:nvSpPr>
          <p:cNvPr id="14" name="Shape 10"/>
          <p:cNvSpPr/>
          <p:nvPr/>
        </p:nvSpPr>
        <p:spPr>
          <a:xfrm>
            <a:off x="4242816" y="1572768"/>
            <a:ext cx="17830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4855464" y="1783080"/>
            <a:ext cx="548640" cy="548640"/>
          </a:xfrm>
          <a:prstGeom prst="ellipse">
            <a:avLst/>
          </a:prstGeom>
          <a:solidFill>
            <a:srgbClr val="0F6B3C"/>
          </a:solidFill>
          <a:ln w="12700">
            <a:solidFill>
              <a:srgbClr val="0F6B3C"/>
            </a:solidFill>
            <a:prstDash val="solid"/>
          </a:ln>
        </p:spPr>
      </p:sp>
      <p:pic>
        <p:nvPicPr>
          <p:cNvPr id="16" name="Image 2" descr="preencoded.png">    </p:cNvPr>
          <p:cNvPicPr>
            <a:picLocks noChangeAspect="1"/>
          </p:cNvPicPr>
          <p:nvPr/>
        </p:nvPicPr>
        <p:blipFill>
          <a:blip r:embed="rId3"/>
          <a:stretch>
            <a:fillRect/>
          </a:stretch>
        </p:blipFill>
        <p:spPr>
          <a:xfrm>
            <a:off x="4970678" y="1898294"/>
            <a:ext cx="318211" cy="318211"/>
          </a:xfrm>
          <a:prstGeom prst="rect">
            <a:avLst/>
          </a:prstGeom>
        </p:spPr>
      </p:pic>
      <p:sp>
        <p:nvSpPr>
          <p:cNvPr id="17" name="Text 12"/>
          <p:cNvSpPr txBox="1"/>
          <p:nvPr/>
        </p:nvSpPr>
        <p:spPr>
          <a:xfrm>
            <a:off x="4334256" y="2404872"/>
            <a:ext cx="1600200" cy="27432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NumPy</a:t>
            </a:r>
            <a:endParaRPr lang="en-US" sz="1250" dirty="0"/>
          </a:p>
        </p:txBody>
      </p:sp>
      <p:sp>
        <p:nvSpPr>
          <p:cNvPr id="18" name="Text 13"/>
          <p:cNvSpPr txBox="1"/>
          <p:nvPr/>
        </p:nvSpPr>
        <p:spPr>
          <a:xfrm>
            <a:off x="4334256" y="2679192"/>
            <a:ext cx="1618488" cy="502920"/>
          </a:xfrm>
          <a:prstGeom prst="rect">
            <a:avLst/>
          </a:prstGeom>
          <a:noFill/>
          <a:ln/>
        </p:spPr>
        <p:txBody>
          <a:bodyPr wrap="square" lIns="0" tIns="0" rIns="0" bIns="0" rtlCol="0" anchor="ctr"/>
          <a:lstStyle/>
          <a:p>
            <a:pPr algn="ctr" indent="0" marL="0">
              <a:lnSpc>
                <a:spcPts val="1300"/>
              </a:lnSpc>
              <a:buNone/>
            </a:pPr>
            <a:r>
              <a:rPr lang="en-US" sz="1000" dirty="0">
                <a:solidFill>
                  <a:srgbClr val="5C6B60"/>
                </a:solidFill>
                <a:latin typeface="Calibri" pitchFamily="34" charset="0"/>
                <a:ea typeface="Calibri" pitchFamily="34" charset="-122"/>
                <a:cs typeface="Calibri" pitchFamily="34" charset="-120"/>
              </a:rPr>
              <a:t>Fast numerical arrays</a:t>
            </a:r>
            <a:endParaRPr lang="en-US" sz="1000" dirty="0"/>
          </a:p>
        </p:txBody>
      </p:sp>
      <p:sp>
        <p:nvSpPr>
          <p:cNvPr id="19" name="Shape 14"/>
          <p:cNvSpPr/>
          <p:nvPr/>
        </p:nvSpPr>
        <p:spPr>
          <a:xfrm>
            <a:off x="6089904" y="1572768"/>
            <a:ext cx="17830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5"/>
          <p:cNvSpPr/>
          <p:nvPr/>
        </p:nvSpPr>
        <p:spPr>
          <a:xfrm>
            <a:off x="6702552" y="1783080"/>
            <a:ext cx="548640" cy="548640"/>
          </a:xfrm>
          <a:prstGeom prst="ellipse">
            <a:avLst/>
          </a:prstGeom>
          <a:solidFill>
            <a:srgbClr val="0F6B3C"/>
          </a:solidFill>
          <a:ln w="12700">
            <a:solidFill>
              <a:srgbClr val="0F6B3C"/>
            </a:solidFill>
            <a:prstDash val="solid"/>
          </a:ln>
        </p:spPr>
      </p:sp>
      <p:pic>
        <p:nvPicPr>
          <p:cNvPr id="21" name="Image 3" descr="preencoded.png">    </p:cNvPr>
          <p:cNvPicPr>
            <a:picLocks noChangeAspect="1"/>
          </p:cNvPicPr>
          <p:nvPr/>
        </p:nvPicPr>
        <p:blipFill>
          <a:blip r:embed="rId4"/>
          <a:stretch>
            <a:fillRect/>
          </a:stretch>
        </p:blipFill>
        <p:spPr>
          <a:xfrm>
            <a:off x="6817766" y="1898294"/>
            <a:ext cx="318211" cy="318211"/>
          </a:xfrm>
          <a:prstGeom prst="rect">
            <a:avLst/>
          </a:prstGeom>
        </p:spPr>
      </p:pic>
      <p:sp>
        <p:nvSpPr>
          <p:cNvPr id="22" name="Text 16"/>
          <p:cNvSpPr txBox="1"/>
          <p:nvPr/>
        </p:nvSpPr>
        <p:spPr>
          <a:xfrm>
            <a:off x="6181344" y="2404872"/>
            <a:ext cx="1600200" cy="27432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Matplotlib</a:t>
            </a:r>
            <a:endParaRPr lang="en-US" sz="1250" dirty="0"/>
          </a:p>
        </p:txBody>
      </p:sp>
      <p:sp>
        <p:nvSpPr>
          <p:cNvPr id="23" name="Text 17"/>
          <p:cNvSpPr txBox="1"/>
          <p:nvPr/>
        </p:nvSpPr>
        <p:spPr>
          <a:xfrm>
            <a:off x="6181344" y="2679192"/>
            <a:ext cx="1618488" cy="502920"/>
          </a:xfrm>
          <a:prstGeom prst="rect">
            <a:avLst/>
          </a:prstGeom>
          <a:noFill/>
          <a:ln/>
        </p:spPr>
        <p:txBody>
          <a:bodyPr wrap="square" lIns="0" tIns="0" rIns="0" bIns="0" rtlCol="0" anchor="ctr"/>
          <a:lstStyle/>
          <a:p>
            <a:pPr algn="ctr" indent="0" marL="0">
              <a:lnSpc>
                <a:spcPts val="1300"/>
              </a:lnSpc>
              <a:buNone/>
            </a:pPr>
            <a:r>
              <a:rPr lang="en-US" sz="1000" dirty="0">
                <a:solidFill>
                  <a:srgbClr val="5C6B60"/>
                </a:solidFill>
                <a:latin typeface="Calibri" pitchFamily="34" charset="0"/>
                <a:ea typeface="Calibri" pitchFamily="34" charset="-122"/>
                <a:cs typeface="Calibri" pitchFamily="34" charset="-120"/>
              </a:rPr>
              <a:t>Plots and diagnostics</a:t>
            </a:r>
            <a:endParaRPr lang="en-US" sz="1000" dirty="0"/>
          </a:p>
        </p:txBody>
      </p:sp>
      <p:sp>
        <p:nvSpPr>
          <p:cNvPr id="24" name="Shape 18"/>
          <p:cNvSpPr/>
          <p:nvPr/>
        </p:nvSpPr>
        <p:spPr>
          <a:xfrm>
            <a:off x="7936992" y="1572768"/>
            <a:ext cx="17830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19"/>
          <p:cNvSpPr/>
          <p:nvPr/>
        </p:nvSpPr>
        <p:spPr>
          <a:xfrm>
            <a:off x="8549640" y="1783080"/>
            <a:ext cx="548640" cy="548640"/>
          </a:xfrm>
          <a:prstGeom prst="ellipse">
            <a:avLst/>
          </a:prstGeom>
          <a:solidFill>
            <a:srgbClr val="0F6B3C"/>
          </a:solidFill>
          <a:ln w="12700">
            <a:solidFill>
              <a:srgbClr val="0F6B3C"/>
            </a:solidFill>
            <a:prstDash val="solid"/>
          </a:ln>
        </p:spPr>
      </p:sp>
      <p:pic>
        <p:nvPicPr>
          <p:cNvPr id="26" name="Image 4" descr="preencoded.png">    </p:cNvPr>
          <p:cNvPicPr>
            <a:picLocks noChangeAspect="1"/>
          </p:cNvPicPr>
          <p:nvPr/>
        </p:nvPicPr>
        <p:blipFill>
          <a:blip r:embed="rId5"/>
          <a:stretch>
            <a:fillRect/>
          </a:stretch>
        </p:blipFill>
        <p:spPr>
          <a:xfrm>
            <a:off x="8664854" y="1898294"/>
            <a:ext cx="318211" cy="318211"/>
          </a:xfrm>
          <a:prstGeom prst="rect">
            <a:avLst/>
          </a:prstGeom>
        </p:spPr>
      </p:pic>
      <p:sp>
        <p:nvSpPr>
          <p:cNvPr id="27" name="Text 20"/>
          <p:cNvSpPr txBox="1"/>
          <p:nvPr/>
        </p:nvSpPr>
        <p:spPr>
          <a:xfrm>
            <a:off x="8028432" y="2404872"/>
            <a:ext cx="1600200" cy="27432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scikit-learn</a:t>
            </a:r>
            <a:endParaRPr lang="en-US" sz="1250" dirty="0"/>
          </a:p>
        </p:txBody>
      </p:sp>
      <p:sp>
        <p:nvSpPr>
          <p:cNvPr id="28" name="Text 21"/>
          <p:cNvSpPr txBox="1"/>
          <p:nvPr/>
        </p:nvSpPr>
        <p:spPr>
          <a:xfrm>
            <a:off x="8028432" y="2679192"/>
            <a:ext cx="1618488" cy="502920"/>
          </a:xfrm>
          <a:prstGeom prst="rect">
            <a:avLst/>
          </a:prstGeom>
          <a:noFill/>
          <a:ln/>
        </p:spPr>
        <p:txBody>
          <a:bodyPr wrap="square" lIns="0" tIns="0" rIns="0" bIns="0" rtlCol="0" anchor="ctr"/>
          <a:lstStyle/>
          <a:p>
            <a:pPr algn="ctr" indent="0" marL="0">
              <a:lnSpc>
                <a:spcPts val="1300"/>
              </a:lnSpc>
              <a:buNone/>
            </a:pPr>
            <a:r>
              <a:rPr lang="en-US" sz="1000" dirty="0">
                <a:solidFill>
                  <a:srgbClr val="5C6B60"/>
                </a:solidFill>
                <a:latin typeface="Calibri" pitchFamily="34" charset="0"/>
                <a:ea typeface="Calibri" pitchFamily="34" charset="-122"/>
                <a:cs typeface="Calibri" pitchFamily="34" charset="-120"/>
              </a:rPr>
              <a:t>Classical ML algorithms</a:t>
            </a:r>
            <a:endParaRPr lang="en-US" sz="1000" dirty="0"/>
          </a:p>
        </p:txBody>
      </p:sp>
      <p:sp>
        <p:nvSpPr>
          <p:cNvPr id="29" name="Shape 22"/>
          <p:cNvSpPr/>
          <p:nvPr/>
        </p:nvSpPr>
        <p:spPr>
          <a:xfrm>
            <a:off x="9784080" y="1572768"/>
            <a:ext cx="1783080" cy="1691640"/>
          </a:xfrm>
          <a:prstGeom prst="roundRect">
            <a:avLst>
              <a:gd name="adj" fmla="val 6486"/>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0" name="Shape 23"/>
          <p:cNvSpPr/>
          <p:nvPr/>
        </p:nvSpPr>
        <p:spPr>
          <a:xfrm>
            <a:off x="10396728" y="1783080"/>
            <a:ext cx="548640" cy="548640"/>
          </a:xfrm>
          <a:prstGeom prst="ellipse">
            <a:avLst/>
          </a:prstGeom>
          <a:solidFill>
            <a:srgbClr val="0F6B3C"/>
          </a:solidFill>
          <a:ln w="12700">
            <a:solidFill>
              <a:srgbClr val="0F6B3C"/>
            </a:solidFill>
            <a:prstDash val="solid"/>
          </a:ln>
        </p:spPr>
      </p:sp>
      <p:pic>
        <p:nvPicPr>
          <p:cNvPr id="31" name="Image 5" descr="preencoded.png">    </p:cNvPr>
          <p:cNvPicPr>
            <a:picLocks noChangeAspect="1"/>
          </p:cNvPicPr>
          <p:nvPr/>
        </p:nvPicPr>
        <p:blipFill>
          <a:blip r:embed="rId6"/>
          <a:stretch>
            <a:fillRect/>
          </a:stretch>
        </p:blipFill>
        <p:spPr>
          <a:xfrm>
            <a:off x="10511942" y="1898294"/>
            <a:ext cx="318211" cy="318211"/>
          </a:xfrm>
          <a:prstGeom prst="rect">
            <a:avLst/>
          </a:prstGeom>
        </p:spPr>
      </p:pic>
      <p:sp>
        <p:nvSpPr>
          <p:cNvPr id="32" name="Text 24"/>
          <p:cNvSpPr txBox="1"/>
          <p:nvPr/>
        </p:nvSpPr>
        <p:spPr>
          <a:xfrm>
            <a:off x="9875520" y="2404872"/>
            <a:ext cx="1600200" cy="274320"/>
          </a:xfrm>
          <a:prstGeom prst="rect">
            <a:avLst/>
          </a:prstGeom>
          <a:noFill/>
          <a:ln/>
        </p:spPr>
        <p:txBody>
          <a:bodyPr wrap="square" lIns="0" tIns="0" rIns="0" bIns="0" rtlCol="0" anchor="ctr"/>
          <a:lstStyle/>
          <a:p>
            <a:pPr algn="ctr" indent="0" marL="0">
              <a:buNone/>
            </a:pPr>
            <a:r>
              <a:rPr lang="en-US" sz="1250" b="1" dirty="0">
                <a:solidFill>
                  <a:srgbClr val="0F6B3C"/>
                </a:solidFill>
                <a:latin typeface="Calibri" pitchFamily="34" charset="0"/>
                <a:ea typeface="Calibri" pitchFamily="34" charset="-122"/>
                <a:cs typeface="Calibri" pitchFamily="34" charset="-120"/>
              </a:rPr>
              <a:t>Google Colab</a:t>
            </a:r>
            <a:endParaRPr lang="en-US" sz="1250" dirty="0"/>
          </a:p>
        </p:txBody>
      </p:sp>
      <p:sp>
        <p:nvSpPr>
          <p:cNvPr id="33" name="Text 25"/>
          <p:cNvSpPr txBox="1"/>
          <p:nvPr/>
        </p:nvSpPr>
        <p:spPr>
          <a:xfrm>
            <a:off x="9875520" y="2679192"/>
            <a:ext cx="1618488" cy="502920"/>
          </a:xfrm>
          <a:prstGeom prst="rect">
            <a:avLst/>
          </a:prstGeom>
          <a:noFill/>
          <a:ln/>
        </p:spPr>
        <p:txBody>
          <a:bodyPr wrap="square" lIns="0" tIns="0" rIns="0" bIns="0" rtlCol="0" anchor="ctr"/>
          <a:lstStyle/>
          <a:p>
            <a:pPr algn="ctr" indent="0" marL="0">
              <a:lnSpc>
                <a:spcPts val="1300"/>
              </a:lnSpc>
              <a:buNone/>
            </a:pPr>
            <a:r>
              <a:rPr lang="en-US" sz="1000" dirty="0">
                <a:solidFill>
                  <a:srgbClr val="5C6B60"/>
                </a:solidFill>
                <a:latin typeface="Calibri" pitchFamily="34" charset="0"/>
                <a:ea typeface="Calibri" pitchFamily="34" charset="-122"/>
                <a:cs typeface="Calibri" pitchFamily="34" charset="-120"/>
              </a:rPr>
              <a:t>Free notebooks with a GPU</a:t>
            </a:r>
            <a:endParaRPr lang="en-US" sz="1000" dirty="0"/>
          </a:p>
        </p:txBody>
      </p:sp>
      <p:sp>
        <p:nvSpPr>
          <p:cNvPr id="34" name="Shape 26"/>
          <p:cNvSpPr/>
          <p:nvPr/>
        </p:nvSpPr>
        <p:spPr>
          <a:xfrm>
            <a:off x="548640" y="3520440"/>
            <a:ext cx="6949440" cy="2606040"/>
          </a:xfrm>
          <a:prstGeom prst="roundRect">
            <a:avLst>
              <a:gd name="adj" fmla="val 4211"/>
            </a:avLst>
          </a:prstGeom>
          <a:solidFill>
            <a:srgbClr val="0B2A19"/>
          </a:solidFill>
          <a:ln w="12700">
            <a:solidFill>
              <a:srgbClr val="333333"/>
            </a:solidFill>
            <a:prstDash val="solid"/>
          </a:ln>
        </p:spPr>
      </p:sp>
      <p:sp>
        <p:nvSpPr>
          <p:cNvPr id="35" name="Text 27"/>
          <p:cNvSpPr txBox="1"/>
          <p:nvPr/>
        </p:nvSpPr>
        <p:spPr>
          <a:xfrm>
            <a:off x="868680" y="3657600"/>
            <a:ext cx="6309360" cy="292608"/>
          </a:xfrm>
          <a:prstGeom prst="rect">
            <a:avLst/>
          </a:prstGeom>
          <a:noFill/>
          <a:ln/>
        </p:spPr>
        <p:txBody>
          <a:bodyPr wrap="square" lIns="0" tIns="0" rIns="0" bIns="0" rtlCol="0" anchor="ctr"/>
          <a:lstStyle/>
          <a:p>
            <a:pPr indent="0" marL="0">
              <a:buNone/>
            </a:pPr>
            <a:r>
              <a:rPr lang="en-US" sz="1150" b="1" spc="120" kern="0" dirty="0">
                <a:solidFill>
                  <a:srgbClr val="C9A227"/>
                </a:solidFill>
                <a:latin typeface="Calibri" pitchFamily="34" charset="0"/>
                <a:ea typeface="Calibri" pitchFamily="34" charset="-122"/>
                <a:cs typeface="Calibri" pitchFamily="34" charset="-120"/>
              </a:rPr>
              <a:t>Everything from today, in eleven lines</a:t>
            </a:r>
            <a:endParaRPr lang="en-US" sz="1150" dirty="0"/>
          </a:p>
        </p:txBody>
      </p:sp>
      <p:sp>
        <p:nvSpPr>
          <p:cNvPr id="36" name="Text 28"/>
          <p:cNvSpPr txBox="1"/>
          <p:nvPr/>
        </p:nvSpPr>
        <p:spPr>
          <a:xfrm>
            <a:off x="868680" y="3977640"/>
            <a:ext cx="6355080" cy="2011680"/>
          </a:xfrm>
          <a:prstGeom prst="rect">
            <a:avLst/>
          </a:prstGeom>
          <a:noFill/>
          <a:ln/>
        </p:spPr>
        <p:txBody>
          <a:bodyPr wrap="square" lIns="0" tIns="0" rIns="0" bIns="0" rtlCol="0" anchor="ctr"/>
          <a:lstStyle/>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from sklearn.model_selection import train_test_split</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from sklearn.preprocessing import StandardScaler</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from sklearn.neighbors import KNeighborsClassifier</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from sklearn.metrics import classification_report</a:t>
            </a:r>
            <a:endParaRPr lang="en-US" sz="1050" dirty="0"/>
          </a:p>
          <a:p>
            <a:pPr indent="0" marL="0">
              <a:lnSpc>
                <a:spcPts val="1350"/>
              </a:lnSpc>
              <a:buNone/>
            </a:pP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X_tr, X_te, y_tr, y_te = train_test_split(</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        X, y, test_size=0.2, stratify=y, random_state=42)</a:t>
            </a:r>
            <a:endParaRPr lang="en-US" sz="1050" dirty="0"/>
          </a:p>
          <a:p>
            <a:pPr indent="0" marL="0">
              <a:lnSpc>
                <a:spcPts val="1350"/>
              </a:lnSpc>
              <a:buNone/>
            </a:pP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sc = StandardScaler().fit(X_tr)</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model = KNeighborsClassifier(n_neighbors=3)</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model.fit(sc.transform(X_tr), y_tr)</a:t>
            </a:r>
            <a:endParaRPr lang="en-US" sz="1050" dirty="0"/>
          </a:p>
          <a:p>
            <a:pPr indent="0" marL="0">
              <a:lnSpc>
                <a:spcPts val="1350"/>
              </a:lnSpc>
              <a:buNone/>
            </a:pPr>
            <a:r>
              <a:rPr lang="en-US" sz="1050" dirty="0">
                <a:solidFill>
                  <a:srgbClr val="DDEEDF"/>
                </a:solidFill>
                <a:latin typeface="Courier New" pitchFamily="34" charset="0"/>
                <a:ea typeface="Courier New" pitchFamily="34" charset="-122"/>
                <a:cs typeface="Courier New" pitchFamily="34" charset="-120"/>
              </a:rPr>
              <a:t>print(classification_report(y_te, model.predict(sc.transform(X_te))))</a:t>
            </a:r>
            <a:endParaRPr lang="en-US" sz="1050" dirty="0"/>
          </a:p>
        </p:txBody>
      </p:sp>
      <p:sp>
        <p:nvSpPr>
          <p:cNvPr id="37" name="Shape 29"/>
          <p:cNvSpPr/>
          <p:nvPr/>
        </p:nvSpPr>
        <p:spPr>
          <a:xfrm>
            <a:off x="7772400" y="3520440"/>
            <a:ext cx="3840480" cy="2606040"/>
          </a:xfrm>
          <a:prstGeom prst="roundRect">
            <a:avLst>
              <a:gd name="adj" fmla="val 4211"/>
            </a:avLst>
          </a:prstGeom>
          <a:solidFill>
            <a:srgbClr val="FBF3DC"/>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8" name="Text 30"/>
          <p:cNvSpPr txBox="1"/>
          <p:nvPr/>
        </p:nvSpPr>
        <p:spPr>
          <a:xfrm>
            <a:off x="8092440" y="3703320"/>
            <a:ext cx="3291840" cy="32004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Find the ideas from today</a:t>
            </a:r>
            <a:endParaRPr lang="en-US" sz="1600" dirty="0"/>
          </a:p>
        </p:txBody>
      </p:sp>
      <p:sp>
        <p:nvSpPr>
          <p:cNvPr id="39" name="Text 31"/>
          <p:cNvSpPr txBox="1"/>
          <p:nvPr/>
        </p:nvSpPr>
        <p:spPr>
          <a:xfrm>
            <a:off x="8092440" y="4096512"/>
            <a:ext cx="3291840" cy="18288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B2A20"/>
                </a:solidFill>
                <a:latin typeface="Calibri" pitchFamily="34" charset="0"/>
                <a:ea typeface="Calibri" pitchFamily="34" charset="-122"/>
                <a:cs typeface="Calibri" pitchFamily="34" charset="-120"/>
              </a:rPr>
              <a:t>train_test_split → the golden rule</a:t>
            </a:r>
            <a:endParaRPr lang="en-US" sz="1150" dirty="0"/>
          </a:p>
          <a:p>
            <a:pPr marL="342900" indent="-342900">
              <a:spcAft>
                <a:spcPts val="800"/>
              </a:spcAft>
              <a:buSzPct val="100000"/>
              <a:buChar char="•"/>
            </a:pPr>
            <a:r>
              <a:rPr lang="en-US" sz="1150" dirty="0">
                <a:solidFill>
                  <a:srgbClr val="1B2A20"/>
                </a:solidFill>
                <a:latin typeface="Calibri" pitchFamily="34" charset="0"/>
                <a:ea typeface="Calibri" pitchFamily="34" charset="-122"/>
                <a:cs typeface="Calibri" pitchFamily="34" charset="-120"/>
              </a:rPr>
              <a:t>stratify=y → imbalance handled</a:t>
            </a:r>
            <a:endParaRPr lang="en-US" sz="1150" dirty="0"/>
          </a:p>
          <a:p>
            <a:pPr marL="342900" indent="-342900">
              <a:spcAft>
                <a:spcPts val="800"/>
              </a:spcAft>
              <a:buSzPct val="100000"/>
              <a:buChar char="•"/>
            </a:pPr>
            <a:r>
              <a:rPr lang="en-US" sz="1150" dirty="0">
                <a:solidFill>
                  <a:srgbClr val="1B2A20"/>
                </a:solidFill>
                <a:latin typeface="Calibri" pitchFamily="34" charset="0"/>
                <a:ea typeface="Calibri" pitchFamily="34" charset="-122"/>
                <a:cs typeface="Calibri" pitchFamily="34" charset="-120"/>
              </a:rPr>
              <a:t>StandardScaler → the scaling fix</a:t>
            </a:r>
            <a:endParaRPr lang="en-US" sz="1150" dirty="0"/>
          </a:p>
          <a:p>
            <a:pPr marL="342900" indent="-342900">
              <a:spcAft>
                <a:spcPts val="800"/>
              </a:spcAft>
              <a:buSzPct val="100000"/>
              <a:buChar char="•"/>
            </a:pPr>
            <a:r>
              <a:rPr lang="en-US" sz="1150" dirty="0">
                <a:solidFill>
                  <a:srgbClr val="1B2A20"/>
                </a:solidFill>
                <a:latin typeface="Calibri" pitchFamily="34" charset="0"/>
                <a:ea typeface="Calibri" pitchFamily="34" charset="-122"/>
                <a:cs typeface="Calibri" pitchFamily="34" charset="-120"/>
              </a:rPr>
              <a:t>n_neighbors=3 → the hyperparameter k</a:t>
            </a:r>
            <a:endParaRPr lang="en-US" sz="1150" dirty="0"/>
          </a:p>
          <a:p>
            <a:pPr marL="342900" indent="-342900">
              <a:spcAft>
                <a:spcPts val="800"/>
              </a:spcAft>
              <a:buSzPct val="100000"/>
              <a:buChar char="•"/>
            </a:pPr>
            <a:r>
              <a:rPr lang="en-US" sz="1150" dirty="0">
                <a:solidFill>
                  <a:srgbClr val="1B2A20"/>
                </a:solidFill>
                <a:latin typeface="Calibri" pitchFamily="34" charset="0"/>
                <a:ea typeface="Calibri" pitchFamily="34" charset="-122"/>
                <a:cs typeface="Calibri" pitchFamily="34" charset="-120"/>
              </a:rPr>
              <a:t>classification_report → precision, recall, F1</a:t>
            </a:r>
            <a:endParaRPr lang="en-US" sz="1150" dirty="0"/>
          </a:p>
        </p:txBody>
      </p:sp>
      <p:sp>
        <p:nvSpPr>
          <p:cNvPr id="41" name="Text 32"/>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42" name="Text 33"/>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44</a:t>
            </a:r>
            <a:endParaRPr lang="en-US" sz="900" dirty="0"/>
          </a:p>
        </p:txBody>
      </p:sp>
      <p:pic>
        <p:nvPicPr>
          <p:cNvPr id="43" name="Picture 42" descr="must_logo.png"/>
          <p:cNvPicPr>
            <a:picLocks noChangeAspect="1"/>
          </p:cNvPicPr>
          <p:nvPr/>
        </p:nvPicPr>
        <p:blipFill>
          <a:blip r:embed="rId9"/>
          <a:stretch>
            <a:fillRect/>
          </a:stretch>
        </p:blipFill>
        <p:spPr>
          <a:xfrm>
            <a:off x="11016642" y="274320"/>
            <a:ext cx="699565" cy="65836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NOT AN ADD-ON — PART OF THE ENGINEERING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Building It Responsibly</a:t>
            </a:r>
            <a:endParaRPr lang="en-US" sz="3000" dirty="0"/>
          </a:p>
        </p:txBody>
      </p:sp>
      <p:sp>
        <p:nvSpPr>
          <p:cNvPr id="4" name="Shape 2"/>
          <p:cNvSpPr/>
          <p:nvPr/>
        </p:nvSpPr>
        <p:spPr>
          <a:xfrm>
            <a:off x="548640" y="1600200"/>
            <a:ext cx="5394960" cy="2011680"/>
          </a:xfrm>
          <a:prstGeom prst="roundRect">
            <a:avLst>
              <a:gd name="adj" fmla="val 545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41248" y="1837944"/>
            <a:ext cx="548640" cy="548640"/>
          </a:xfrm>
          <a:prstGeom prst="ellipse">
            <a:avLst/>
          </a:prstGeom>
          <a:solidFill>
            <a:srgbClr val="0E7C61"/>
          </a:solidFill>
          <a:ln w="12700">
            <a:solidFill>
              <a:srgbClr val="0E7C61"/>
            </a:solidFill>
            <a:prstDash val="solid"/>
          </a:ln>
        </p:spPr>
      </p:sp>
      <p:pic>
        <p:nvPicPr>
          <p:cNvPr id="6" name="Image 0" descr="preencoded.png">    </p:cNvPr>
          <p:cNvPicPr>
            <a:picLocks noChangeAspect="1"/>
          </p:cNvPicPr>
          <p:nvPr/>
        </p:nvPicPr>
        <p:blipFill>
          <a:blip r:embed="rId1"/>
          <a:stretch>
            <a:fillRect/>
          </a:stretch>
        </p:blipFill>
        <p:spPr>
          <a:xfrm>
            <a:off x="956462" y="1953158"/>
            <a:ext cx="318211" cy="318211"/>
          </a:xfrm>
          <a:prstGeom prst="rect">
            <a:avLst/>
          </a:prstGeom>
        </p:spPr>
      </p:pic>
      <p:sp>
        <p:nvSpPr>
          <p:cNvPr id="7" name="Text 4"/>
          <p:cNvSpPr txBox="1"/>
          <p:nvPr/>
        </p:nvSpPr>
        <p:spPr>
          <a:xfrm>
            <a:off x="1554480" y="1874520"/>
            <a:ext cx="4114800" cy="36576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Bias in, bias out</a:t>
            </a:r>
            <a:endParaRPr lang="en-US" sz="1600" dirty="0"/>
          </a:p>
        </p:txBody>
      </p:sp>
      <p:sp>
        <p:nvSpPr>
          <p:cNvPr id="8" name="Text 5"/>
          <p:cNvSpPr txBox="1"/>
          <p:nvPr/>
        </p:nvSpPr>
        <p:spPr>
          <a:xfrm>
            <a:off x="841248" y="2496312"/>
            <a:ext cx="4846320" cy="10058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A model trained mostly on Nairobi borrowers will underserve applicants in Meru or Turkana. Test performance separately by county, gender and age — an aggregate score can hide systematic harm.</a:t>
            </a:r>
            <a:endParaRPr lang="en-US" sz="1200" dirty="0"/>
          </a:p>
        </p:txBody>
      </p:sp>
      <p:sp>
        <p:nvSpPr>
          <p:cNvPr id="9" name="Shape 6"/>
          <p:cNvSpPr/>
          <p:nvPr/>
        </p:nvSpPr>
        <p:spPr>
          <a:xfrm>
            <a:off x="6217920" y="1600200"/>
            <a:ext cx="5394960" cy="2011680"/>
          </a:xfrm>
          <a:prstGeom prst="roundRect">
            <a:avLst>
              <a:gd name="adj" fmla="val 545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7"/>
          <p:cNvSpPr/>
          <p:nvPr/>
        </p:nvSpPr>
        <p:spPr>
          <a:xfrm>
            <a:off x="6510528" y="1837944"/>
            <a:ext cx="548640" cy="548640"/>
          </a:xfrm>
          <a:prstGeom prst="ellipse">
            <a:avLst/>
          </a:prstGeom>
          <a:solidFill>
            <a:srgbClr val="0E7C61"/>
          </a:solidFill>
          <a:ln w="12700">
            <a:solidFill>
              <a:srgbClr val="0E7C61"/>
            </a:solidFill>
            <a:prstDash val="solid"/>
          </a:ln>
        </p:spPr>
      </p:sp>
      <p:pic>
        <p:nvPicPr>
          <p:cNvPr id="11" name="Image 1" descr="preencoded.png">    </p:cNvPr>
          <p:cNvPicPr>
            <a:picLocks noChangeAspect="1"/>
          </p:cNvPicPr>
          <p:nvPr/>
        </p:nvPicPr>
        <p:blipFill>
          <a:blip r:embed="rId2"/>
          <a:stretch>
            <a:fillRect/>
          </a:stretch>
        </p:blipFill>
        <p:spPr>
          <a:xfrm>
            <a:off x="6625742" y="1953158"/>
            <a:ext cx="318211" cy="318211"/>
          </a:xfrm>
          <a:prstGeom prst="rect">
            <a:avLst/>
          </a:prstGeom>
        </p:spPr>
      </p:pic>
      <p:sp>
        <p:nvSpPr>
          <p:cNvPr id="12" name="Text 8"/>
          <p:cNvSpPr txBox="1"/>
          <p:nvPr/>
        </p:nvSpPr>
        <p:spPr>
          <a:xfrm>
            <a:off x="7223760" y="1874520"/>
            <a:ext cx="4114800" cy="36576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Data protection is law here</a:t>
            </a:r>
            <a:endParaRPr lang="en-US" sz="1600" dirty="0"/>
          </a:p>
        </p:txBody>
      </p:sp>
      <p:sp>
        <p:nvSpPr>
          <p:cNvPr id="13" name="Text 9"/>
          <p:cNvSpPr txBox="1"/>
          <p:nvPr/>
        </p:nvSpPr>
        <p:spPr>
          <a:xfrm>
            <a:off x="6510528" y="2496312"/>
            <a:ext cx="4846320" cy="10058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Kenya's Data Protection Act (2019) and the ODPC set rules on consent, purpose limitation and data-subject rights. "I scraped it" is not a lawful basis.</a:t>
            </a:r>
            <a:endParaRPr lang="en-US" sz="1200" dirty="0"/>
          </a:p>
        </p:txBody>
      </p:sp>
      <p:sp>
        <p:nvSpPr>
          <p:cNvPr id="14" name="Shape 10"/>
          <p:cNvSpPr/>
          <p:nvPr/>
        </p:nvSpPr>
        <p:spPr>
          <a:xfrm>
            <a:off x="548640" y="3794760"/>
            <a:ext cx="5394960" cy="2011680"/>
          </a:xfrm>
          <a:prstGeom prst="roundRect">
            <a:avLst>
              <a:gd name="adj" fmla="val 545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1"/>
          <p:cNvSpPr/>
          <p:nvPr/>
        </p:nvSpPr>
        <p:spPr>
          <a:xfrm>
            <a:off x="841248" y="4032504"/>
            <a:ext cx="548640" cy="548640"/>
          </a:xfrm>
          <a:prstGeom prst="ellipse">
            <a:avLst/>
          </a:prstGeom>
          <a:solidFill>
            <a:srgbClr val="0E7C61"/>
          </a:solidFill>
          <a:ln w="12700">
            <a:solidFill>
              <a:srgbClr val="0E7C61"/>
            </a:solidFill>
            <a:prstDash val="solid"/>
          </a:ln>
        </p:spPr>
      </p:sp>
      <p:pic>
        <p:nvPicPr>
          <p:cNvPr id="16" name="Image 2" descr="preencoded.png">    </p:cNvPr>
          <p:cNvPicPr>
            <a:picLocks noChangeAspect="1"/>
          </p:cNvPicPr>
          <p:nvPr/>
        </p:nvPicPr>
        <p:blipFill>
          <a:blip r:embed="rId3"/>
          <a:stretch>
            <a:fillRect/>
          </a:stretch>
        </p:blipFill>
        <p:spPr>
          <a:xfrm>
            <a:off x="956462" y="4147718"/>
            <a:ext cx="318211" cy="318211"/>
          </a:xfrm>
          <a:prstGeom prst="rect">
            <a:avLst/>
          </a:prstGeom>
        </p:spPr>
      </p:pic>
      <p:sp>
        <p:nvSpPr>
          <p:cNvPr id="17" name="Text 12"/>
          <p:cNvSpPr txBox="1"/>
          <p:nvPr/>
        </p:nvSpPr>
        <p:spPr>
          <a:xfrm>
            <a:off x="1554480" y="4069080"/>
            <a:ext cx="4114800" cy="36576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Explainability where it counts</a:t>
            </a:r>
            <a:endParaRPr lang="en-US" sz="1600" dirty="0"/>
          </a:p>
        </p:txBody>
      </p:sp>
      <p:sp>
        <p:nvSpPr>
          <p:cNvPr id="18" name="Text 13"/>
          <p:cNvSpPr txBox="1"/>
          <p:nvPr/>
        </p:nvSpPr>
        <p:spPr>
          <a:xfrm>
            <a:off x="841248" y="4690872"/>
            <a:ext cx="4846320" cy="10058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If a model denies someone a loan, a place or a treatment, that person is entitled to a reason. Sometimes a slightly weaker, interpretable model is the right professional choice.</a:t>
            </a:r>
            <a:endParaRPr lang="en-US" sz="1200" dirty="0"/>
          </a:p>
        </p:txBody>
      </p:sp>
      <p:sp>
        <p:nvSpPr>
          <p:cNvPr id="19" name="Shape 14"/>
          <p:cNvSpPr/>
          <p:nvPr/>
        </p:nvSpPr>
        <p:spPr>
          <a:xfrm>
            <a:off x="6217920" y="3794760"/>
            <a:ext cx="5394960" cy="2011680"/>
          </a:xfrm>
          <a:prstGeom prst="roundRect">
            <a:avLst>
              <a:gd name="adj" fmla="val 545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5"/>
          <p:cNvSpPr/>
          <p:nvPr/>
        </p:nvSpPr>
        <p:spPr>
          <a:xfrm>
            <a:off x="6510528" y="4032504"/>
            <a:ext cx="548640" cy="548640"/>
          </a:xfrm>
          <a:prstGeom prst="ellipse">
            <a:avLst/>
          </a:prstGeom>
          <a:solidFill>
            <a:srgbClr val="0E7C61"/>
          </a:solidFill>
          <a:ln w="12700">
            <a:solidFill>
              <a:srgbClr val="0E7C61"/>
            </a:solidFill>
            <a:prstDash val="solid"/>
          </a:ln>
        </p:spPr>
      </p:sp>
      <p:pic>
        <p:nvPicPr>
          <p:cNvPr id="21" name="Image 3" descr="preencoded.png">    </p:cNvPr>
          <p:cNvPicPr>
            <a:picLocks noChangeAspect="1"/>
          </p:cNvPicPr>
          <p:nvPr/>
        </p:nvPicPr>
        <p:blipFill>
          <a:blip r:embed="rId4"/>
          <a:stretch>
            <a:fillRect/>
          </a:stretch>
        </p:blipFill>
        <p:spPr>
          <a:xfrm>
            <a:off x="6625742" y="4147718"/>
            <a:ext cx="318211" cy="318211"/>
          </a:xfrm>
          <a:prstGeom prst="rect">
            <a:avLst/>
          </a:prstGeom>
        </p:spPr>
      </p:pic>
      <p:sp>
        <p:nvSpPr>
          <p:cNvPr id="22" name="Text 16"/>
          <p:cNvSpPr txBox="1"/>
          <p:nvPr/>
        </p:nvSpPr>
        <p:spPr>
          <a:xfrm>
            <a:off x="7223760" y="4069080"/>
            <a:ext cx="4114800" cy="365760"/>
          </a:xfrm>
          <a:prstGeom prst="rect">
            <a:avLst/>
          </a:prstGeom>
          <a:noFill/>
          <a:ln/>
        </p:spPr>
        <p:txBody>
          <a:bodyPr wrap="square" lIns="0" tIns="0" rIns="0" bIns="0" rtlCol="0" anchor="ctr"/>
          <a:lstStyle/>
          <a:p>
            <a:pPr indent="0" marL="0">
              <a:buNone/>
            </a:pPr>
            <a:r>
              <a:rPr lang="en-US" sz="1600" b="1" dirty="0">
                <a:solidFill>
                  <a:srgbClr val="0F6B3C"/>
                </a:solidFill>
                <a:latin typeface="Cambria" pitchFamily="34" charset="0"/>
                <a:ea typeface="Cambria" pitchFamily="34" charset="-122"/>
                <a:cs typeface="Cambria" pitchFamily="34" charset="-120"/>
              </a:rPr>
              <a:t>Cost and sustainability</a:t>
            </a:r>
            <a:endParaRPr lang="en-US" sz="1600" dirty="0"/>
          </a:p>
        </p:txBody>
      </p:sp>
      <p:sp>
        <p:nvSpPr>
          <p:cNvPr id="23" name="Text 17"/>
          <p:cNvSpPr txBox="1"/>
          <p:nvPr/>
        </p:nvSpPr>
        <p:spPr>
          <a:xfrm>
            <a:off x="6510528" y="4690872"/>
            <a:ext cx="4846320" cy="100584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Training large models consumes real energy and money. Match the model to the problem instead of reaching for the largest thing available.</a:t>
            </a:r>
            <a:endParaRPr lang="en-US" sz="1200" dirty="0"/>
          </a:p>
        </p:txBody>
      </p:sp>
      <p:sp>
        <p:nvSpPr>
          <p:cNvPr id="24" name="Text 18"/>
          <p:cNvSpPr txBox="1"/>
          <p:nvPr/>
        </p:nvSpPr>
        <p:spPr>
          <a:xfrm>
            <a:off x="548640" y="5943600"/>
            <a:ext cx="11064240" cy="320040"/>
          </a:xfrm>
          <a:prstGeom prst="rect">
            <a:avLst/>
          </a:prstGeom>
          <a:noFill/>
          <a:ln/>
        </p:spPr>
        <p:txBody>
          <a:bodyPr wrap="square" lIns="0" tIns="0" rIns="0" bIns="0" rtlCol="0" anchor="ctr"/>
          <a:lstStyle/>
          <a:p>
            <a:pPr algn="ctr" indent="0" marL="0">
              <a:buNone/>
            </a:pPr>
            <a:r>
              <a:rPr lang="en-US" sz="1300" b="1" i="1" dirty="0">
                <a:solidFill>
                  <a:srgbClr val="0E7C61"/>
                </a:solidFill>
                <a:latin typeface="Calibri" pitchFamily="34" charset="0"/>
                <a:ea typeface="Calibri" pitchFamily="34" charset="-122"/>
                <a:cs typeface="Calibri" pitchFamily="34" charset="-120"/>
              </a:rPr>
              <a:t>An unfair model that ships is a worse engineering outcome than a fair one that is late.</a:t>
            </a:r>
            <a:endParaRPr lang="en-US" sz="1300" dirty="0"/>
          </a:p>
        </p:txBody>
      </p:sp>
      <p:sp>
        <p:nvSpPr>
          <p:cNvPr id="26" name="Text 19"/>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27" name="Text 20"/>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45</a:t>
            </a:r>
            <a:endParaRPr lang="en-US" sz="900" dirty="0"/>
          </a:p>
        </p:txBody>
      </p:sp>
      <p:pic>
        <p:nvPicPr>
          <p:cNvPr id="28" name="Picture 27" descr="must_logo.png"/>
          <p:cNvPicPr>
            <a:picLocks noChangeAspect="1"/>
          </p:cNvPicPr>
          <p:nvPr/>
        </p:nvPicPr>
        <p:blipFill>
          <a:blip r:embed="rId7"/>
          <a:stretch>
            <a:fillRect/>
          </a:stretch>
        </p:blipFill>
        <p:spPr>
          <a:xfrm>
            <a:off x="11016642" y="274320"/>
            <a:ext cx="699565" cy="65836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LEARNED THE HARD WAY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Five Mistakes To Avoid From Day One</a:t>
            </a:r>
            <a:endParaRPr lang="en-US" sz="3000" dirty="0"/>
          </a:p>
        </p:txBody>
      </p:sp>
      <p:sp>
        <p:nvSpPr>
          <p:cNvPr id="4" name="Shape 2"/>
          <p:cNvSpPr/>
          <p:nvPr/>
        </p:nvSpPr>
        <p:spPr>
          <a:xfrm>
            <a:off x="548640" y="1600200"/>
            <a:ext cx="11064240" cy="841248"/>
          </a:xfrm>
          <a:prstGeom prst="roundRect">
            <a:avLst>
              <a:gd name="adj" fmla="val 1304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68680" y="1792224"/>
            <a:ext cx="457200" cy="457200"/>
          </a:xfrm>
          <a:prstGeom prst="ellipse">
            <a:avLst/>
          </a:prstGeom>
          <a:solidFill>
            <a:srgbClr val="9C3B2E"/>
          </a:solidFill>
          <a:ln w="12700">
            <a:solidFill>
              <a:srgbClr val="9C3B2E"/>
            </a:solidFill>
            <a:prstDash val="solid"/>
          </a:ln>
        </p:spPr>
      </p:sp>
      <p:sp>
        <p:nvSpPr>
          <p:cNvPr id="6" name="Text 4"/>
          <p:cNvSpPr txBox="1"/>
          <p:nvPr/>
        </p:nvSpPr>
        <p:spPr>
          <a:xfrm>
            <a:off x="868680" y="1792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81328" y="1673352"/>
            <a:ext cx="2926080" cy="68580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Data leakage</a:t>
            </a:r>
            <a:endParaRPr lang="en-US" sz="1500" dirty="0"/>
          </a:p>
        </p:txBody>
      </p:sp>
      <p:sp>
        <p:nvSpPr>
          <p:cNvPr id="8" name="Text 6"/>
          <p:cNvSpPr txBox="1"/>
          <p:nvPr/>
        </p:nvSpPr>
        <p:spPr>
          <a:xfrm>
            <a:off x="4480560" y="1655064"/>
            <a:ext cx="6949440" cy="7315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A feature that secretly contains the answer — like using "loan_write_off_date" to predict default. Your accuracy will look wonderful and collapse in production.</a:t>
            </a:r>
            <a:endParaRPr lang="en-US" sz="1200" dirty="0"/>
          </a:p>
        </p:txBody>
      </p:sp>
      <p:sp>
        <p:nvSpPr>
          <p:cNvPr id="9" name="Shape 7"/>
          <p:cNvSpPr/>
          <p:nvPr/>
        </p:nvSpPr>
        <p:spPr>
          <a:xfrm>
            <a:off x="548640" y="2514600"/>
            <a:ext cx="11064240" cy="841248"/>
          </a:xfrm>
          <a:prstGeom prst="roundRect">
            <a:avLst>
              <a:gd name="adj" fmla="val 13043"/>
            </a:avLst>
          </a:prstGeom>
          <a:solidFill>
            <a:srgbClr val="FFFFFF"/>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0" name="Shape 8"/>
          <p:cNvSpPr/>
          <p:nvPr/>
        </p:nvSpPr>
        <p:spPr>
          <a:xfrm>
            <a:off x="868680" y="2706624"/>
            <a:ext cx="457200" cy="457200"/>
          </a:xfrm>
          <a:prstGeom prst="ellipse">
            <a:avLst/>
          </a:prstGeom>
          <a:solidFill>
            <a:srgbClr val="9C3B2E"/>
          </a:solidFill>
          <a:ln w="12700">
            <a:solidFill>
              <a:srgbClr val="9C3B2E"/>
            </a:solidFill>
            <a:prstDash val="solid"/>
          </a:ln>
        </p:spPr>
      </p:sp>
      <p:sp>
        <p:nvSpPr>
          <p:cNvPr id="11" name="Text 9"/>
          <p:cNvSpPr txBox="1"/>
          <p:nvPr/>
        </p:nvSpPr>
        <p:spPr>
          <a:xfrm>
            <a:off x="868680" y="27066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81328" y="2587752"/>
            <a:ext cx="2926080" cy="68580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Testing on training data</a:t>
            </a:r>
            <a:endParaRPr lang="en-US" sz="1500" dirty="0"/>
          </a:p>
        </p:txBody>
      </p:sp>
      <p:sp>
        <p:nvSpPr>
          <p:cNvPr id="13" name="Text 11"/>
          <p:cNvSpPr txBox="1"/>
          <p:nvPr/>
        </p:nvSpPr>
        <p:spPr>
          <a:xfrm>
            <a:off x="4480560" y="2569464"/>
            <a:ext cx="6949440" cy="7315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The single most common student error. Any number produced this way is meaningless.</a:t>
            </a:r>
            <a:endParaRPr lang="en-US" sz="1200" dirty="0"/>
          </a:p>
        </p:txBody>
      </p:sp>
      <p:sp>
        <p:nvSpPr>
          <p:cNvPr id="14" name="Shape 12"/>
          <p:cNvSpPr/>
          <p:nvPr/>
        </p:nvSpPr>
        <p:spPr>
          <a:xfrm>
            <a:off x="548640" y="3429000"/>
            <a:ext cx="11064240" cy="841248"/>
          </a:xfrm>
          <a:prstGeom prst="roundRect">
            <a:avLst>
              <a:gd name="adj" fmla="val 1304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5" name="Shape 13"/>
          <p:cNvSpPr/>
          <p:nvPr/>
        </p:nvSpPr>
        <p:spPr>
          <a:xfrm>
            <a:off x="868680" y="3621024"/>
            <a:ext cx="457200" cy="457200"/>
          </a:xfrm>
          <a:prstGeom prst="ellipse">
            <a:avLst/>
          </a:prstGeom>
          <a:solidFill>
            <a:srgbClr val="9C3B2E"/>
          </a:solidFill>
          <a:ln w="12700">
            <a:solidFill>
              <a:srgbClr val="9C3B2E"/>
            </a:solidFill>
            <a:prstDash val="solid"/>
          </a:ln>
        </p:spPr>
      </p:sp>
      <p:sp>
        <p:nvSpPr>
          <p:cNvPr id="16" name="Text 14"/>
          <p:cNvSpPr txBox="1"/>
          <p:nvPr/>
        </p:nvSpPr>
        <p:spPr>
          <a:xfrm>
            <a:off x="868680" y="3621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81328" y="3502152"/>
            <a:ext cx="2926080" cy="68580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Forgetting to scale features</a:t>
            </a:r>
            <a:endParaRPr lang="en-US" sz="1500" dirty="0"/>
          </a:p>
        </p:txBody>
      </p:sp>
      <p:sp>
        <p:nvSpPr>
          <p:cNvPr id="18" name="Text 16"/>
          <p:cNvSpPr txBox="1"/>
          <p:nvPr/>
        </p:nvSpPr>
        <p:spPr>
          <a:xfrm>
            <a:off x="4480560" y="3483864"/>
            <a:ext cx="6949440" cy="7315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Distance-based and gradient-based methods break silently when features live on different scales.</a:t>
            </a:r>
            <a:endParaRPr lang="en-US" sz="1200" dirty="0"/>
          </a:p>
        </p:txBody>
      </p:sp>
      <p:sp>
        <p:nvSpPr>
          <p:cNvPr id="19" name="Shape 17"/>
          <p:cNvSpPr/>
          <p:nvPr/>
        </p:nvSpPr>
        <p:spPr>
          <a:xfrm>
            <a:off x="548640" y="4343400"/>
            <a:ext cx="11064240" cy="841248"/>
          </a:xfrm>
          <a:prstGeom prst="roundRect">
            <a:avLst>
              <a:gd name="adj" fmla="val 13043"/>
            </a:avLst>
          </a:prstGeom>
          <a:solidFill>
            <a:srgbClr val="FFFFFF"/>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0" name="Shape 18"/>
          <p:cNvSpPr/>
          <p:nvPr/>
        </p:nvSpPr>
        <p:spPr>
          <a:xfrm>
            <a:off x="868680" y="4535424"/>
            <a:ext cx="457200" cy="457200"/>
          </a:xfrm>
          <a:prstGeom prst="ellipse">
            <a:avLst/>
          </a:prstGeom>
          <a:solidFill>
            <a:srgbClr val="9C3B2E"/>
          </a:solidFill>
          <a:ln w="12700">
            <a:solidFill>
              <a:srgbClr val="9C3B2E"/>
            </a:solidFill>
            <a:prstDash val="solid"/>
          </a:ln>
        </p:spPr>
      </p:sp>
      <p:sp>
        <p:nvSpPr>
          <p:cNvPr id="21" name="Text 19"/>
          <p:cNvSpPr txBox="1"/>
          <p:nvPr/>
        </p:nvSpPr>
        <p:spPr>
          <a:xfrm>
            <a:off x="868680" y="45354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81328" y="4416552"/>
            <a:ext cx="2926080" cy="68580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No baseline for comparison</a:t>
            </a:r>
            <a:endParaRPr lang="en-US" sz="1500" dirty="0"/>
          </a:p>
        </p:txBody>
      </p:sp>
      <p:sp>
        <p:nvSpPr>
          <p:cNvPr id="23" name="Text 21"/>
          <p:cNvSpPr txBox="1"/>
          <p:nvPr/>
        </p:nvSpPr>
        <p:spPr>
          <a:xfrm>
            <a:off x="4480560" y="4398264"/>
            <a:ext cx="6949440" cy="7315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84% accuracy sounds respectable — until you learn that always guessing the majority class gives 83%.</a:t>
            </a:r>
            <a:endParaRPr lang="en-US" sz="1200" dirty="0"/>
          </a:p>
        </p:txBody>
      </p:sp>
      <p:sp>
        <p:nvSpPr>
          <p:cNvPr id="24" name="Shape 22"/>
          <p:cNvSpPr/>
          <p:nvPr/>
        </p:nvSpPr>
        <p:spPr>
          <a:xfrm>
            <a:off x="548640" y="5257800"/>
            <a:ext cx="11064240" cy="841248"/>
          </a:xfrm>
          <a:prstGeom prst="roundRect">
            <a:avLst>
              <a:gd name="adj" fmla="val 13043"/>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23"/>
          <p:cNvSpPr/>
          <p:nvPr/>
        </p:nvSpPr>
        <p:spPr>
          <a:xfrm>
            <a:off x="868680" y="5449824"/>
            <a:ext cx="457200" cy="457200"/>
          </a:xfrm>
          <a:prstGeom prst="ellipse">
            <a:avLst/>
          </a:prstGeom>
          <a:solidFill>
            <a:srgbClr val="9C3B2E"/>
          </a:solidFill>
          <a:ln w="12700">
            <a:solidFill>
              <a:srgbClr val="9C3B2E"/>
            </a:solidFill>
            <a:prstDash val="solid"/>
          </a:ln>
        </p:spPr>
      </p:sp>
      <p:sp>
        <p:nvSpPr>
          <p:cNvPr id="26" name="Text 24"/>
          <p:cNvSpPr txBox="1"/>
          <p:nvPr/>
        </p:nvSpPr>
        <p:spPr>
          <a:xfrm>
            <a:off x="868680" y="54498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481328" y="5330952"/>
            <a:ext cx="2926080" cy="68580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Ignoring the data before modelling</a:t>
            </a:r>
            <a:endParaRPr lang="en-US" sz="1500" dirty="0"/>
          </a:p>
        </p:txBody>
      </p:sp>
      <p:sp>
        <p:nvSpPr>
          <p:cNvPr id="28" name="Text 26"/>
          <p:cNvSpPr txBox="1"/>
          <p:nvPr/>
        </p:nvSpPr>
        <p:spPr>
          <a:xfrm>
            <a:off x="4480560" y="5312664"/>
            <a:ext cx="6949440" cy="731520"/>
          </a:xfrm>
          <a:prstGeom prst="rect">
            <a:avLst/>
          </a:prstGeom>
          <a:noFill/>
          <a:ln/>
        </p:spPr>
        <p:txBody>
          <a:bodyPr wrap="square" lIns="0" tIns="0" rIns="0" bIns="0" rtlCol="0" anchor="ctr"/>
          <a:lstStyle/>
          <a:p>
            <a:pPr indent="0" marL="0">
              <a:lnSpc>
                <a:spcPts val="1600"/>
              </a:lnSpc>
              <a:buNone/>
            </a:pPr>
            <a:r>
              <a:rPr lang="en-US" sz="1200" dirty="0">
                <a:solidFill>
                  <a:srgbClr val="5C6B60"/>
                </a:solidFill>
                <a:latin typeface="Calibri" pitchFamily="34" charset="0"/>
                <a:ea typeface="Calibri" pitchFamily="34" charset="-122"/>
                <a:cs typeface="Calibri" pitchFamily="34" charset="-120"/>
              </a:rPr>
              <a:t>Plot it. Count the missing values. Look at the class balance. Half of all modelling problems are visible in ten minutes of exploration.</a:t>
            </a:r>
            <a:endParaRPr lang="en-US" sz="1200" dirty="0"/>
          </a:p>
        </p:txBody>
      </p:sp>
      <p:sp>
        <p:nvSpPr>
          <p:cNvPr id="29" name="Text 27"/>
          <p:cNvSpPr txBox="1"/>
          <p:nvPr/>
        </p:nvSpPr>
        <p:spPr>
          <a:xfrm>
            <a:off x="548640" y="6108192"/>
            <a:ext cx="11064240" cy="274320"/>
          </a:xfrm>
          <a:prstGeom prst="rect">
            <a:avLst/>
          </a:prstGeom>
          <a:noFill/>
          <a:ln/>
        </p:spPr>
        <p:txBody>
          <a:bodyPr wrap="square" lIns="0" tIns="0" rIns="0" bIns="0" rtlCol="0" anchor="ctr"/>
          <a:lstStyle/>
          <a:p>
            <a:pPr indent="0" marL="0">
              <a:buNone/>
            </a:pPr>
            <a:r>
              <a:rPr lang="en-US" sz="1200" i="1" dirty="0">
                <a:solidFill>
                  <a:srgbClr val="C9A227"/>
                </a:solidFill>
                <a:latin typeface="Calibri" pitchFamily="34" charset="0"/>
                <a:ea typeface="Calibri" pitchFamily="34" charset="-122"/>
                <a:cs typeface="Calibri" pitchFamily="34" charset="-120"/>
              </a:rPr>
              <a:t>Every one of these has appeared in a submitted project. Now you have no excuse.</a:t>
            </a:r>
            <a:endParaRPr lang="en-US" sz="1200" dirty="0"/>
          </a:p>
        </p:txBody>
      </p:sp>
      <p:sp>
        <p:nvSpPr>
          <p:cNvPr id="31" name="Text 28"/>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2" name="Text 29"/>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46</a:t>
            </a:r>
            <a:endParaRPr lang="en-US" sz="900" dirty="0"/>
          </a:p>
        </p:txBody>
      </p:sp>
      <p:pic>
        <p:nvPicPr>
          <p:cNvPr id="33" name="Picture 32"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92608"/>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LECTURES 1 AND 2 IN ONE PAGE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t"/>
          <a:lstStyle/>
          <a:p>
            <a:pPr indent="0" marL="0">
              <a:buNone/>
            </a:pPr>
            <a:r>
              <a:rPr lang="en-US" sz="3000" b="1" dirty="0">
                <a:solidFill>
                  <a:srgbClr val="0F6B3C"/>
                </a:solidFill>
                <a:latin typeface="Cambria" pitchFamily="34" charset="0"/>
                <a:ea typeface="Cambria" pitchFamily="34" charset="-122"/>
                <a:cs typeface="Cambria" pitchFamily="34" charset="-120"/>
              </a:rPr>
              <a:t>What You Should Take Away</a:t>
            </a:r>
            <a:endParaRPr lang="en-US" sz="3000" dirty="0"/>
          </a:p>
        </p:txBody>
      </p:sp>
      <p:sp>
        <p:nvSpPr>
          <p:cNvPr id="4" name="Shape 2"/>
          <p:cNvSpPr/>
          <p:nvPr/>
        </p:nvSpPr>
        <p:spPr>
          <a:xfrm>
            <a:off x="548640" y="1600200"/>
            <a:ext cx="539496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5" name="Shape 3"/>
          <p:cNvSpPr/>
          <p:nvPr/>
        </p:nvSpPr>
        <p:spPr>
          <a:xfrm>
            <a:off x="822960" y="2002536"/>
            <a:ext cx="237744" cy="237744"/>
          </a:xfrm>
          <a:prstGeom prst="ellipse">
            <a:avLst/>
          </a:prstGeom>
          <a:solidFill>
            <a:srgbClr val="0F6B3C"/>
          </a:solidFill>
          <a:ln w="12700">
            <a:solidFill>
              <a:srgbClr val="333333"/>
            </a:solidFill>
            <a:prstDash val="solid"/>
          </a:ln>
        </p:spPr>
      </p:sp>
      <p:sp>
        <p:nvSpPr>
          <p:cNvPr id="6" name="Text 4"/>
          <p:cNvSpPr txBox="1"/>
          <p:nvPr/>
        </p:nvSpPr>
        <p:spPr>
          <a:xfrm>
            <a:off x="1207008" y="1746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Machine learning inverts programming</a:t>
            </a:r>
            <a:endParaRPr lang="en-US" sz="1500" dirty="0"/>
          </a:p>
        </p:txBody>
      </p:sp>
      <p:sp>
        <p:nvSpPr>
          <p:cNvPr id="7" name="Text 5"/>
          <p:cNvSpPr txBox="1"/>
          <p:nvPr/>
        </p:nvSpPr>
        <p:spPr>
          <a:xfrm>
            <a:off x="1207008" y="2075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We supply data and answers; the machine produces the rules.</a:t>
            </a:r>
            <a:endParaRPr lang="en-US" sz="1150" dirty="0"/>
          </a:p>
        </p:txBody>
      </p:sp>
      <p:sp>
        <p:nvSpPr>
          <p:cNvPr id="8" name="Shape 6"/>
          <p:cNvSpPr/>
          <p:nvPr/>
        </p:nvSpPr>
        <p:spPr>
          <a:xfrm>
            <a:off x="6217920" y="1600200"/>
            <a:ext cx="5394960" cy="1051560"/>
          </a:xfrm>
          <a:prstGeom prst="roundRect">
            <a:avLst>
              <a:gd name="adj" fmla="val 10435"/>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9" name="Shape 7"/>
          <p:cNvSpPr/>
          <p:nvPr/>
        </p:nvSpPr>
        <p:spPr>
          <a:xfrm>
            <a:off x="6492240" y="2002536"/>
            <a:ext cx="237744" cy="237744"/>
          </a:xfrm>
          <a:prstGeom prst="ellipse">
            <a:avLst/>
          </a:prstGeom>
          <a:solidFill>
            <a:srgbClr val="0E7C61"/>
          </a:solidFill>
          <a:ln w="12700">
            <a:solidFill>
              <a:srgbClr val="333333"/>
            </a:solidFill>
            <a:prstDash val="solid"/>
          </a:ln>
        </p:spPr>
      </p:sp>
      <p:sp>
        <p:nvSpPr>
          <p:cNvPr id="10" name="Text 8"/>
          <p:cNvSpPr txBox="1"/>
          <p:nvPr/>
        </p:nvSpPr>
        <p:spPr>
          <a:xfrm>
            <a:off x="6876288" y="1746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Generalisation is the goal</a:t>
            </a:r>
            <a:endParaRPr lang="en-US" sz="1500" dirty="0"/>
          </a:p>
        </p:txBody>
      </p:sp>
      <p:sp>
        <p:nvSpPr>
          <p:cNvPr id="11" name="Text 9"/>
          <p:cNvSpPr txBox="1"/>
          <p:nvPr/>
        </p:nvSpPr>
        <p:spPr>
          <a:xfrm>
            <a:off x="6876288" y="2075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Report performance only on data the model has never seen.</a:t>
            </a:r>
            <a:endParaRPr lang="en-US" sz="1150" dirty="0"/>
          </a:p>
        </p:txBody>
      </p:sp>
      <p:sp>
        <p:nvSpPr>
          <p:cNvPr id="12" name="Shape 10"/>
          <p:cNvSpPr/>
          <p:nvPr/>
        </p:nvSpPr>
        <p:spPr>
          <a:xfrm>
            <a:off x="548640" y="2743200"/>
            <a:ext cx="539496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3" name="Shape 11"/>
          <p:cNvSpPr/>
          <p:nvPr/>
        </p:nvSpPr>
        <p:spPr>
          <a:xfrm>
            <a:off x="822960" y="3145536"/>
            <a:ext cx="237744" cy="237744"/>
          </a:xfrm>
          <a:prstGeom prst="ellipse">
            <a:avLst/>
          </a:prstGeom>
          <a:solidFill>
            <a:srgbClr val="0F6B3C"/>
          </a:solidFill>
          <a:ln w="12700">
            <a:solidFill>
              <a:srgbClr val="333333"/>
            </a:solidFill>
            <a:prstDash val="solid"/>
          </a:ln>
        </p:spPr>
      </p:sp>
      <p:sp>
        <p:nvSpPr>
          <p:cNvPr id="14" name="Text 12"/>
          <p:cNvSpPr txBox="1"/>
          <p:nvPr/>
        </p:nvSpPr>
        <p:spPr>
          <a:xfrm>
            <a:off x="1207008" y="2889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E, T and P</a:t>
            </a:r>
            <a:endParaRPr lang="en-US" sz="1500" dirty="0"/>
          </a:p>
        </p:txBody>
      </p:sp>
      <p:sp>
        <p:nvSpPr>
          <p:cNvPr id="15" name="Text 13"/>
          <p:cNvSpPr txBox="1"/>
          <p:nvPr/>
        </p:nvSpPr>
        <p:spPr>
          <a:xfrm>
            <a:off x="1207008" y="3218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Name the experience, the task and the performance measure before you code.</a:t>
            </a:r>
            <a:endParaRPr lang="en-US" sz="1150" dirty="0"/>
          </a:p>
        </p:txBody>
      </p:sp>
      <p:sp>
        <p:nvSpPr>
          <p:cNvPr id="16" name="Shape 14"/>
          <p:cNvSpPr/>
          <p:nvPr/>
        </p:nvSpPr>
        <p:spPr>
          <a:xfrm>
            <a:off x="6217920" y="2743200"/>
            <a:ext cx="5394960" cy="1051560"/>
          </a:xfrm>
          <a:prstGeom prst="roundRect">
            <a:avLst>
              <a:gd name="adj" fmla="val 10435"/>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17" name="Shape 15"/>
          <p:cNvSpPr/>
          <p:nvPr/>
        </p:nvSpPr>
        <p:spPr>
          <a:xfrm>
            <a:off x="6492240" y="3145536"/>
            <a:ext cx="237744" cy="237744"/>
          </a:xfrm>
          <a:prstGeom prst="ellipse">
            <a:avLst/>
          </a:prstGeom>
          <a:solidFill>
            <a:srgbClr val="0E7C61"/>
          </a:solidFill>
          <a:ln w="12700">
            <a:solidFill>
              <a:srgbClr val="333333"/>
            </a:solidFill>
            <a:prstDash val="solid"/>
          </a:ln>
        </p:spPr>
      </p:sp>
      <p:sp>
        <p:nvSpPr>
          <p:cNvPr id="18" name="Text 16"/>
          <p:cNvSpPr txBox="1"/>
          <p:nvPr/>
        </p:nvSpPr>
        <p:spPr>
          <a:xfrm>
            <a:off x="6876288" y="2889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Overfitting vs underfitting</a:t>
            </a:r>
            <a:endParaRPr lang="en-US" sz="1500" dirty="0"/>
          </a:p>
        </p:txBody>
      </p:sp>
      <p:sp>
        <p:nvSpPr>
          <p:cNvPr id="19" name="Text 17"/>
          <p:cNvSpPr txBox="1"/>
          <p:nvPr/>
        </p:nvSpPr>
        <p:spPr>
          <a:xfrm>
            <a:off x="6876288" y="3218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Managed through model complexity, more data, and the bias–variance balance.</a:t>
            </a:r>
            <a:endParaRPr lang="en-US" sz="1150" dirty="0"/>
          </a:p>
        </p:txBody>
      </p:sp>
      <p:sp>
        <p:nvSpPr>
          <p:cNvPr id="20" name="Shape 18"/>
          <p:cNvSpPr/>
          <p:nvPr/>
        </p:nvSpPr>
        <p:spPr>
          <a:xfrm>
            <a:off x="548640" y="3886200"/>
            <a:ext cx="539496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1" name="Shape 19"/>
          <p:cNvSpPr/>
          <p:nvPr/>
        </p:nvSpPr>
        <p:spPr>
          <a:xfrm>
            <a:off x="822960" y="4288536"/>
            <a:ext cx="237744" cy="237744"/>
          </a:xfrm>
          <a:prstGeom prst="ellipse">
            <a:avLst/>
          </a:prstGeom>
          <a:solidFill>
            <a:srgbClr val="0F6B3C"/>
          </a:solidFill>
          <a:ln w="12700">
            <a:solidFill>
              <a:srgbClr val="333333"/>
            </a:solidFill>
            <a:prstDash val="solid"/>
          </a:ln>
        </p:spPr>
      </p:sp>
      <p:sp>
        <p:nvSpPr>
          <p:cNvPr id="22" name="Text 20"/>
          <p:cNvSpPr txBox="1"/>
          <p:nvPr/>
        </p:nvSpPr>
        <p:spPr>
          <a:xfrm>
            <a:off x="1207008" y="4032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Three paradigms</a:t>
            </a:r>
            <a:endParaRPr lang="en-US" sz="1500" dirty="0"/>
          </a:p>
        </p:txBody>
      </p:sp>
      <p:sp>
        <p:nvSpPr>
          <p:cNvPr id="23" name="Text 21"/>
          <p:cNvSpPr txBox="1"/>
          <p:nvPr/>
        </p:nvSpPr>
        <p:spPr>
          <a:xfrm>
            <a:off x="1207008" y="4361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Supervised, unsupervised, reinforcement — plus semi- and self-supervised variants.</a:t>
            </a:r>
            <a:endParaRPr lang="en-US" sz="1150" dirty="0"/>
          </a:p>
        </p:txBody>
      </p:sp>
      <p:sp>
        <p:nvSpPr>
          <p:cNvPr id="24" name="Shape 22"/>
          <p:cNvSpPr/>
          <p:nvPr/>
        </p:nvSpPr>
        <p:spPr>
          <a:xfrm>
            <a:off x="6217920" y="3886200"/>
            <a:ext cx="5394960" cy="1051560"/>
          </a:xfrm>
          <a:prstGeom prst="roundRect">
            <a:avLst>
              <a:gd name="adj" fmla="val 10435"/>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5" name="Shape 23"/>
          <p:cNvSpPr/>
          <p:nvPr/>
        </p:nvSpPr>
        <p:spPr>
          <a:xfrm>
            <a:off x="6492240" y="4288536"/>
            <a:ext cx="237744" cy="237744"/>
          </a:xfrm>
          <a:prstGeom prst="ellipse">
            <a:avLst/>
          </a:prstGeom>
          <a:solidFill>
            <a:srgbClr val="0E7C61"/>
          </a:solidFill>
          <a:ln w="12700">
            <a:solidFill>
              <a:srgbClr val="333333"/>
            </a:solidFill>
            <a:prstDash val="solid"/>
          </a:ln>
        </p:spPr>
      </p:sp>
      <p:sp>
        <p:nvSpPr>
          <p:cNvPr id="26" name="Text 24"/>
          <p:cNvSpPr txBox="1"/>
          <p:nvPr/>
        </p:nvSpPr>
        <p:spPr>
          <a:xfrm>
            <a:off x="6876288" y="4032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Accuracy is not enough</a:t>
            </a:r>
            <a:endParaRPr lang="en-US" sz="1500" dirty="0"/>
          </a:p>
        </p:txBody>
      </p:sp>
      <p:sp>
        <p:nvSpPr>
          <p:cNvPr id="27" name="Text 25"/>
          <p:cNvSpPr txBox="1"/>
          <p:nvPr/>
        </p:nvSpPr>
        <p:spPr>
          <a:xfrm>
            <a:off x="6876288" y="4361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Use a confusion matrix, precision, recall and F1 — especially with imbalanced data.</a:t>
            </a:r>
            <a:endParaRPr lang="en-US" sz="1150" dirty="0"/>
          </a:p>
        </p:txBody>
      </p:sp>
      <p:sp>
        <p:nvSpPr>
          <p:cNvPr id="28" name="Shape 26"/>
          <p:cNvSpPr/>
          <p:nvPr/>
        </p:nvSpPr>
        <p:spPr>
          <a:xfrm>
            <a:off x="548640" y="5029200"/>
            <a:ext cx="5394960" cy="1051560"/>
          </a:xfrm>
          <a:prstGeom prst="roundRect">
            <a:avLst>
              <a:gd name="adj" fmla="val 10435"/>
            </a:avLst>
          </a:prstGeom>
          <a:solidFill>
            <a:srgbClr val="F2F6F2"/>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29" name="Shape 27"/>
          <p:cNvSpPr/>
          <p:nvPr/>
        </p:nvSpPr>
        <p:spPr>
          <a:xfrm>
            <a:off x="822960" y="5431536"/>
            <a:ext cx="237744" cy="237744"/>
          </a:xfrm>
          <a:prstGeom prst="ellipse">
            <a:avLst/>
          </a:prstGeom>
          <a:solidFill>
            <a:srgbClr val="0F6B3C"/>
          </a:solidFill>
          <a:ln w="12700">
            <a:solidFill>
              <a:srgbClr val="333333"/>
            </a:solidFill>
            <a:prstDash val="solid"/>
          </a:ln>
        </p:spPr>
      </p:sp>
      <p:sp>
        <p:nvSpPr>
          <p:cNvPr id="30" name="Text 28"/>
          <p:cNvSpPr txBox="1"/>
          <p:nvPr/>
        </p:nvSpPr>
        <p:spPr>
          <a:xfrm>
            <a:off x="1207008" y="5175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Learning has three ingredients</a:t>
            </a:r>
            <a:endParaRPr lang="en-US" sz="1500" dirty="0"/>
          </a:p>
        </p:txBody>
      </p:sp>
      <p:sp>
        <p:nvSpPr>
          <p:cNvPr id="31" name="Text 29"/>
          <p:cNvSpPr txBox="1"/>
          <p:nvPr/>
        </p:nvSpPr>
        <p:spPr>
          <a:xfrm>
            <a:off x="1207008" y="5504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A hypothesis space, a loss function, and an optimisation procedure.</a:t>
            </a:r>
            <a:endParaRPr lang="en-US" sz="1150" dirty="0"/>
          </a:p>
        </p:txBody>
      </p:sp>
      <p:sp>
        <p:nvSpPr>
          <p:cNvPr id="32" name="Shape 30"/>
          <p:cNvSpPr/>
          <p:nvPr/>
        </p:nvSpPr>
        <p:spPr>
          <a:xfrm>
            <a:off x="6217920" y="5029200"/>
            <a:ext cx="5394960" cy="1051560"/>
          </a:xfrm>
          <a:prstGeom prst="roundRect">
            <a:avLst>
              <a:gd name="adj" fmla="val 10435"/>
            </a:avLst>
          </a:prstGeom>
          <a:solidFill>
            <a:srgbClr val="E4F1EA"/>
          </a:solidFill>
          <a:ln w="12700">
            <a:solidFill>
              <a:srgbClr val="FFFFFF"/>
            </a:solidFill>
            <a:prstDash val="solid"/>
          </a:ln>
          <a:effectLst>
            <a:outerShdw sx="100000" sy="100000" kx="0" ky="0" algn="bl" rotWithShape="0" blurRad="127000" dist="25400" dir="5400000">
              <a:srgbClr val="B6C4BA">
                <a:alpha val="35000"/>
              </a:srgbClr>
            </a:outerShdw>
          </a:effectLst>
        </p:spPr>
      </p:sp>
      <p:sp>
        <p:nvSpPr>
          <p:cNvPr id="33" name="Shape 31"/>
          <p:cNvSpPr/>
          <p:nvPr/>
        </p:nvSpPr>
        <p:spPr>
          <a:xfrm>
            <a:off x="6492240" y="5431536"/>
            <a:ext cx="237744" cy="237744"/>
          </a:xfrm>
          <a:prstGeom prst="ellipse">
            <a:avLst/>
          </a:prstGeom>
          <a:solidFill>
            <a:srgbClr val="0E7C61"/>
          </a:solidFill>
          <a:ln w="12700">
            <a:solidFill>
              <a:srgbClr val="333333"/>
            </a:solidFill>
            <a:prstDash val="solid"/>
          </a:ln>
        </p:spPr>
      </p:sp>
      <p:sp>
        <p:nvSpPr>
          <p:cNvPr id="34" name="Text 32"/>
          <p:cNvSpPr txBox="1"/>
          <p:nvPr/>
        </p:nvSpPr>
        <p:spPr>
          <a:xfrm>
            <a:off x="6876288" y="5175504"/>
            <a:ext cx="4480560" cy="320040"/>
          </a:xfrm>
          <a:prstGeom prst="rect">
            <a:avLst/>
          </a:prstGeom>
          <a:noFill/>
          <a:ln/>
        </p:spPr>
        <p:txBody>
          <a:bodyPr wrap="square" lIns="0" tIns="0" rIns="0" bIns="0" rtlCol="0" anchor="ctr"/>
          <a:lstStyle/>
          <a:p>
            <a:pPr indent="0" marL="0">
              <a:buNone/>
            </a:pPr>
            <a:r>
              <a:rPr lang="en-US" sz="1500" b="1" dirty="0">
                <a:solidFill>
                  <a:srgbClr val="0F6B3C"/>
                </a:solidFill>
                <a:latin typeface="Cambria" pitchFamily="34" charset="0"/>
                <a:ea typeface="Cambria" pitchFamily="34" charset="-122"/>
                <a:cs typeface="Cambria" pitchFamily="34" charset="-120"/>
              </a:rPr>
              <a:t>Judgement is part of the job</a:t>
            </a:r>
            <a:endParaRPr lang="en-US" sz="1500" dirty="0"/>
          </a:p>
        </p:txBody>
      </p:sp>
      <p:sp>
        <p:nvSpPr>
          <p:cNvPr id="35" name="Text 33"/>
          <p:cNvSpPr txBox="1"/>
          <p:nvPr/>
        </p:nvSpPr>
        <p:spPr>
          <a:xfrm>
            <a:off x="6876288" y="5504688"/>
            <a:ext cx="4526280" cy="502920"/>
          </a:xfrm>
          <a:prstGeom prst="rect">
            <a:avLst/>
          </a:prstGeom>
          <a:noFill/>
          <a:ln/>
        </p:spPr>
        <p:txBody>
          <a:bodyPr wrap="square" lIns="0" tIns="0" rIns="0" bIns="0" rtlCol="0" anchor="ctr"/>
          <a:lstStyle/>
          <a:p>
            <a:pPr indent="0" marL="0">
              <a:lnSpc>
                <a:spcPts val="1500"/>
              </a:lnSpc>
              <a:buNone/>
            </a:pPr>
            <a:r>
              <a:rPr lang="en-US" sz="1150" dirty="0">
                <a:solidFill>
                  <a:srgbClr val="5C6B60"/>
                </a:solidFill>
                <a:latin typeface="Calibri" pitchFamily="34" charset="0"/>
                <a:ea typeface="Calibri" pitchFamily="34" charset="-122"/>
                <a:cs typeface="Calibri" pitchFamily="34" charset="-120"/>
              </a:rPr>
              <a:t>Choose the right metric, respect the law, and know when not to use ML at all.</a:t>
            </a:r>
            <a:endParaRPr lang="en-US" sz="1150" dirty="0"/>
          </a:p>
        </p:txBody>
      </p:sp>
      <p:sp>
        <p:nvSpPr>
          <p:cNvPr id="37" name="Text 34"/>
          <p:cNvSpPr txBox="1"/>
          <p:nvPr/>
        </p:nvSpPr>
        <p:spPr>
          <a:xfrm>
            <a:off x="548640" y="6419088"/>
            <a:ext cx="8686800" cy="274320"/>
          </a:xfrm>
          <a:prstGeom prst="rect">
            <a:avLst/>
          </a:prstGeom>
          <a:noFill/>
          <a:ln/>
        </p:spPr>
        <p:txBody>
          <a:bodyPr wrap="square" lIns="0" tIns="0" rIns="0" bIns="0" rtlCol="0" anchor="ctr"/>
          <a:lstStyle/>
          <a:p>
            <a:pPr indent="0" marL="0">
              <a:buNone/>
            </a:pPr>
            <a:r>
              <a:rPr lang="en-US" sz="900" dirty="0">
                <a:solidFill>
                  <a:srgbClr val="5C6B60"/>
                </a:solidFill>
                <a:latin typeface="Calibri" pitchFamily="34" charset="0"/>
                <a:ea typeface="Calibri" pitchFamily="34" charset="-122"/>
                <a:cs typeface="Calibri" pitchFamily="34" charset="-120"/>
              </a:rPr>
              <a:t>CDS 3301 Machine Learning  |  Dr. Amos Chege Kirongo, PhD  |  MUST</a:t>
            </a:r>
            <a:endParaRPr lang="en-US" sz="900" dirty="0"/>
          </a:p>
        </p:txBody>
      </p:sp>
      <p:sp>
        <p:nvSpPr>
          <p:cNvPr id="38" name="Text 35"/>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5C6B60"/>
                </a:solidFill>
                <a:latin typeface="Calibri" pitchFamily="34" charset="0"/>
                <a:ea typeface="Calibri" pitchFamily="34" charset="-122"/>
                <a:cs typeface="Calibri" pitchFamily="34" charset="-120"/>
              </a:rPr>
              <a:t>47</a:t>
            </a:r>
            <a:endParaRPr lang="en-US" sz="900" dirty="0"/>
          </a:p>
        </p:txBody>
      </p:sp>
      <p:pic>
        <p:nvPicPr>
          <p:cNvPr id="39" name="Picture 38"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6B3C"/>
        </a:solidFill>
      </p:bgPr>
    </p:bg>
    <p:spTree>
      <p:nvGrpSpPr>
        <p:cNvPr id="1" name=""/>
        <p:cNvGrpSpPr/>
        <p:nvPr/>
      </p:nvGrpSpPr>
      <p:grpSpPr>
        <a:xfrm>
          <a:off x="0" y="0"/>
          <a:ext cx="0" cy="0"/>
          <a:chOff x="0" y="0"/>
          <a:chExt cx="0" cy="0"/>
        </a:xfrm>
      </p:grpSpPr>
      <p:sp>
        <p:nvSpPr>
          <p:cNvPr id="2" name="Shape 0"/>
          <p:cNvSpPr/>
          <p:nvPr/>
        </p:nvSpPr>
        <p:spPr>
          <a:xfrm>
            <a:off x="9692640" y="-1463040"/>
            <a:ext cx="4389120" cy="4389120"/>
          </a:xfrm>
          <a:prstGeom prst="ellipse">
            <a:avLst/>
          </a:prstGeom>
          <a:solidFill>
            <a:srgbClr val="1E8449"/>
          </a:solidFill>
          <a:ln w="12700">
            <a:solidFill>
              <a:srgbClr val="333333"/>
            </a:solidFill>
            <a:prstDash val="solid"/>
          </a:ln>
        </p:spPr>
      </p:sp>
      <p:sp>
        <p:nvSpPr>
          <p:cNvPr id="3" name="Text 1"/>
          <p:cNvSpPr txBox="1"/>
          <p:nvPr/>
        </p:nvSpPr>
        <p:spPr>
          <a:xfrm>
            <a:off x="777240" y="685800"/>
            <a:ext cx="7315200" cy="36576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BEFORE THE NEXT SESSION</a:t>
            </a:r>
            <a:endParaRPr lang="en-US" sz="1300" dirty="0"/>
          </a:p>
        </p:txBody>
      </p:sp>
      <p:sp>
        <p:nvSpPr>
          <p:cNvPr id="4" name="Text 2"/>
          <p:cNvSpPr txBox="1"/>
          <p:nvPr/>
        </p:nvSpPr>
        <p:spPr>
          <a:xfrm>
            <a:off x="777240" y="109728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Turn</a:t>
            </a:r>
            <a:endParaRPr lang="en-US" sz="4000" dirty="0"/>
          </a:p>
        </p:txBody>
      </p:sp>
      <p:sp>
        <p:nvSpPr>
          <p:cNvPr id="5" name="Shape 3"/>
          <p:cNvSpPr/>
          <p:nvPr/>
        </p:nvSpPr>
        <p:spPr>
          <a:xfrm>
            <a:off x="777240" y="2011680"/>
            <a:ext cx="7589520" cy="841248"/>
          </a:xfrm>
          <a:prstGeom prst="roundRect">
            <a:avLst>
              <a:gd name="adj" fmla="val 10870"/>
            </a:avLst>
          </a:prstGeom>
          <a:solidFill>
            <a:srgbClr val="1E8449"/>
          </a:solidFill>
          <a:ln w="12700">
            <a:solidFill>
              <a:srgbClr val="333333"/>
            </a:solidFill>
            <a:prstDash val="solid"/>
          </a:ln>
        </p:spPr>
      </p:sp>
      <p:sp>
        <p:nvSpPr>
          <p:cNvPr id="6" name="Text 4"/>
          <p:cNvSpPr txBox="1"/>
          <p:nvPr/>
        </p:nvSpPr>
        <p:spPr>
          <a:xfrm>
            <a:off x="1051560" y="2084832"/>
            <a:ext cx="1188720" cy="685800"/>
          </a:xfrm>
          <a:prstGeom prst="rect">
            <a:avLst/>
          </a:prstGeom>
          <a:noFill/>
          <a:ln/>
        </p:spPr>
        <p:txBody>
          <a:bodyPr wrap="square" lIns="0" tIns="0" rIns="0" bIns="0" rtlCol="0" anchor="ctr"/>
          <a:lstStyle/>
          <a:p>
            <a:pPr indent="0" marL="0">
              <a:buNone/>
            </a:pPr>
            <a:r>
              <a:rPr lang="en-US" sz="1250" b="1" spc="120" kern="0" dirty="0">
                <a:solidFill>
                  <a:srgbClr val="C9A227"/>
                </a:solidFill>
                <a:latin typeface="Calibri" pitchFamily="34" charset="0"/>
                <a:ea typeface="Calibri" pitchFamily="34" charset="-122"/>
                <a:cs typeface="Calibri" pitchFamily="34" charset="-120"/>
              </a:rPr>
              <a:t>READ</a:t>
            </a:r>
            <a:endParaRPr lang="en-US" sz="1250" dirty="0"/>
          </a:p>
        </p:txBody>
      </p:sp>
      <p:sp>
        <p:nvSpPr>
          <p:cNvPr id="7" name="Text 5"/>
          <p:cNvSpPr txBox="1"/>
          <p:nvPr/>
        </p:nvSpPr>
        <p:spPr>
          <a:xfrm>
            <a:off x="2194560" y="2048256"/>
            <a:ext cx="5989320" cy="768096"/>
          </a:xfrm>
          <a:prstGeom prst="rect">
            <a:avLst/>
          </a:prstGeom>
          <a:noFill/>
          <a:ln/>
        </p:spPr>
        <p:txBody>
          <a:bodyPr wrap="square" lIns="0" tIns="0" rIns="0" bIns="0" rtlCol="0" anchor="ctr"/>
          <a:lstStyle/>
          <a:p>
            <a:pPr indent="0" marL="0">
              <a:lnSpc>
                <a:spcPts val="1400"/>
              </a:lnSpc>
              <a:buNone/>
            </a:pPr>
            <a:r>
              <a:rPr lang="en-US" sz="1100" dirty="0">
                <a:solidFill>
                  <a:srgbClr val="DCEBE0"/>
                </a:solidFill>
                <a:latin typeface="Calibri" pitchFamily="34" charset="0"/>
                <a:ea typeface="Calibri" pitchFamily="34" charset="-122"/>
                <a:cs typeface="Calibri" pitchFamily="34" charset="-120"/>
              </a:rPr>
              <a:t>Bishop, Chapter 1 (sections 1.1 and 1.3) — the polynomial curve-fitting example is the overfitting story from today, written formally.</a:t>
            </a:r>
            <a:endParaRPr lang="en-US" sz="1100" dirty="0"/>
          </a:p>
        </p:txBody>
      </p:sp>
      <p:sp>
        <p:nvSpPr>
          <p:cNvPr id="8" name="Shape 6"/>
          <p:cNvSpPr/>
          <p:nvPr/>
        </p:nvSpPr>
        <p:spPr>
          <a:xfrm>
            <a:off x="777240" y="2926080"/>
            <a:ext cx="7589520" cy="841248"/>
          </a:xfrm>
          <a:prstGeom prst="roundRect">
            <a:avLst>
              <a:gd name="adj" fmla="val 10870"/>
            </a:avLst>
          </a:prstGeom>
          <a:solidFill>
            <a:srgbClr val="1E8449"/>
          </a:solidFill>
          <a:ln w="12700">
            <a:solidFill>
              <a:srgbClr val="333333"/>
            </a:solidFill>
            <a:prstDash val="solid"/>
          </a:ln>
        </p:spPr>
      </p:sp>
      <p:sp>
        <p:nvSpPr>
          <p:cNvPr id="9" name="Text 7"/>
          <p:cNvSpPr txBox="1"/>
          <p:nvPr/>
        </p:nvSpPr>
        <p:spPr>
          <a:xfrm>
            <a:off x="1051560" y="2999232"/>
            <a:ext cx="1188720" cy="685800"/>
          </a:xfrm>
          <a:prstGeom prst="rect">
            <a:avLst/>
          </a:prstGeom>
          <a:noFill/>
          <a:ln/>
        </p:spPr>
        <p:txBody>
          <a:bodyPr wrap="square" lIns="0" tIns="0" rIns="0" bIns="0" rtlCol="0" anchor="ctr"/>
          <a:lstStyle/>
          <a:p>
            <a:pPr indent="0" marL="0">
              <a:buNone/>
            </a:pPr>
            <a:r>
              <a:rPr lang="en-US" sz="1250" b="1" spc="120" kern="0" dirty="0">
                <a:solidFill>
                  <a:srgbClr val="C9A227"/>
                </a:solidFill>
                <a:latin typeface="Calibri" pitchFamily="34" charset="0"/>
                <a:ea typeface="Calibri" pitchFamily="34" charset="-122"/>
                <a:cs typeface="Calibri" pitchFamily="34" charset="-120"/>
              </a:rPr>
              <a:t>DO</a:t>
            </a:r>
            <a:endParaRPr lang="en-US" sz="1250" dirty="0"/>
          </a:p>
        </p:txBody>
      </p:sp>
      <p:sp>
        <p:nvSpPr>
          <p:cNvPr id="10" name="Text 8"/>
          <p:cNvSpPr txBox="1"/>
          <p:nvPr/>
        </p:nvSpPr>
        <p:spPr>
          <a:xfrm>
            <a:off x="2194560" y="2962656"/>
            <a:ext cx="5989320" cy="768096"/>
          </a:xfrm>
          <a:prstGeom prst="rect">
            <a:avLst/>
          </a:prstGeom>
          <a:noFill/>
          <a:ln/>
        </p:spPr>
        <p:txBody>
          <a:bodyPr wrap="square" lIns="0" tIns="0" rIns="0" bIns="0" rtlCol="0" anchor="ctr"/>
          <a:lstStyle/>
          <a:p>
            <a:pPr indent="0" marL="0">
              <a:lnSpc>
                <a:spcPts val="1400"/>
              </a:lnSpc>
              <a:buNone/>
            </a:pPr>
            <a:r>
              <a:rPr lang="en-US" sz="1100" dirty="0">
                <a:solidFill>
                  <a:srgbClr val="DCEBE0"/>
                </a:solidFill>
                <a:latin typeface="Calibri" pitchFamily="34" charset="0"/>
                <a:ea typeface="Calibri" pitchFamily="34" charset="-122"/>
                <a:cs typeface="Calibri" pitchFamily="34" charset="-120"/>
              </a:rPr>
              <a:t>Open Google Colab, load the built-in iris or wine dataset, split it, fit k-NN for k = 1, 3, 5, 9, 15, and plot test accuracy against k.</a:t>
            </a:r>
            <a:endParaRPr lang="en-US" sz="1100" dirty="0"/>
          </a:p>
        </p:txBody>
      </p:sp>
      <p:sp>
        <p:nvSpPr>
          <p:cNvPr id="11" name="Shape 9"/>
          <p:cNvSpPr/>
          <p:nvPr/>
        </p:nvSpPr>
        <p:spPr>
          <a:xfrm>
            <a:off x="777240" y="3840480"/>
            <a:ext cx="7589520" cy="841248"/>
          </a:xfrm>
          <a:prstGeom prst="roundRect">
            <a:avLst>
              <a:gd name="adj" fmla="val 10870"/>
            </a:avLst>
          </a:prstGeom>
          <a:solidFill>
            <a:srgbClr val="1E8449"/>
          </a:solidFill>
          <a:ln w="12700">
            <a:solidFill>
              <a:srgbClr val="333333"/>
            </a:solidFill>
            <a:prstDash val="solid"/>
          </a:ln>
        </p:spPr>
      </p:sp>
      <p:sp>
        <p:nvSpPr>
          <p:cNvPr id="12" name="Text 10"/>
          <p:cNvSpPr txBox="1"/>
          <p:nvPr/>
        </p:nvSpPr>
        <p:spPr>
          <a:xfrm>
            <a:off x="1051560" y="3913632"/>
            <a:ext cx="1188720" cy="685800"/>
          </a:xfrm>
          <a:prstGeom prst="rect">
            <a:avLst/>
          </a:prstGeom>
          <a:noFill/>
          <a:ln/>
        </p:spPr>
        <p:txBody>
          <a:bodyPr wrap="square" lIns="0" tIns="0" rIns="0" bIns="0" rtlCol="0" anchor="ctr"/>
          <a:lstStyle/>
          <a:p>
            <a:pPr indent="0" marL="0">
              <a:buNone/>
            </a:pPr>
            <a:r>
              <a:rPr lang="en-US" sz="1250" b="1" spc="120" kern="0" dirty="0">
                <a:solidFill>
                  <a:srgbClr val="C9A227"/>
                </a:solidFill>
                <a:latin typeface="Calibri" pitchFamily="34" charset="0"/>
                <a:ea typeface="Calibri" pitchFamily="34" charset="-122"/>
                <a:cs typeface="Calibri" pitchFamily="34" charset="-120"/>
              </a:rPr>
              <a:t>THINK</a:t>
            </a:r>
            <a:endParaRPr lang="en-US" sz="1250" dirty="0"/>
          </a:p>
        </p:txBody>
      </p:sp>
      <p:sp>
        <p:nvSpPr>
          <p:cNvPr id="13" name="Text 11"/>
          <p:cNvSpPr txBox="1"/>
          <p:nvPr/>
        </p:nvSpPr>
        <p:spPr>
          <a:xfrm>
            <a:off x="2194560" y="3877056"/>
            <a:ext cx="5989320" cy="768096"/>
          </a:xfrm>
          <a:prstGeom prst="rect">
            <a:avLst/>
          </a:prstGeom>
          <a:noFill/>
          <a:ln/>
        </p:spPr>
        <p:txBody>
          <a:bodyPr wrap="square" lIns="0" tIns="0" rIns="0" bIns="0" rtlCol="0" anchor="ctr"/>
          <a:lstStyle/>
          <a:p>
            <a:pPr indent="0" marL="0">
              <a:lnSpc>
                <a:spcPts val="1400"/>
              </a:lnSpc>
              <a:buNone/>
            </a:pPr>
            <a:r>
              <a:rPr lang="en-US" sz="1100" dirty="0">
                <a:solidFill>
                  <a:srgbClr val="DCEBE0"/>
                </a:solidFill>
                <a:latin typeface="Calibri" pitchFamily="34" charset="0"/>
                <a:ea typeface="Calibri" pitchFamily="34" charset="-122"/>
                <a:cs typeface="Calibri" pitchFamily="34" charset="-120"/>
              </a:rPr>
              <a:t>Write half a page: state E, T and P for a machine learning problem you would like to solve in your own community, and name the metric you would report — and why.</a:t>
            </a:r>
            <a:endParaRPr lang="en-US" sz="1100" dirty="0"/>
          </a:p>
        </p:txBody>
      </p:sp>
      <p:sp>
        <p:nvSpPr>
          <p:cNvPr id="14" name="Shape 12"/>
          <p:cNvSpPr/>
          <p:nvPr/>
        </p:nvSpPr>
        <p:spPr>
          <a:xfrm>
            <a:off x="777240" y="4754880"/>
            <a:ext cx="7589520" cy="841248"/>
          </a:xfrm>
          <a:prstGeom prst="roundRect">
            <a:avLst>
              <a:gd name="adj" fmla="val 10870"/>
            </a:avLst>
          </a:prstGeom>
          <a:solidFill>
            <a:srgbClr val="1E8449"/>
          </a:solidFill>
          <a:ln w="12700">
            <a:solidFill>
              <a:srgbClr val="333333"/>
            </a:solidFill>
            <a:prstDash val="solid"/>
          </a:ln>
        </p:spPr>
      </p:sp>
      <p:sp>
        <p:nvSpPr>
          <p:cNvPr id="15" name="Text 13"/>
          <p:cNvSpPr txBox="1"/>
          <p:nvPr/>
        </p:nvSpPr>
        <p:spPr>
          <a:xfrm>
            <a:off x="1051560" y="4828032"/>
            <a:ext cx="1188720" cy="685800"/>
          </a:xfrm>
          <a:prstGeom prst="rect">
            <a:avLst/>
          </a:prstGeom>
          <a:noFill/>
          <a:ln/>
        </p:spPr>
        <p:txBody>
          <a:bodyPr wrap="square" lIns="0" tIns="0" rIns="0" bIns="0" rtlCol="0" anchor="ctr"/>
          <a:lstStyle/>
          <a:p>
            <a:pPr indent="0" marL="0">
              <a:buNone/>
            </a:pPr>
            <a:r>
              <a:rPr lang="en-US" sz="1250" b="1" spc="120" kern="0" dirty="0">
                <a:solidFill>
                  <a:srgbClr val="C9A227"/>
                </a:solidFill>
                <a:latin typeface="Calibri" pitchFamily="34" charset="0"/>
                <a:ea typeface="Calibri" pitchFamily="34" charset="-122"/>
                <a:cs typeface="Calibri" pitchFamily="34" charset="-120"/>
              </a:rPr>
              <a:t>PREPARE</a:t>
            </a:r>
            <a:endParaRPr lang="en-US" sz="1250" dirty="0"/>
          </a:p>
        </p:txBody>
      </p:sp>
      <p:sp>
        <p:nvSpPr>
          <p:cNvPr id="16" name="Text 14"/>
          <p:cNvSpPr txBox="1"/>
          <p:nvPr/>
        </p:nvSpPr>
        <p:spPr>
          <a:xfrm>
            <a:off x="2194560" y="4791456"/>
            <a:ext cx="5989320" cy="768096"/>
          </a:xfrm>
          <a:prstGeom prst="rect">
            <a:avLst/>
          </a:prstGeom>
          <a:noFill/>
          <a:ln/>
        </p:spPr>
        <p:txBody>
          <a:bodyPr wrap="square" lIns="0" tIns="0" rIns="0" bIns="0" rtlCol="0" anchor="ctr"/>
          <a:lstStyle/>
          <a:p>
            <a:pPr indent="0" marL="0">
              <a:lnSpc>
                <a:spcPts val="1400"/>
              </a:lnSpc>
              <a:buNone/>
            </a:pPr>
            <a:r>
              <a:rPr lang="en-US" sz="1100" dirty="0">
                <a:solidFill>
                  <a:srgbClr val="DCEBE0"/>
                </a:solidFill>
                <a:latin typeface="Calibri" pitchFamily="34" charset="0"/>
                <a:ea typeface="Calibri" pitchFamily="34" charset="-122"/>
                <a:cs typeface="Calibri" pitchFamily="34" charset="-120"/>
              </a:rPr>
              <a:t>Bring one candidate dataset idea for your group project. We will critique them together in the tutorial.</a:t>
            </a:r>
            <a:endParaRPr lang="en-US" sz="1100" dirty="0"/>
          </a:p>
        </p:txBody>
      </p:sp>
      <p:sp>
        <p:nvSpPr>
          <p:cNvPr id="17" name="Shape 15"/>
          <p:cNvSpPr/>
          <p:nvPr/>
        </p:nvSpPr>
        <p:spPr>
          <a:xfrm>
            <a:off x="8778240" y="2011680"/>
            <a:ext cx="2834640" cy="2880360"/>
          </a:xfrm>
          <a:prstGeom prst="roundRect">
            <a:avLst>
              <a:gd name="adj" fmla="val 3871"/>
            </a:avLst>
          </a:prstGeom>
          <a:solidFill>
            <a:srgbClr val="FFFFFF"/>
          </a:solidFill>
          <a:ln w="12700">
            <a:solidFill>
              <a:srgbClr val="333333"/>
            </a:solidFill>
            <a:prstDash val="solid"/>
          </a:ln>
        </p:spPr>
      </p:sp>
      <p:sp>
        <p:nvSpPr>
          <p:cNvPr id="18" name="Text 16"/>
          <p:cNvSpPr txBox="1"/>
          <p:nvPr/>
        </p:nvSpPr>
        <p:spPr>
          <a:xfrm>
            <a:off x="9052560" y="2240280"/>
            <a:ext cx="2377440" cy="320040"/>
          </a:xfrm>
          <a:prstGeom prst="rect">
            <a:avLst/>
          </a:prstGeom>
          <a:noFill/>
          <a:ln/>
        </p:spPr>
        <p:txBody>
          <a:bodyPr wrap="square" lIns="0" tIns="0" rIns="0" bIns="0" rtlCol="0" anchor="ctr"/>
          <a:lstStyle/>
          <a:p>
            <a:pPr indent="0" marL="0">
              <a:buNone/>
            </a:pPr>
            <a:r>
              <a:rPr lang="en-US" sz="1150" b="1" spc="120" kern="0" dirty="0">
                <a:solidFill>
                  <a:srgbClr val="C9A227"/>
                </a:solidFill>
                <a:latin typeface="Calibri" pitchFamily="34" charset="0"/>
                <a:ea typeface="Calibri" pitchFamily="34" charset="-122"/>
                <a:cs typeface="Calibri" pitchFamily="34" charset="-120"/>
              </a:rPr>
              <a:t>Next lecture</a:t>
            </a:r>
            <a:endParaRPr lang="en-US" sz="1150" dirty="0"/>
          </a:p>
        </p:txBody>
      </p:sp>
      <p:sp>
        <p:nvSpPr>
          <p:cNvPr id="19" name="Text 17"/>
          <p:cNvSpPr txBox="1"/>
          <p:nvPr/>
        </p:nvSpPr>
        <p:spPr>
          <a:xfrm>
            <a:off x="9052560" y="2587752"/>
            <a:ext cx="2377440" cy="1188720"/>
          </a:xfrm>
          <a:prstGeom prst="rect">
            <a:avLst/>
          </a:prstGeom>
          <a:noFill/>
          <a:ln/>
        </p:spPr>
        <p:txBody>
          <a:bodyPr wrap="square" lIns="0" tIns="0" rIns="0" bIns="0" rtlCol="0" anchor="ctr"/>
          <a:lstStyle/>
          <a:p>
            <a:pPr indent="0" marL="0">
              <a:lnSpc>
                <a:spcPts val="2200"/>
              </a:lnSpc>
              <a:buNone/>
            </a:pPr>
            <a:r>
              <a:rPr lang="en-US" sz="1700" b="1" dirty="0">
                <a:solidFill>
                  <a:srgbClr val="0F6B3C"/>
                </a:solidFill>
                <a:latin typeface="Cambria" pitchFamily="34" charset="0"/>
                <a:ea typeface="Cambria" pitchFamily="34" charset="-122"/>
                <a:cs typeface="Cambria" pitchFamily="34" charset="-120"/>
              </a:rPr>
              <a:t>Decision trees and how a machine chooses a question to ask</a:t>
            </a:r>
            <a:endParaRPr lang="en-US" sz="1700" dirty="0"/>
          </a:p>
        </p:txBody>
      </p:sp>
      <p:sp>
        <p:nvSpPr>
          <p:cNvPr id="20" name="Text 18"/>
          <p:cNvSpPr txBox="1"/>
          <p:nvPr/>
        </p:nvSpPr>
        <p:spPr>
          <a:xfrm>
            <a:off x="9052560" y="3794760"/>
            <a:ext cx="2377440" cy="914400"/>
          </a:xfrm>
          <a:prstGeom prst="rect">
            <a:avLst/>
          </a:prstGeom>
          <a:noFill/>
          <a:ln/>
        </p:spPr>
        <p:txBody>
          <a:bodyPr wrap="square" lIns="0" tIns="0" rIns="0" bIns="0" rtlCol="0" anchor="ctr"/>
          <a:lstStyle/>
          <a:p>
            <a:pPr indent="0" marL="0">
              <a:lnSpc>
                <a:spcPts val="1500"/>
              </a:lnSpc>
              <a:buNone/>
            </a:pPr>
            <a:r>
              <a:rPr lang="en-US" sz="1100" dirty="0">
                <a:solidFill>
                  <a:srgbClr val="5C6B60"/>
                </a:solidFill>
                <a:latin typeface="Calibri" pitchFamily="34" charset="0"/>
                <a:ea typeface="Calibri" pitchFamily="34" charset="-122"/>
                <a:cs typeface="Calibri" pitchFamily="34" charset="-120"/>
              </a:rPr>
              <a:t>Entropy, information gain, and why a tree can explain itself when a neural network cannot.</a:t>
            </a:r>
            <a:endParaRPr lang="en-US" sz="1100" dirty="0"/>
          </a:p>
        </p:txBody>
      </p:sp>
      <p:sp>
        <p:nvSpPr>
          <p:cNvPr id="21" name="Text 19"/>
          <p:cNvSpPr txBox="1"/>
          <p:nvPr/>
        </p:nvSpPr>
        <p:spPr>
          <a:xfrm>
            <a:off x="777240" y="5806440"/>
            <a:ext cx="6400800" cy="320040"/>
          </a:xfrm>
          <a:prstGeom prst="rect">
            <a:avLst/>
          </a:prstGeom>
          <a:noFill/>
          <a:ln/>
        </p:spPr>
        <p:txBody>
          <a:bodyPr wrap="square" lIns="0" tIns="0" rIns="0" bIns="0" rtlCol="0" anchor="ctr"/>
          <a:lstStyle/>
          <a:p>
            <a:pPr indent="0" marL="0">
              <a:buNone/>
            </a:pPr>
            <a:r>
              <a:rPr lang="en-US" sz="1250" i="1" dirty="0">
                <a:solidFill>
                  <a:srgbClr val="AFC9B8"/>
                </a:solidFill>
                <a:latin typeface="Calibri" pitchFamily="34" charset="0"/>
                <a:ea typeface="Calibri" pitchFamily="34" charset="-122"/>
                <a:cs typeface="Calibri" pitchFamily="34" charset="-120"/>
              </a:rPr>
              <a:t>Questions are welcome — in class, after class, or by email.</a:t>
            </a:r>
            <a:endParaRPr lang="en-US" sz="1250" dirty="0"/>
          </a:p>
        </p:txBody>
      </p:sp>
      <p:sp>
        <p:nvSpPr>
          <p:cNvPr id="22" name="Text 20"/>
          <p:cNvSpPr txBox="1"/>
          <p:nvPr/>
        </p:nvSpPr>
        <p:spPr>
          <a:xfrm>
            <a:off x="777240" y="6144768"/>
            <a:ext cx="10789920" cy="685800"/>
          </a:xfrm>
          <a:prstGeom prst="rect">
            <a:avLst/>
          </a:prstGeom>
          <a:noFill/>
          <a:ln/>
        </p:spPr>
        <p:txBody>
          <a:bodyPr wrap="square" lIns="0" tIns="0" rIns="0" bIns="0" rtlCol="0" anchor="ctr"/>
          <a:lstStyle/>
          <a:p>
            <a:pPr indent="0" marL="0">
              <a:lnSpc>
                <a:spcPts val="1600"/>
              </a:lnSpc>
              <a:buNone/>
            </a:pPr>
            <a:r>
              <a:rPr lang="en-US" sz="1400" b="1" dirty="0">
                <a:solidFill>
                  <a:srgbClr val="FFFFFF"/>
                </a:solidFill>
                <a:latin typeface="Calibri" pitchFamily="34" charset="0"/>
                <a:ea typeface="Calibri" pitchFamily="34" charset="-122"/>
                <a:cs typeface="Calibri" pitchFamily="34" charset="-120"/>
              </a:rPr>
              <a:t>Dr. Amos Chege Kirongo, PhD</a:t>
            </a:r>
            <a:endParaRPr lang="en-US" sz="1400" dirty="0"/>
          </a:p>
          <a:p>
            <a:pPr indent="0" marL="0">
              <a:lnSpc>
                <a:spcPts val="1600"/>
              </a:lnSpc>
              <a:buNone/>
            </a:pPr>
            <a:r>
              <a:rPr lang="en-US" sz="1150" dirty="0">
                <a:solidFill>
                  <a:srgbClr val="AFC9B8"/>
                </a:solidFill>
                <a:latin typeface="Calibri" pitchFamily="34" charset="0"/>
                <a:ea typeface="Calibri" pitchFamily="34" charset="-122"/>
                <a:cs typeface="Calibri" pitchFamily="34" charset="-120"/>
              </a:rPr>
              <a:t>Senior Lecturer, Department of Computer Science  ·  School of Computing and Informatics  ·  Meru University of Science and Technology  ·  akirongo@must.ac.ke</a:t>
            </a:r>
            <a:endParaRPr lang="en-US" sz="1400" dirty="0"/>
          </a:p>
        </p:txBody>
      </p:sp>
      <p:sp>
        <p:nvSpPr>
          <p:cNvPr id="24" name="Text 21"/>
          <p:cNvSpPr txBox="1"/>
          <p:nvPr/>
        </p:nvSpPr>
        <p:spPr>
          <a:xfrm>
            <a:off x="11064240" y="6419088"/>
            <a:ext cx="548640" cy="274320"/>
          </a:xfrm>
          <a:prstGeom prst="rect">
            <a:avLst/>
          </a:prstGeom>
          <a:noFill/>
          <a:ln/>
        </p:spPr>
        <p:txBody>
          <a:bodyPr wrap="square" lIns="0" tIns="0" rIns="0" bIns="0" rtlCol="0" anchor="ctr"/>
          <a:lstStyle/>
          <a:p>
            <a:pPr algn="r" indent="0" marL="0">
              <a:buNone/>
            </a:pPr>
            <a:r>
              <a:rPr lang="en-US" sz="900" dirty="0">
                <a:solidFill>
                  <a:srgbClr val="8FAE99"/>
                </a:solidFill>
                <a:latin typeface="Calibri" pitchFamily="34" charset="0"/>
                <a:ea typeface="Calibri" pitchFamily="34" charset="-122"/>
                <a:cs typeface="Calibri" pitchFamily="34" charset="-120"/>
              </a:rPr>
              <a:t>48</a:t>
            </a:r>
            <a:endParaRPr lang="en-US" sz="900" dirty="0"/>
          </a:p>
        </p:txBody>
      </p:sp>
      <p:pic>
        <p:nvPicPr>
          <p:cNvPr id="25" name="Picture 24" descr="must_logo.png"/>
          <p:cNvPicPr>
            <a:picLocks noChangeAspect="1"/>
          </p:cNvPicPr>
          <p:nvPr/>
        </p:nvPicPr>
        <p:blipFill>
          <a:blip r:embed="rId3"/>
          <a:stretch>
            <a:fillRect/>
          </a:stretch>
        </p:blipFill>
        <p:spPr>
          <a:xfrm>
            <a:off x="11016642" y="274320"/>
            <a:ext cx="699565" cy="658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Meru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CDS 3301 Machine Learning — Lectures 1 &amp; 2</dc:title>
  <dc:subject>Introduction to Machine Learning</dc:subject>
  <dc:creator>Dr. Amos Chege Kirongo, PhD</dc:creator>
  <cp:lastModifiedBy>Dr. Amos Chege Kirongo, PhD</cp:lastModifiedBy>
  <cp:revision>1</cp:revision>
  <dcterms:created xsi:type="dcterms:W3CDTF">2026-09-08T03:33:22Z</dcterms:created>
  <dcterms:modified xsi:type="dcterms:W3CDTF">2026-09-08T03:33:22Z</dcterms:modified>
</cp:coreProperties>
</file>